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modernComment_105_3D1DAAB.xml" ContentType="application/vnd.ms-powerpoint.comments+xml"/>
  <Override PartName="/ppt/charts/chart1.xml" ContentType="application/vnd.openxmlformats-officedocument.drawingml.chart+xml"/>
  <Override PartName="/ppt/drawings/drawing1.xml" ContentType="application/vnd.openxmlformats-officedocument.drawingml.chartshapes+xml"/>
  <Override PartName="/ppt/notesSlides/notesSlide10.xml" ContentType="application/vnd.openxmlformats-officedocument.presentationml.notesSlide+xml"/>
  <Override PartName="/ppt/comments/modernComment_106_3D1DAAB.xml" ContentType="application/vnd.ms-powerpoint.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72" r:id="rId5"/>
    <p:sldId id="259" r:id="rId6"/>
    <p:sldId id="269" r:id="rId7"/>
    <p:sldId id="260" r:id="rId8"/>
    <p:sldId id="270" r:id="rId9"/>
    <p:sldId id="261" r:id="rId10"/>
    <p:sldId id="262" r:id="rId11"/>
    <p:sldId id="263" r:id="rId12"/>
    <p:sldId id="264" r:id="rId13"/>
    <p:sldId id="265" r:id="rId14"/>
    <p:sldId id="266" r:id="rId15"/>
    <p:sldId id="267" r:id="rId16"/>
    <p:sldId id="268" r:id="rId17"/>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ECC3AF0-3199-1BF0-4536-72350D2BA287}" name="Tran Manh Dat 20252607M" initials="T2" userId="S::dat.tm252607m@sis.hust.edu.vn::1b4dca00-5b14-420b-90c1-3324f04e1d7d"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F014A8-8FEE-8BAD-DDF3-06061F4402DB}" v="17" dt="2026-07-26T14:36:15.536"/>
    <p1510:client id="{58C0CBE6-33FD-40CD-F101-0FEFD854F201}" v="14" dt="2026-07-26T15:13:14.813"/>
    <p1510:client id="{CECACC48-74EC-BB42-E87D-83C0D414C292}" v="223" dt="2026-07-26T15:11:48.3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063"/>
    <p:restoredTop sz="84468"/>
  </p:normalViewPr>
  <p:slideViewPr>
    <p:cSldViewPr snapToGrid="0">
      <p:cViewPr varScale="1">
        <p:scale>
          <a:sx n="119" d="100"/>
          <a:sy n="119" d="100"/>
        </p:scale>
        <p:origin x="324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Triplet-F1</c:v>
          </c:tx>
          <c:spPr>
            <a:solidFill>
              <a:srgbClr val="C00000"/>
            </a:solidFill>
          </c:spPr>
          <c:invertIfNegative val="1"/>
          <c:dLbls>
            <c:spPr>
              <a:noFill/>
              <a:ln>
                <a:noFill/>
              </a:ln>
              <a:effectLst/>
            </c:spPr>
            <c:txPr>
              <a:bodyPr anchorCtr="1"/>
              <a:lstStyle/>
              <a:p>
                <a:pPr>
                  <a:defRPr sz="975" b="1">
                    <a:solidFill>
                      <a:srgbClr val="242424"/>
                    </a:solidFill>
                  </a:defRPr>
                </a:pPr>
                <a:endParaRPr lang="vi-V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5"/>
              <c:pt idx="0">
                <c:v>Baseline</c:v>
              </c:pt>
              <c:pt idx="1">
                <c:v>FLAN lr1e-4</c:v>
              </c:pt>
              <c:pt idx="2">
                <c:v>FLAN lr3e-4</c:v>
              </c:pt>
              <c:pt idx="3">
                <c:v>T5-small</c:v>
              </c:pt>
              <c:pt idx="4">
                <c:v>T5-base</c:v>
              </c:pt>
            </c:strLit>
          </c:cat>
          <c:val>
            <c:numLit>
              <c:formatCode>General</c:formatCode>
              <c:ptCount val="5"/>
              <c:pt idx="0">
                <c:v>0.37359999999999999</c:v>
              </c:pt>
              <c:pt idx="1">
                <c:v>0.41589999999999999</c:v>
              </c:pt>
              <c:pt idx="2">
                <c:v>0.58979999999999999</c:v>
              </c:pt>
              <c:pt idx="3">
                <c:v>0.72399999999999998</c:v>
              </c:pt>
              <c:pt idx="4">
                <c:v>0.74419999999999997</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ABD-400B-8945-640048B0A3CE}"/>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l"/>
        <c:majorGridlines>
          <c:spPr>
            <a:ln w="9525">
              <a:solidFill>
                <a:srgbClr val="E8E1E1"/>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defRPr>
            </a:pPr>
            <a:endParaRPr lang="vi-VN"/>
          </a:p>
        </c:txPr>
        <c:crossAx val="48672768"/>
        <c:crosses val="autoZero"/>
        <c:auto val="1"/>
        <c:lblAlgn val="ctr"/>
        <c:lblOffset val="100"/>
        <c:noMultiLvlLbl val="0"/>
      </c:catAx>
      <c:valAx>
        <c:axId val="48672768"/>
        <c:scaling>
          <c:orientation val="minMax"/>
        </c:scaling>
        <c:delete val="0"/>
        <c:axPos val="b"/>
        <c:numFmt formatCode="General" sourceLinked="1"/>
        <c:majorTickMark val="none"/>
        <c:minorTickMark val="none"/>
        <c:tickLblPos val="nextTo"/>
        <c:spPr>
          <a:ln w="9525">
            <a:solidFill>
              <a:srgbClr val="D7CCCC"/>
            </a:solidFill>
            <a:prstDash val="solid"/>
          </a:ln>
        </c:spPr>
        <c:txPr>
          <a:bodyPr anchorCtr="1"/>
          <a:lstStyle/>
          <a:p>
            <a:pPr>
              <a:defRPr sz="1050">
                <a:solidFill>
                  <a:srgbClr val="242424"/>
                </a:solidFill>
              </a:defRPr>
            </a:pPr>
            <a:endParaRPr lang="vi-VN"/>
          </a:p>
        </c:txPr>
        <c:crossAx val="48650112"/>
        <c:crosses val="autoZero"/>
        <c:crossBetween val="between"/>
      </c:valAx>
      <c:spPr>
        <a:noFill/>
        <a:ln w="25400">
          <a:noFill/>
        </a:ln>
      </c:spPr>
    </c:plotArea>
    <c:plotVisOnly val="1"/>
    <c:dispBlanksAs val="zero"/>
    <c:showDLblsOverMax val="1"/>
  </c:chart>
  <c:spPr>
    <a:solidFill>
      <a:srgbClr val="FFFFFF"/>
    </a:solidFill>
    <a:ln w="0">
      <a:solidFill>
        <a:srgbClr val="FFFFFF"/>
      </a:solidFill>
      <a:prstDash val="solid"/>
    </a:ln>
  </c:spPr>
  <c:userShapes r:id="rId1"/>
</c:chartSpace>
</file>

<file path=ppt/comments/modernComment_105_3D1DAAB.xml><?xml version="1.0" encoding="utf-8"?>
<p188:cmLst xmlns:a="http://schemas.openxmlformats.org/drawingml/2006/main" xmlns:r="http://schemas.openxmlformats.org/officeDocument/2006/relationships" xmlns:p188="http://schemas.microsoft.com/office/powerpoint/2018/8/main">
  <p188:cm id="{851AEBD1-95D3-42AB-B936-8FCF7BCA80B0}" authorId="{FECC3AF0-3199-1BF0-4536-72350D2BA287}" created="2026-07-26T15:12:24.654">
    <ac:deMkLst xmlns:ac="http://schemas.microsoft.com/office/drawing/2013/main/command">
      <pc:docMk xmlns:pc="http://schemas.microsoft.com/office/powerpoint/2013/main/command"/>
      <pc:sldMk xmlns:pc="http://schemas.microsoft.com/office/powerpoint/2013/main/command" cId="64084651" sldId="261"/>
      <ac:graphicFrameMk id="16" creationId="{00000000-0000-0000-0000-000000000000}"/>
    </ac:deMkLst>
    <p188:txBody>
      <a:bodyPr/>
      <a:lstStyle/>
      <a:p>
        <a:r>
          <a:rPr lang="en-US"/>
          <a:t>Thêm GTS-BERT
Bỏ FLAN-T5 1e-4</a:t>
        </a:r>
      </a:p>
    </p188:txBody>
  </p188:cm>
</p188:cmLst>
</file>

<file path=ppt/comments/modernComment_106_3D1DAAB.xml><?xml version="1.0" encoding="utf-8"?>
<p188:cmLst xmlns:a="http://schemas.openxmlformats.org/drawingml/2006/main" xmlns:r="http://schemas.openxmlformats.org/officeDocument/2006/relationships" xmlns:p188="http://schemas.microsoft.com/office/powerpoint/2018/8/main">
  <p188:cm id="{A5CAA63F-C957-42C7-A677-29962A560123}" authorId="{FECC3AF0-3199-1BF0-4536-72350D2BA287}" created="2026-07-26T15:13:14.813">
    <pc:sldMkLst xmlns:pc="http://schemas.microsoft.com/office/powerpoint/2013/main/command">
      <pc:docMk/>
      <pc:sldMk cId="64084651" sldId="262"/>
    </pc:sldMkLst>
    <p188:txBody>
      <a:bodyPr/>
      <a:lstStyle/>
      <a:p>
        <a:r>
          <a:rPr lang="en-US"/>
          <a:t>Bỏ FLAN-T5 1e-4</a:t>
        </a:r>
      </a:p>
    </p188:txBody>
  </p188:cm>
</p188:cmLst>
</file>

<file path=ppt/drawings/_rels/drawing1.xml.rels><?xml version="1.0" encoding="UTF-8" standalone="yes"?>
<Relationships xmlns="http://schemas.openxmlformats.org/package/2006/relationships"><Relationship Id="rId1" Type="http://schemas.openxmlformats.org/officeDocument/2006/relationships/image" Target="../media/image15.png"/></Relationships>
</file>

<file path=ppt/drawings/drawing1.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69926898-14BB-558E-331A-A7BEC6471774}"/>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7620000" cy="7620000"/>
        </a:xfrm>
        <a:prstGeom xmlns:a="http://schemas.openxmlformats.org/drawingml/2006/main" prst="rect">
          <a:avLst/>
        </a:prstGeom>
      </cdr:spPr>
    </cdr:pic>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[Sources]</a:t>
            </a:r>
          </a:p>
          <a:p>
            <a:r>
              <a:rPr dirty="0"/>
              <a:t>- </a:t>
            </a:r>
            <a:r>
              <a:rPr dirty="0" err="1"/>
              <a:t>main.docx</a:t>
            </a:r>
            <a:r>
              <a:rPr dirty="0"/>
              <a:t> — </a:t>
            </a:r>
            <a:r>
              <a:rPr dirty="0" err="1"/>
              <a:t>báo</a:t>
            </a:r>
            <a:r>
              <a:rPr dirty="0"/>
              <a:t> </a:t>
            </a:r>
            <a:r>
              <a:rPr dirty="0" err="1"/>
              <a:t>cáo</a:t>
            </a:r>
            <a:r>
              <a:rPr dirty="0"/>
              <a:t> </a:t>
            </a:r>
            <a:r>
              <a:rPr dirty="0" err="1"/>
              <a:t>sơ</a:t>
            </a:r>
            <a:r>
              <a:rPr dirty="0"/>
              <a:t> </a:t>
            </a:r>
            <a:r>
              <a:rPr dirty="0" err="1"/>
              <a:t>bộ</a:t>
            </a:r>
            <a:r>
              <a:rPr dirty="0"/>
              <a:t> </a:t>
            </a:r>
            <a:r>
              <a:rPr dirty="0" err="1"/>
              <a:t>của</a:t>
            </a:r>
            <a:r>
              <a:rPr dirty="0"/>
              <a:t> </a:t>
            </a:r>
            <a:r>
              <a:rPr dirty="0" err="1"/>
              <a:t>nhóm</a:t>
            </a:r>
            <a:r>
              <a:rPr dirty="0"/>
              <a:t>, </a:t>
            </a:r>
            <a:r>
              <a:rPr dirty="0" err="1"/>
              <a:t>số</a:t>
            </a:r>
            <a:r>
              <a:rPr dirty="0"/>
              <a:t> </a:t>
            </a:r>
            <a:r>
              <a:rPr dirty="0" err="1"/>
              <a:t>liệu</a:t>
            </a:r>
            <a:r>
              <a:rPr dirty="0"/>
              <a:t> </a:t>
            </a:r>
            <a:r>
              <a:rPr dirty="0" err="1"/>
              <a:t>và</a:t>
            </a:r>
            <a:r>
              <a:rPr dirty="0"/>
              <a:t> </a:t>
            </a:r>
            <a:r>
              <a:rPr dirty="0" err="1"/>
              <a:t>mô</a:t>
            </a:r>
            <a:r>
              <a:rPr dirty="0"/>
              <a:t> </a:t>
            </a:r>
            <a:r>
              <a:rPr dirty="0" err="1"/>
              <a:t>tả</a:t>
            </a:r>
            <a:r>
              <a:rPr dirty="0"/>
              <a:t> pipeline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[Sources]</a:t>
            </a:r>
          </a:p>
          <a:p>
            <a:r>
              <a:rPr dirty="0"/>
              <a:t>- </a:t>
            </a:r>
            <a:r>
              <a:rPr dirty="0" err="1"/>
              <a:t>main.docx</a:t>
            </a:r>
            <a:r>
              <a:rPr dirty="0"/>
              <a:t> — </a:t>
            </a:r>
            <a:r>
              <a:rPr dirty="0" err="1"/>
              <a:t>báo</a:t>
            </a:r>
            <a:r>
              <a:rPr dirty="0"/>
              <a:t> </a:t>
            </a:r>
            <a:r>
              <a:rPr dirty="0" err="1"/>
              <a:t>cáo</a:t>
            </a:r>
            <a:r>
              <a:rPr dirty="0"/>
              <a:t> </a:t>
            </a:r>
            <a:r>
              <a:rPr dirty="0" err="1"/>
              <a:t>sơ</a:t>
            </a:r>
            <a:r>
              <a:rPr dirty="0"/>
              <a:t> </a:t>
            </a:r>
            <a:r>
              <a:rPr dirty="0" err="1"/>
              <a:t>bộ</a:t>
            </a:r>
            <a:r>
              <a:rPr dirty="0"/>
              <a:t> </a:t>
            </a:r>
            <a:r>
              <a:rPr dirty="0" err="1"/>
              <a:t>của</a:t>
            </a:r>
            <a:r>
              <a:rPr dirty="0"/>
              <a:t> </a:t>
            </a:r>
            <a:r>
              <a:rPr dirty="0" err="1"/>
              <a:t>nhóm</a:t>
            </a:r>
            <a:r>
              <a:rPr dirty="0"/>
              <a:t>, </a:t>
            </a:r>
            <a:r>
              <a:rPr dirty="0" err="1"/>
              <a:t>số</a:t>
            </a:r>
            <a:r>
              <a:rPr dirty="0"/>
              <a:t> </a:t>
            </a:r>
            <a:r>
              <a:rPr dirty="0" err="1"/>
              <a:t>liệu</a:t>
            </a:r>
            <a:r>
              <a:rPr dirty="0"/>
              <a:t> </a:t>
            </a:r>
            <a:r>
              <a:rPr dirty="0" err="1"/>
              <a:t>và</a:t>
            </a:r>
            <a:r>
              <a:rPr dirty="0"/>
              <a:t> </a:t>
            </a:r>
            <a:r>
              <a:rPr dirty="0" err="1"/>
              <a:t>mô</a:t>
            </a:r>
            <a:r>
              <a:rPr dirty="0"/>
              <a:t> </a:t>
            </a:r>
            <a:r>
              <a:rPr dirty="0" err="1"/>
              <a:t>tả</a:t>
            </a:r>
            <a:r>
              <a:rPr dirty="0"/>
              <a:t> pipeline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1243B-F224-C6C7-9928-4F1FC970FB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494D9-8DD0-A34C-B88F-D8791045DF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457C98-0F6D-7C72-82DA-C020D72362A8}"/>
              </a:ext>
            </a:extLst>
          </p:cNvPr>
          <p:cNvSpPr>
            <a:spLocks noGrp="1"/>
          </p:cNvSpPr>
          <p:nvPr>
            <p:ph type="body" idx="1"/>
          </p:nvPr>
        </p:nvSpPr>
        <p:spPr/>
        <p:txBody>
          <a:bodyPr/>
          <a:lstStyle/>
          <a:p>
            <a:r>
              <a:rPr dirty="0"/>
              <a:t>[Sources]</a:t>
            </a:r>
          </a:p>
          <a:p>
            <a:r>
              <a:rPr dirty="0"/>
              <a:t>- </a:t>
            </a:r>
            <a:r>
              <a:rPr dirty="0" err="1"/>
              <a:t>main.docx</a:t>
            </a:r>
            <a:r>
              <a:rPr dirty="0"/>
              <a:t> — </a:t>
            </a:r>
            <a:r>
              <a:rPr dirty="0" err="1"/>
              <a:t>báo</a:t>
            </a:r>
            <a:r>
              <a:rPr dirty="0"/>
              <a:t> </a:t>
            </a:r>
            <a:r>
              <a:rPr dirty="0" err="1"/>
              <a:t>cáo</a:t>
            </a:r>
            <a:r>
              <a:rPr dirty="0"/>
              <a:t> </a:t>
            </a:r>
            <a:r>
              <a:rPr dirty="0" err="1"/>
              <a:t>sơ</a:t>
            </a:r>
            <a:r>
              <a:rPr dirty="0"/>
              <a:t> </a:t>
            </a:r>
            <a:r>
              <a:rPr dirty="0" err="1"/>
              <a:t>bộ</a:t>
            </a:r>
            <a:r>
              <a:rPr dirty="0"/>
              <a:t> </a:t>
            </a:r>
            <a:r>
              <a:rPr dirty="0" err="1"/>
              <a:t>của</a:t>
            </a:r>
            <a:r>
              <a:rPr dirty="0"/>
              <a:t> </a:t>
            </a:r>
            <a:r>
              <a:rPr dirty="0" err="1"/>
              <a:t>nhóm</a:t>
            </a:r>
            <a:r>
              <a:rPr dirty="0"/>
              <a:t>, </a:t>
            </a:r>
            <a:r>
              <a:rPr dirty="0" err="1"/>
              <a:t>số</a:t>
            </a:r>
            <a:r>
              <a:rPr dirty="0"/>
              <a:t> </a:t>
            </a:r>
            <a:r>
              <a:rPr dirty="0" err="1"/>
              <a:t>liệu</a:t>
            </a:r>
            <a:r>
              <a:rPr dirty="0"/>
              <a:t> </a:t>
            </a:r>
            <a:r>
              <a:rPr dirty="0" err="1"/>
              <a:t>và</a:t>
            </a:r>
            <a:r>
              <a:rPr dirty="0"/>
              <a:t> </a:t>
            </a:r>
            <a:r>
              <a:rPr dirty="0" err="1"/>
              <a:t>mô</a:t>
            </a:r>
            <a:r>
              <a:rPr dirty="0"/>
              <a:t> </a:t>
            </a:r>
            <a:r>
              <a:rPr dirty="0" err="1"/>
              <a:t>tả</a:t>
            </a:r>
            <a:r>
              <a:rPr dirty="0"/>
              <a:t> pipeline</a:t>
            </a:r>
          </a:p>
          <a:p>
            <a:r>
              <a:rPr dirty="0"/>
              <a:t>[/Sources]</a:t>
            </a:r>
          </a:p>
        </p:txBody>
      </p:sp>
      <p:sp>
        <p:nvSpPr>
          <p:cNvPr id="4" name="Slide Number Placeholder 3">
            <a:extLst>
              <a:ext uri="{FF2B5EF4-FFF2-40B4-BE49-F238E27FC236}">
                <a16:creationId xmlns:a16="http://schemas.microsoft.com/office/drawing/2014/main" id="{3C1905CE-F160-02FE-B4C0-A78F22DC60D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913481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main1.docx — báo cáo cập nhật của nhóm, số liệu, mô tả pipeline và vai trò T5/FLAN-T5</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Triplet-F1 sử dụng exact set overlap sau chuẩn hóa.</a:t>
            </a:r>
          </a:p>
          <a:p>
            <a:r>
              <a:t>[Sources]</a:t>
            </a:r>
          </a:p>
          <a:p>
            <a:r>
              <a:t>- main2.docx — báo cáo cập nhật của nhóm, định nghĩa ASTE, phương pháp sinh chuỗi và logic tổng hợp</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Công thức: F1 = 2 × Precision × Recall / (Precision + Recall).</a:t>
            </a:r>
          </a:p>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ustom Layou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6">
            <a:extLst>
              <a:ext uri="{FF2B5EF4-FFF2-40B4-BE49-F238E27FC236}">
                <a16:creationId xmlns:a16="http://schemas.microsoft.com/office/drawing/2014/main" id="{C5DD3B49-F775-49FC-ACAD-45B074D1C945}"/>
              </a:ext>
            </a:extLst>
          </p:cNvPr>
          <p:cNvSpPr>
            <a:spLocks noGrp="1"/>
          </p:cNvSpPr>
          <p:nvPr>
            <p:ph type="title" hasCustomPrompt="1"/>
          </p:nvPr>
        </p:nvSpPr>
        <p:spPr>
          <a:xfrm>
            <a:off x="2380488" y="2365248"/>
            <a:ext cx="4383024" cy="2127504"/>
          </a:xfrm>
          <a:prstGeom prst="rect">
            <a:avLst/>
          </a:prstGeom>
        </p:spPr>
        <p:txBody>
          <a:bodyPr/>
          <a:lstStyle>
            <a:lvl1pPr algn="ctr">
              <a:buNone/>
              <a:defRPr sz="4800" b="1">
                <a:solidFill>
                  <a:schemeClr val="bg1"/>
                </a:solidFill>
                <a:latin typeface="Lato"/>
                <a:ea typeface="Lato"/>
                <a:cs typeface="Lato"/>
              </a:defRPr>
            </a:lvl1pPr>
          </a:lstStyle>
          <a:p>
            <a:r>
              <a:t>CLICK TO EDIT MASTER TITLE STYLE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and Conten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Section Header">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3/8/26</a:t>
            </a:fld>
            <a:endParaRPr/>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0" name="Title 6">
            <a:extLst>
              <a:ext uri="{FF2B5EF4-FFF2-40B4-BE49-F238E27FC236}">
                <a16:creationId xmlns:a16="http://schemas.microsoft.com/office/drawing/2014/main" id="{44DCE4FD-DEE1-4DE9-A40E-616ACEB2FECC}"/>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1: ………………………………………</a:t>
            </a:r>
          </a:p>
        </p:txBody>
      </p:sp>
      <p:sp>
        <p:nvSpPr>
          <p:cNvPr id="11" name="Content Placeholder 8">
            <a:extLst>
              <a:ext uri="{FF2B5EF4-FFF2-40B4-BE49-F238E27FC236}">
                <a16:creationId xmlns:a16="http://schemas.microsoft.com/office/drawing/2014/main" id="{90DFCEB3-810D-48E5-B7BA-1A6C924A64A4}"/>
              </a:ext>
            </a:extLst>
          </p:cNvPr>
          <p:cNvSpPr>
            <a:spLocks noGrp="1"/>
          </p:cNvSpPr>
          <p:nvPr>
            <p:ph idx="13"/>
          </p:nvPr>
        </p:nvSpPr>
        <p:spPr>
          <a:xfrm>
            <a:off x="235077" y="841247"/>
            <a:ext cx="8674100" cy="5303393"/>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Two Conten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3/8/26</a:t>
            </a:fld>
            <a:endParaRPr/>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idx="1"/>
          </p:nvPr>
        </p:nvSpPr>
        <p:spPr>
          <a:xfrm>
            <a:off x="528828"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idx="2"/>
          </p:nvPr>
        </p:nvSpPr>
        <p:spPr>
          <a:xfrm>
            <a:off x="4572000"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2: ………………………………………</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Comparis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3/8/26</a:t>
            </a:fld>
            <a:endParaRPr/>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3: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idx="13"/>
          </p:nvPr>
        </p:nvSpPr>
        <p:spPr>
          <a:xfrm>
            <a:off x="234950" y="963168"/>
            <a:ext cx="8674100" cy="5132832"/>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3/8/26</a:t>
            </a:fld>
            <a:endParaRPr/>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idx="1"/>
          </p:nvPr>
        </p:nvSpPr>
        <p:spPr>
          <a:xfrm>
            <a:off x="528828"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idx="2"/>
          </p:nvPr>
        </p:nvSpPr>
        <p:spPr>
          <a:xfrm>
            <a:off x="4572000"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4: ………………………………………</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Title Only">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Title 6">
            <a:extLst>
              <a:ext uri="{FF2B5EF4-FFF2-40B4-BE49-F238E27FC236}">
                <a16:creationId xmlns:a16="http://schemas.microsoft.com/office/drawing/2014/main" id="{689FBFE6-E7AD-40DE-88B8-794C73F956C5}"/>
              </a:ext>
            </a:extLst>
          </p:cNvPr>
          <p:cNvSpPr>
            <a:spLocks noGrp="1"/>
          </p:cNvSpPr>
          <p:nvPr>
            <p:ph type="title" hasCustomPrompt="1"/>
          </p:nvPr>
        </p:nvSpPr>
        <p:spPr>
          <a:xfrm>
            <a:off x="3511295" y="224917"/>
            <a:ext cx="5397627" cy="451739"/>
          </a:xfrm>
          <a:prstGeom prst="rect">
            <a:avLst/>
          </a:prstGeom>
        </p:spPr>
        <p:txBody>
          <a:bodyPr/>
          <a:lstStyle>
            <a:lvl1pPr>
              <a:buNone/>
              <a:defRPr sz="2800" b="1">
                <a:solidFill>
                  <a:schemeClr val="tx1"/>
                </a:solidFill>
                <a:latin typeface="Lato"/>
                <a:ea typeface="Lato"/>
                <a:cs typeface="Lato"/>
              </a:defRPr>
            </a:lvl1pPr>
          </a:lstStyle>
          <a:p>
            <a:r>
              <a:t>Title 5: ……………………………………</a:t>
            </a:r>
          </a:p>
        </p:txBody>
      </p:sp>
      <p:sp>
        <p:nvSpPr>
          <p:cNvPr id="12" name="Text Placeholder 7">
            <a:extLst>
              <a:ext uri="{FF2B5EF4-FFF2-40B4-BE49-F238E27FC236}">
                <a16:creationId xmlns:a16="http://schemas.microsoft.com/office/drawing/2014/main" id="{1C2ED7A5-CBB5-4B5C-BD2A-3596087A71FA}"/>
              </a:ext>
            </a:extLst>
          </p:cNvPr>
          <p:cNvSpPr>
            <a:spLocks noGrp="1"/>
          </p:cNvSpPr>
          <p:nvPr>
            <p:ph type="body" idx="13"/>
          </p:nvPr>
        </p:nvSpPr>
        <p:spPr>
          <a:xfrm>
            <a:off x="3524251" y="1011238"/>
            <a:ext cx="5384672" cy="5529262"/>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Date Placeholder 3">
            <a:extLst>
              <a:ext uri="{FF2B5EF4-FFF2-40B4-BE49-F238E27FC236}">
                <a16:creationId xmlns:a16="http://schemas.microsoft.com/office/drawing/2014/main" id="{E21F2271-B488-4DC9-A50E-592D82F22CE9}"/>
              </a:ext>
            </a:extLst>
          </p:cNvPr>
          <p:cNvSpPr>
            <a:spLocks noGrp="1"/>
          </p:cNvSpPr>
          <p:nvPr>
            <p:ph type="dt" idx="10"/>
          </p:nvPr>
        </p:nvSpPr>
        <p:spPr>
          <a:xfrm>
            <a:off x="628650" y="6565257"/>
            <a:ext cx="2057400" cy="365125"/>
          </a:xfrm>
          <a:prstGeom prst="rect">
            <a:avLst/>
          </a:prstGeom>
        </p:spPr>
        <p:txBody>
          <a:bodyPr/>
          <a:lstStyle>
            <a:lvl1pPr>
              <a:buNone/>
              <a:defRPr sz="1200" b="1">
                <a:solidFill>
                  <a:schemeClr val="bg1">
                    <a:lumMod val="95000"/>
                  </a:schemeClr>
                </a:solidFill>
                <a:latin typeface="Lato"/>
                <a:ea typeface="Lato"/>
                <a:cs typeface="Lato"/>
              </a:defRPr>
            </a:lvl1pPr>
          </a:lstStyle>
          <a:p>
            <a:fld id="{F70EAA40-3A53-4A3D-924A-D38F1059C7D5}" type="datetime1">
              <a:t>3/8/26</a:t>
            </a:fld>
            <a:endParaRPr/>
          </a:p>
        </p:txBody>
      </p:sp>
      <p:sp>
        <p:nvSpPr>
          <p:cNvPr id="14" name="Footer Placeholder 4">
            <a:extLst>
              <a:ext uri="{FF2B5EF4-FFF2-40B4-BE49-F238E27FC236}">
                <a16:creationId xmlns:a16="http://schemas.microsoft.com/office/drawing/2014/main" id="{706E966D-F219-41DE-82BF-3F3121B7DCCC}"/>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5" name="Slide Number Placeholder 5">
            <a:extLst>
              <a:ext uri="{FF2B5EF4-FFF2-40B4-BE49-F238E27FC236}">
                <a16:creationId xmlns:a16="http://schemas.microsoft.com/office/drawing/2014/main" id="{AF61A491-C108-489A-B2EA-9FC27DAD4D24}"/>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Blank">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6: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idx="1"/>
          </p:nvPr>
        </p:nvSpPr>
        <p:spPr>
          <a:xfrm>
            <a:off x="595884"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idx="2"/>
          </p:nvPr>
        </p:nvSpPr>
        <p:spPr>
          <a:xfrm>
            <a:off x="4639056"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idx="10"/>
          </p:nvPr>
        </p:nvSpPr>
        <p:spPr>
          <a:xfrm>
            <a:off x="628650" y="6565257"/>
            <a:ext cx="2057400" cy="365125"/>
          </a:xfrm>
          <a:prstGeom prst="rect">
            <a:avLst/>
          </a:prstGeom>
        </p:spPr>
        <p:txBody>
          <a:bodyPr/>
          <a:lstStyle>
            <a:lvl1pPr>
              <a:buNone/>
              <a:defRPr sz="1200" b="1">
                <a:solidFill>
                  <a:schemeClr val="accent1">
                    <a:lumMod val="50000"/>
                  </a:schemeClr>
                </a:solidFill>
                <a:latin typeface="Lato"/>
                <a:ea typeface="Lato"/>
                <a:cs typeface="Lato"/>
              </a:defRPr>
            </a:lvl1pPr>
          </a:lstStyle>
          <a:p>
            <a:fld id="{F70EAA40-3A53-4A3D-924A-D38F1059C7D5}" type="datetime1">
              <a:t>3/8/26</a:t>
            </a:fld>
            <a:endParaRPr/>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chemeClr val="accent1">
                    <a:lumMod val="50000"/>
                  </a:schemeClr>
                </a:solidFill>
                <a:latin typeface="Lato"/>
                <a:ea typeface="Lato"/>
                <a:cs typeface="Lato"/>
              </a:defRPr>
            </a:lvl1pPr>
          </a:lstStyle>
          <a:p>
            <a:endParaRPr/>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chemeClr val="accent1">
                    <a:lumMod val="50000"/>
                  </a:schemeClr>
                </a:solidFill>
                <a:latin typeface="Lato"/>
                <a:ea typeface="Lato"/>
                <a:cs typeface="Lato"/>
              </a:defRPr>
            </a:lvl1pPr>
          </a:lstStyle>
          <a:p>
            <a:fld id="{9EA0BE3B-158A-4EDF-80DC-E394A0D1600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3/8/26</a:t>
            </a:fld>
            <a:endParaRPr/>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7: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idx="13"/>
          </p:nvPr>
        </p:nvSpPr>
        <p:spPr>
          <a:xfrm>
            <a:off x="234950" y="1227550"/>
            <a:ext cx="8674100" cy="4868449"/>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Blank">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8: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idx="1"/>
          </p:nvPr>
        </p:nvSpPr>
        <p:spPr>
          <a:xfrm>
            <a:off x="595884"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idx="2"/>
          </p:nvPr>
        </p:nvSpPr>
        <p:spPr>
          <a:xfrm>
            <a:off x="4639056"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3/8/26</a:t>
            </a:fld>
            <a:endParaRPr/>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Comparis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3/8/26</a:t>
            </a:fld>
            <a:endParaRPr/>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9: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idx="13"/>
          </p:nvPr>
        </p:nvSpPr>
        <p:spPr>
          <a:xfrm>
            <a:off x="234950" y="1164920"/>
            <a:ext cx="8674100" cy="4931079"/>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Content with Capti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Date Placeholder 3">
            <a:extLst>
              <a:ext uri="{FF2B5EF4-FFF2-40B4-BE49-F238E27FC236}">
                <a16:creationId xmlns:a16="http://schemas.microsoft.com/office/drawing/2014/main" id="{76EAE966-F590-4BAF-A55B-75735FCC661F}"/>
              </a:ext>
            </a:extLst>
          </p:cNvPr>
          <p:cNvSpPr>
            <a:spLocks noGrp="1"/>
          </p:cNvSpPr>
          <p:nvPr>
            <p:ph type="dt" idx="10"/>
          </p:nvPr>
        </p:nvSpPr>
        <p:spPr>
          <a:xfrm>
            <a:off x="628650" y="6565257"/>
            <a:ext cx="2057400" cy="365125"/>
          </a:xfrm>
          <a:prstGeom prst="rect">
            <a:avLst/>
          </a:prstGeom>
        </p:spPr>
        <p:txBody>
          <a:bodyPr/>
          <a:lstStyle>
            <a:lvl1pPr>
              <a:buNone/>
              <a:defRPr sz="1200" b="1">
                <a:solidFill>
                  <a:schemeClr val="bg1">
                    <a:lumMod val="95000"/>
                  </a:schemeClr>
                </a:solidFill>
                <a:latin typeface="Lato"/>
                <a:ea typeface="Lato"/>
                <a:cs typeface="Lato"/>
              </a:defRPr>
            </a:lvl1pPr>
          </a:lstStyle>
          <a:p>
            <a:fld id="{F70EAA40-3A53-4A3D-924A-D38F1059C7D5}" type="datetime1">
              <a:t>3/8/26</a:t>
            </a:fld>
            <a:endParaRPr/>
          </a:p>
        </p:txBody>
      </p:sp>
      <p:sp>
        <p:nvSpPr>
          <p:cNvPr id="6" name="Footer Placeholder 4">
            <a:extLst>
              <a:ext uri="{FF2B5EF4-FFF2-40B4-BE49-F238E27FC236}">
                <a16:creationId xmlns:a16="http://schemas.microsoft.com/office/drawing/2014/main" id="{C330CA1C-4366-43E8-9DC8-B360FC115AE4}"/>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7" name="Slide Number Placeholder 5">
            <a:extLst>
              <a:ext uri="{FF2B5EF4-FFF2-40B4-BE49-F238E27FC236}">
                <a16:creationId xmlns:a16="http://schemas.microsoft.com/office/drawing/2014/main" id="{72DB13F6-9193-4FE2-AE85-5B96248CC0EA}"/>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5">
            <a:lum/>
          </a:blip>
          <a:srcRect/>
          <a:stretch>
            <a:fillRect/>
          </a:stretch>
        </a:blip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05_3D1DAAB.xml"/><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06_3D1DAAB.xml"/><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3"/>
          <p:cNvPicPr>
            <a:picLocks noChangeAspect="1"/>
          </p:cNvPicPr>
          <p:nvPr/>
        </p:nvPicPr>
        <p:blipFill>
          <a:blip r:embed="rId3"/>
          <a:srcRect/>
          <a:stretch/>
        </p:blipFill>
        <p:spPr>
          <a:xfrm>
            <a:off x="413012" y="398419"/>
            <a:ext cx="2037225" cy="611594"/>
          </a:xfrm>
          <a:prstGeom prst="rect">
            <a:avLst/>
          </a:prstGeom>
        </p:spPr>
      </p:pic>
      <p:sp>
        <p:nvSpPr>
          <p:cNvPr id="12" name="Title 6">
            <a:extLst>
              <a:ext uri="{FF2B5EF4-FFF2-40B4-BE49-F238E27FC236}">
                <a16:creationId xmlns:a16="http://schemas.microsoft.com/office/drawing/2014/main" id="{A4ACF486-B7D8-4A5A-B633-83527A2F99E2}"/>
              </a:ext>
            </a:extLst>
          </p:cNvPr>
          <p:cNvSpPr>
            <a:spLocks noGrp="1"/>
          </p:cNvSpPr>
          <p:nvPr/>
        </p:nvSpPr>
        <p:spPr>
          <a:xfrm>
            <a:off x="413012" y="3212023"/>
            <a:ext cx="7342482" cy="3054963"/>
          </a:xfrm>
          <a:prstGeom prst="rect">
            <a:avLst/>
          </a:prstGeom>
        </p:spPr>
        <p:txBody>
          <a:bodyPr lIns="91440" tIns="45720" rIns="91440" bIns="45720" anchor="t"/>
          <a:lstStyle>
            <a:lvl1pPr algn="l" defTabSz="914400">
              <a:lnSpc>
                <a:spcPct val="90000"/>
              </a:lnSpc>
              <a:spcBef>
                <a:spcPct val="0"/>
              </a:spcBef>
              <a:buNone/>
              <a:defRPr sz="5400" b="1" kern="1200">
                <a:solidFill>
                  <a:srgbClr val="C00000"/>
                </a:solidFill>
                <a:latin typeface="Lato"/>
                <a:ea typeface="Lato"/>
                <a:cs typeface="Lato"/>
              </a:defRPr>
            </a:lvl1pPr>
          </a:lstStyle>
          <a:p>
            <a:endParaRPr lang="vi-VN" sz="2800" b="0" dirty="0">
              <a:solidFill>
                <a:schemeClr val="tx1"/>
              </a:solidFill>
            </a:endParaRPr>
          </a:p>
          <a:p>
            <a:r>
              <a:rPr lang="vi-VN" sz="2000" dirty="0">
                <a:solidFill>
                  <a:schemeClr val="tx1"/>
                </a:solidFill>
              </a:rPr>
              <a:t>Giảng viên HD</a:t>
            </a:r>
            <a:r>
              <a:rPr lang="vi-VN" sz="2000" b="0" dirty="0">
                <a:solidFill>
                  <a:schemeClr val="tx1"/>
                </a:solidFill>
              </a:rPr>
              <a:t>: TS. Dương Quang Huy</a:t>
            </a:r>
          </a:p>
          <a:p>
            <a:r>
              <a:rPr lang="en-US" sz="2000" dirty="0" err="1">
                <a:solidFill>
                  <a:schemeClr val="tx1"/>
                </a:solidFill>
              </a:rPr>
              <a:t>Nhóm</a:t>
            </a:r>
            <a:r>
              <a:rPr lang="en-US" sz="2000" dirty="0">
                <a:solidFill>
                  <a:schemeClr val="tx1"/>
                </a:solidFill>
              </a:rPr>
              <a:t> </a:t>
            </a:r>
            <a:r>
              <a:rPr lang="en-US" sz="2000" dirty="0" err="1">
                <a:solidFill>
                  <a:schemeClr val="tx1"/>
                </a:solidFill>
              </a:rPr>
              <a:t>thực</a:t>
            </a:r>
            <a:r>
              <a:rPr lang="en-US" sz="2000" dirty="0">
                <a:solidFill>
                  <a:schemeClr val="tx1"/>
                </a:solidFill>
              </a:rPr>
              <a:t> </a:t>
            </a:r>
            <a:r>
              <a:rPr lang="en-US" sz="2000" dirty="0" err="1">
                <a:solidFill>
                  <a:schemeClr val="tx1"/>
                </a:solidFill>
              </a:rPr>
              <a:t>hiện</a:t>
            </a:r>
            <a:r>
              <a:rPr lang="en-US" sz="2000" b="0" dirty="0">
                <a:solidFill>
                  <a:schemeClr val="tx1"/>
                </a:solidFill>
              </a:rPr>
              <a:t>: </a:t>
            </a:r>
            <a:r>
              <a:rPr sz="2000" b="0" dirty="0" err="1">
                <a:solidFill>
                  <a:schemeClr val="tx1"/>
                </a:solidFill>
              </a:rPr>
              <a:t>Nhóm</a:t>
            </a:r>
            <a:r>
              <a:rPr sz="2000" b="0" dirty="0">
                <a:solidFill>
                  <a:schemeClr val="tx1"/>
                </a:solidFill>
              </a:rPr>
              <a:t> </a:t>
            </a:r>
            <a:r>
              <a:rPr lang="vi-VN" sz="2000" b="0" dirty="0">
                <a:solidFill>
                  <a:schemeClr val="tx1"/>
                </a:solidFill>
              </a:rPr>
              <a:t>15</a:t>
            </a:r>
            <a:endParaRPr lang="vi-VN" sz="2000" dirty="0">
              <a:solidFill>
                <a:schemeClr val="tx1"/>
              </a:solidFill>
            </a:endParaRPr>
          </a:p>
          <a:p>
            <a:pPr>
              <a:lnSpc>
                <a:spcPct val="100000"/>
              </a:lnSpc>
            </a:pPr>
            <a:endParaRPr lang="vi-VN" sz="1600" b="0" dirty="0">
              <a:solidFill>
                <a:schemeClr val="tx1"/>
              </a:solidFill>
            </a:endParaRPr>
          </a:p>
          <a:p>
            <a:pPr>
              <a:lnSpc>
                <a:spcPct val="100000"/>
              </a:lnSpc>
            </a:pPr>
            <a:r>
              <a:rPr lang="vi-VN" sz="1600" b="0" dirty="0">
                <a:solidFill>
                  <a:schemeClr val="tx1"/>
                </a:solidFill>
              </a:rPr>
              <a:t>Trần Mạnh </a:t>
            </a:r>
            <a:r>
              <a:rPr sz="1600" b="0" dirty="0">
                <a:solidFill>
                  <a:schemeClr val="tx1"/>
                </a:solidFill>
              </a:rPr>
              <a:t>Đạt</a:t>
            </a:r>
            <a:r>
              <a:rPr lang="vi-VN" sz="1600" b="0" dirty="0">
                <a:solidFill>
                  <a:schemeClr val="tx1"/>
                </a:solidFill>
              </a:rPr>
              <a:t> 20252607M</a:t>
            </a:r>
          </a:p>
          <a:p>
            <a:r>
              <a:rPr lang="vi-VN" sz="1600" b="0" dirty="0">
                <a:solidFill>
                  <a:schemeClr val="tx1"/>
                </a:solidFill>
              </a:rPr>
              <a:t>Trần Hoàng </a:t>
            </a:r>
            <a:r>
              <a:rPr sz="1600" b="0" dirty="0">
                <a:solidFill>
                  <a:schemeClr val="tx1"/>
                </a:solidFill>
              </a:rPr>
              <a:t>Sơn </a:t>
            </a:r>
            <a:r>
              <a:rPr lang="vi-VN" sz="1600" b="0" dirty="0">
                <a:solidFill>
                  <a:schemeClr val="tx1"/>
                </a:solidFill>
              </a:rPr>
              <a:t>20252606M</a:t>
            </a:r>
          </a:p>
          <a:p>
            <a:r>
              <a:rPr lang="vi-VN" sz="1600" b="0" dirty="0">
                <a:solidFill>
                  <a:schemeClr val="tx1"/>
                </a:solidFill>
              </a:rPr>
              <a:t>Nguyễn Đức Hoàng</a:t>
            </a:r>
            <a:r>
              <a:rPr sz="1600" b="0" dirty="0">
                <a:solidFill>
                  <a:schemeClr val="tx1"/>
                </a:solidFill>
              </a:rPr>
              <a:t> </a:t>
            </a:r>
            <a:r>
              <a:rPr lang="vi-VN" sz="1600" b="0" dirty="0">
                <a:solidFill>
                  <a:schemeClr val="tx1"/>
                </a:solidFill>
              </a:rPr>
              <a:t> 20252603M</a:t>
            </a:r>
          </a:p>
          <a:p>
            <a:r>
              <a:rPr lang="vi-VN" sz="1600" b="0" dirty="0">
                <a:solidFill>
                  <a:schemeClr val="tx1"/>
                </a:solidFill>
              </a:rPr>
              <a:t>Trần Hữu Vinh</a:t>
            </a:r>
            <a:r>
              <a:rPr sz="1600" b="0" dirty="0">
                <a:solidFill>
                  <a:schemeClr val="tx1"/>
                </a:solidFill>
              </a:rPr>
              <a:t> </a:t>
            </a:r>
            <a:r>
              <a:rPr lang="vi-VN" sz="1600" b="0" dirty="0">
                <a:solidFill>
                  <a:schemeClr val="tx1"/>
                </a:solidFill>
              </a:rPr>
              <a:t>20252027M</a:t>
            </a:r>
          </a:p>
          <a:p>
            <a:r>
              <a:rPr lang="vi-VN" sz="1600" b="0" dirty="0">
                <a:solidFill>
                  <a:schemeClr val="tx1"/>
                </a:solidFill>
              </a:rPr>
              <a:t>Phạm Khánh Hưng 20252249M</a:t>
            </a:r>
            <a:endParaRPr sz="1600" b="0" dirty="0">
              <a:solidFill>
                <a:schemeClr val="tx1"/>
              </a:solidFill>
            </a:endParaRPr>
          </a:p>
        </p:txBody>
      </p:sp>
      <p:sp>
        <p:nvSpPr>
          <p:cNvPr id="2" name="Title 6">
            <a:extLst>
              <a:ext uri="{FF2B5EF4-FFF2-40B4-BE49-F238E27FC236}">
                <a16:creationId xmlns:a16="http://schemas.microsoft.com/office/drawing/2014/main" id="{FF8BDF70-CFA6-4031-86B7-31F910D8115D}"/>
              </a:ext>
            </a:extLst>
          </p:cNvPr>
          <p:cNvSpPr>
            <a:spLocks noGrp="1"/>
          </p:cNvSpPr>
          <p:nvPr/>
        </p:nvSpPr>
        <p:spPr>
          <a:xfrm>
            <a:off x="413012" y="1884260"/>
            <a:ext cx="7342482" cy="1327763"/>
          </a:xfrm>
          <a:prstGeom prst="rect">
            <a:avLst/>
          </a:prstGeom>
        </p:spPr>
        <p:txBody>
          <a:bodyPr lIns="91440" tIns="45720" rIns="91440" bIns="45720" anchor="t"/>
          <a:lstStyle>
            <a:defPPr>
              <a:defRPr lang="vi-VN"/>
            </a:defPPr>
            <a:lvl1pPr marL="0" algn="l" defTabSz="914400" rtl="0" eaLnBrk="1" latinLnBrk="0" hangingPunct="1">
              <a:lnSpc>
                <a:spcPct val="90000"/>
              </a:lnSpc>
              <a:spcBef>
                <a:spcPct val="0"/>
              </a:spcBef>
              <a:buNone/>
              <a:defRPr sz="5400" b="1" kern="1200">
                <a:solidFill>
                  <a:srgbClr val="C00000"/>
                </a:solidFill>
                <a:latin typeface="Lato"/>
                <a:ea typeface="Lato"/>
                <a:cs typeface="Lato"/>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3200" dirty="0" err="1"/>
              <a:t>Phân</a:t>
            </a:r>
            <a:r>
              <a:rPr lang="en-US" sz="3200" dirty="0"/>
              <a:t> </a:t>
            </a:r>
            <a:r>
              <a:rPr lang="en-US" sz="3200" dirty="0" err="1"/>
              <a:t>tích</a:t>
            </a:r>
            <a:r>
              <a:rPr lang="en-US" sz="3200" dirty="0"/>
              <a:t> </a:t>
            </a:r>
            <a:r>
              <a:rPr lang="en-US" sz="3200" dirty="0" err="1"/>
              <a:t>cảm</a:t>
            </a:r>
            <a:r>
              <a:rPr lang="en-US" sz="3200" dirty="0"/>
              <a:t> </a:t>
            </a:r>
            <a:r>
              <a:rPr lang="en-US" sz="3200" dirty="0" err="1"/>
              <a:t>xúc</a:t>
            </a:r>
            <a:r>
              <a:rPr lang="en-US" sz="3200" dirty="0"/>
              <a:t> </a:t>
            </a:r>
            <a:r>
              <a:rPr lang="en-US" sz="3200" dirty="0" err="1"/>
              <a:t>theo</a:t>
            </a:r>
            <a:r>
              <a:rPr lang="en-US" sz="3200" dirty="0"/>
              <a:t> </a:t>
            </a:r>
            <a:r>
              <a:rPr lang="en-US" sz="3200" dirty="0" err="1"/>
              <a:t>khía</a:t>
            </a:r>
            <a:r>
              <a:rPr lang="en-US" sz="3200" dirty="0"/>
              <a:t> </a:t>
            </a:r>
            <a:r>
              <a:rPr lang="en-US" sz="3200" dirty="0" err="1"/>
              <a:t>cạnh</a:t>
            </a:r>
            <a:r>
              <a:rPr lang="en-US" sz="3200" dirty="0"/>
              <a:t> </a:t>
            </a:r>
            <a:r>
              <a:rPr lang="en-US" sz="3200" dirty="0" err="1"/>
              <a:t>và</a:t>
            </a:r>
            <a:r>
              <a:rPr lang="en-US" sz="3200" dirty="0"/>
              <a:t> </a:t>
            </a:r>
            <a:r>
              <a:rPr lang="en-US" sz="3200" dirty="0" err="1"/>
              <a:t>sinh</a:t>
            </a:r>
            <a:r>
              <a:rPr lang="en-US" sz="3200" dirty="0"/>
              <a:t> </a:t>
            </a:r>
            <a:r>
              <a:rPr lang="en-US" sz="3200" dirty="0" err="1"/>
              <a:t>báo</a:t>
            </a:r>
            <a:r>
              <a:rPr lang="en-US" sz="3200" dirty="0"/>
              <a:t> </a:t>
            </a:r>
            <a:r>
              <a:rPr lang="en-US" sz="3200" dirty="0" err="1"/>
              <a:t>cáo</a:t>
            </a:r>
            <a:r>
              <a:rPr lang="en-US" sz="3200" dirty="0"/>
              <a:t> </a:t>
            </a:r>
            <a:r>
              <a:rPr lang="en-US" sz="3200" dirty="0" err="1"/>
              <a:t>tổng</a:t>
            </a:r>
            <a:r>
              <a:rPr lang="en-US" sz="3200" dirty="0"/>
              <a:t> </a:t>
            </a:r>
            <a:r>
              <a:rPr lang="en-US" sz="3200" dirty="0" err="1"/>
              <a:t>hợp</a:t>
            </a:r>
            <a:r>
              <a:rPr lang="en-US" sz="3200" dirty="0"/>
              <a:t> </a:t>
            </a:r>
            <a:r>
              <a:rPr lang="en-US" sz="3200" dirty="0" err="1"/>
              <a:t>từ</a:t>
            </a:r>
            <a:r>
              <a:rPr lang="en-US" sz="3200" dirty="0"/>
              <a:t> </a:t>
            </a:r>
            <a:r>
              <a:rPr lang="en-US" sz="3200" dirty="0" err="1"/>
              <a:t>phản</a:t>
            </a:r>
            <a:r>
              <a:rPr lang="en-US" sz="3200" dirty="0"/>
              <a:t> </a:t>
            </a:r>
            <a:r>
              <a:rPr lang="en-US" sz="3200" dirty="0" err="1"/>
              <a:t>hồi</a:t>
            </a:r>
            <a:r>
              <a:rPr lang="en-US" sz="3200" dirty="0"/>
              <a:t> </a:t>
            </a:r>
            <a:r>
              <a:rPr lang="en-US" sz="3200" dirty="0" err="1"/>
              <a:t>khách</a:t>
            </a:r>
            <a:r>
              <a:rPr lang="en-US" sz="3200" dirty="0"/>
              <a:t> </a:t>
            </a:r>
            <a:r>
              <a:rPr lang="en-US" sz="3200" dirty="0" err="1"/>
              <a:t>hàng</a:t>
            </a:r>
            <a:r>
              <a:rPr lang="en-US" sz="3200" dirty="0"/>
              <a:t> </a:t>
            </a:r>
            <a:r>
              <a:rPr lang="en-US" sz="3200" dirty="0" err="1"/>
              <a:t>bằng</a:t>
            </a:r>
            <a:r>
              <a:rPr lang="en-US" sz="3200" dirty="0"/>
              <a:t> Generative AI</a:t>
            </a:r>
            <a:endParaRPr lang="vi-VN" sz="3200" dirty="0"/>
          </a:p>
        </p:txBody>
      </p:sp>
    </p:spTree>
    <p:extLst>
      <p:ext uri="{BB962C8B-B14F-4D97-AF65-F5344CB8AC3E}">
        <p14:creationId xmlns:p14="http://schemas.microsoft.com/office/powerpoint/2010/main" val="7431729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E2598689-54C9-18A7-3A19-ED76AA08988F}" type="slidenum">
              <a:rPr/>
              <a:t>2</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t>Nội dung trình bày</a:t>
            </a:r>
          </a:p>
        </p:txBody>
      </p:sp>
      <p:sp>
        <p:nvSpPr>
          <p:cNvPr id="6" name="agenda-left">
            <a:extLst>
              <a:ext uri="{FF2B5EF4-FFF2-40B4-BE49-F238E27FC236}">
                <a16:creationId xmlns:a16="http://schemas.microsoft.com/office/drawing/2014/main" id="{5F6BB6B6-5301-496F-91C0-1A4586842DD4}"/>
              </a:ext>
            </a:extLst>
          </p:cNvPr>
          <p:cNvSpPr>
            <a:spLocks noGrp="1"/>
          </p:cNvSpPr>
          <p:nvPr/>
        </p:nvSpPr>
        <p:spPr>
          <a:xfrm>
            <a:off x="762000" y="1524000"/>
            <a:ext cx="3571875" cy="4000500"/>
          </a:xfrm>
          <a:prstGeom prst="rect">
            <a:avLst/>
          </a:prstGeom>
          <a:noFill/>
          <a:ln w="0">
            <a:noFill/>
            <a:prstDash val="solid"/>
          </a:ln>
        </p:spPr>
        <p:txBody>
          <a:bodyPr lIns="91440" tIns="45720" rIns="91440" bIns="45720" anchor="t"/>
          <a:lstStyle/>
          <a:p>
            <a:pPr>
              <a:defRPr sz="1725" b="1">
                <a:solidFill>
                  <a:srgbClr val="242424"/>
                </a:solidFill>
                <a:latin typeface="Lato"/>
                <a:ea typeface="Lato"/>
                <a:cs typeface="Lato"/>
              </a:defRPr>
            </a:pPr>
            <a:r>
              <a:rPr lang="en-US" sz="1700" b="1" dirty="0">
                <a:solidFill>
                  <a:srgbClr val="242424"/>
                </a:solidFill>
                <a:latin typeface="Lato"/>
                <a:ea typeface="Lato"/>
                <a:cs typeface="Lato"/>
              </a:rPr>
              <a:t>1. </a:t>
            </a:r>
            <a:r>
              <a:rPr lang="en-US" sz="1700" b="1" dirty="0" err="1">
                <a:solidFill>
                  <a:srgbClr val="242424"/>
                </a:solidFill>
                <a:latin typeface="Lato"/>
                <a:ea typeface="Lato"/>
                <a:cs typeface="Lato"/>
              </a:rPr>
              <a:t>Bài</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toán</a:t>
            </a:r>
            <a:r>
              <a:rPr lang="en-US" sz="1700" b="1" dirty="0">
                <a:solidFill>
                  <a:srgbClr val="242424"/>
                </a:solidFill>
                <a:latin typeface="Lato"/>
                <a:ea typeface="Lato"/>
                <a:cs typeface="Lato"/>
              </a:rPr>
              <a:t> &amp; </a:t>
            </a:r>
            <a:r>
              <a:rPr lang="en-US" sz="1700" b="1" dirty="0" err="1">
                <a:solidFill>
                  <a:srgbClr val="242424"/>
                </a:solidFill>
                <a:latin typeface="Lato"/>
                <a:ea typeface="Lato"/>
                <a:cs typeface="Lato"/>
              </a:rPr>
              <a:t>mục</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tiêu</a:t>
            </a:r>
            <a:endParaRPr lang="en-US" sz="1700" dirty="0">
              <a:solidFill>
                <a:srgbClr val="242424"/>
              </a:solidFill>
              <a:latin typeface="Lato"/>
              <a:ea typeface="Lato"/>
              <a:cs typeface="Lato"/>
            </a:endParaRPr>
          </a:p>
          <a:p>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2. </a:t>
            </a:r>
            <a:r>
              <a:rPr lang="en-US" sz="1700" b="1" dirty="0" err="1">
                <a:solidFill>
                  <a:srgbClr val="242424"/>
                </a:solidFill>
                <a:latin typeface="Lato"/>
                <a:ea typeface="Lato"/>
                <a:cs typeface="Lato"/>
              </a:rPr>
              <a:t>Kiến</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trúc</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hệ</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thống</a:t>
            </a: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3. </a:t>
            </a:r>
            <a:r>
              <a:rPr lang="en-US" sz="1700" b="1" dirty="0" err="1">
                <a:solidFill>
                  <a:srgbClr val="242424"/>
                </a:solidFill>
                <a:latin typeface="Lato"/>
                <a:ea typeface="Lato"/>
                <a:cs typeface="Lato"/>
              </a:rPr>
              <a:t>Dữ</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liệu</a:t>
            </a:r>
            <a:r>
              <a:rPr lang="en-US" sz="1700" b="1" dirty="0">
                <a:solidFill>
                  <a:srgbClr val="242424"/>
                </a:solidFill>
                <a:latin typeface="Lato"/>
                <a:ea typeface="Lato"/>
                <a:cs typeface="Lato"/>
              </a:rPr>
              <a:t> &amp; </a:t>
            </a:r>
            <a:r>
              <a:rPr lang="en-US" sz="1700" b="1" dirty="0" err="1">
                <a:solidFill>
                  <a:srgbClr val="242424"/>
                </a:solidFill>
                <a:latin typeface="Lato"/>
                <a:ea typeface="Lato"/>
                <a:cs typeface="Lato"/>
              </a:rPr>
              <a:t>huấn</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luyện</a:t>
            </a:r>
            <a:r>
              <a:rPr lang="en-US" sz="1700" b="1" dirty="0">
                <a:solidFill>
                  <a:srgbClr val="242424"/>
                </a:solidFill>
                <a:latin typeface="Lato"/>
                <a:ea typeface="Lato"/>
                <a:cs typeface="Lato"/>
              </a:rPr>
              <a:t> model</a:t>
            </a: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4. </a:t>
            </a:r>
            <a:r>
              <a:rPr lang="en-US" sz="1700" b="1" dirty="0" err="1">
                <a:solidFill>
                  <a:srgbClr val="242424"/>
                </a:solidFill>
                <a:latin typeface="Lato"/>
                <a:ea typeface="Lato"/>
                <a:cs typeface="Lato"/>
              </a:rPr>
              <a:t>Kết</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quả</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và</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đánh</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giá</a:t>
            </a:r>
            <a:r>
              <a:rPr lang="en-US" sz="1700" b="1" dirty="0">
                <a:solidFill>
                  <a:srgbClr val="242424"/>
                </a:solidFill>
                <a:latin typeface="Lato"/>
                <a:ea typeface="Lato"/>
                <a:cs typeface="Lato"/>
              </a:rPr>
              <a:t> </a:t>
            </a:r>
            <a:endParaRPr lang="en-US" sz="1700" dirty="0">
              <a:solidFill>
                <a:srgbClr val="242424"/>
              </a:solidFill>
              <a:latin typeface="Lato"/>
              <a:ea typeface="Lato"/>
              <a:cs typeface="Lato"/>
            </a:endParaRPr>
          </a:p>
          <a:p>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5. </a:t>
            </a:r>
            <a:r>
              <a:rPr lang="en-US" sz="1700" b="1" dirty="0" err="1">
                <a:solidFill>
                  <a:srgbClr val="242424"/>
                </a:solidFill>
                <a:latin typeface="Lato"/>
                <a:ea typeface="Lato"/>
                <a:cs typeface="Lato"/>
              </a:rPr>
              <a:t>Hạn</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chế</a:t>
            </a:r>
            <a:r>
              <a:rPr lang="en-US" sz="1700" b="1" dirty="0">
                <a:solidFill>
                  <a:srgbClr val="242424"/>
                </a:solidFill>
                <a:latin typeface="Lato"/>
                <a:ea typeface="Lato"/>
                <a:cs typeface="Lato"/>
              </a:rPr>
              <a:t> &amp; </a:t>
            </a:r>
            <a:r>
              <a:rPr lang="en-US" sz="1700" b="1" dirty="0" err="1">
                <a:solidFill>
                  <a:srgbClr val="242424"/>
                </a:solidFill>
                <a:latin typeface="Lato"/>
                <a:ea typeface="Lato"/>
                <a:cs typeface="Lato"/>
              </a:rPr>
              <a:t>hướng</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phát</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triển</a:t>
            </a:r>
            <a:endParaRPr lang="en-US" dirty="0"/>
          </a:p>
        </p:txBody>
      </p:sp>
    </p:spTree>
    <p:extLst>
      <p:ext uri="{BB962C8B-B14F-4D97-AF65-F5344CB8AC3E}">
        <p14:creationId xmlns:p14="http://schemas.microsoft.com/office/powerpoint/2010/main" val="13418406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202359C0-8A7A-196E-DD58-8E6569619F09}" type="slidenum">
              <a:rPr/>
              <a:t>3</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t>1. Bài toán &amp; mục tiêu</a:t>
            </a:r>
          </a:p>
        </p:txBody>
      </p:sp>
      <p:sp>
        <p:nvSpPr>
          <p:cNvPr id="6" name="card-Đầu vào">
            <a:extLst>
              <a:ext uri="{FF2B5EF4-FFF2-40B4-BE49-F238E27FC236}">
                <a16:creationId xmlns:a16="http://schemas.microsoft.com/office/drawing/2014/main" id="{9182BD55-EC34-4A2A-95D3-E871D0A6D39B}"/>
              </a:ext>
            </a:extLst>
          </p:cNvPr>
          <p:cNvSpPr>
            <a:spLocks noGrp="1"/>
          </p:cNvSpPr>
          <p:nvPr/>
        </p:nvSpPr>
        <p:spPr>
          <a:xfrm>
            <a:off x="609600" y="2349500"/>
            <a:ext cx="3886200" cy="2000249"/>
          </a:xfrm>
          <a:prstGeom prst="roundRect">
            <a:avLst>
              <a:gd name="adj" fmla="val 3431"/>
            </a:avLst>
          </a:prstGeom>
          <a:noFill/>
          <a:ln w="11430">
            <a:solidFill>
              <a:srgbClr val="E2D6D6"/>
            </a:solidFill>
            <a:prstDash val="solid"/>
          </a:ln>
        </p:spPr>
        <p:txBody>
          <a:bodyPr/>
          <a:lstStyle/>
          <a:p>
            <a:endParaRPr lang="en-VN"/>
          </a:p>
        </p:txBody>
      </p:sp>
      <p:sp>
        <p:nvSpPr>
          <p:cNvPr id="7" name="eyebrow-Đầu vào">
            <a:extLst>
              <a:ext uri="{FF2B5EF4-FFF2-40B4-BE49-F238E27FC236}">
                <a16:creationId xmlns:a16="http://schemas.microsoft.com/office/drawing/2014/main" id="{E1F254FE-F902-409A-9D0A-D7422E53C3E4}"/>
              </a:ext>
            </a:extLst>
          </p:cNvPr>
          <p:cNvSpPr>
            <a:spLocks noGrp="1"/>
          </p:cNvSpPr>
          <p:nvPr/>
        </p:nvSpPr>
        <p:spPr>
          <a:xfrm>
            <a:off x="800100" y="2501899"/>
            <a:ext cx="350520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ĐẦU VÀO</a:t>
            </a:r>
          </a:p>
        </p:txBody>
      </p:sp>
      <p:sp>
        <p:nvSpPr>
          <p:cNvPr id="8" name="headline-Đầu vào">
            <a:extLst>
              <a:ext uri="{FF2B5EF4-FFF2-40B4-BE49-F238E27FC236}">
                <a16:creationId xmlns:a16="http://schemas.microsoft.com/office/drawing/2014/main" id="{F929401F-2F95-4320-8BF6-4FDC18FC0B26}"/>
              </a:ext>
            </a:extLst>
          </p:cNvPr>
          <p:cNvSpPr>
            <a:spLocks noGrp="1"/>
          </p:cNvSpPr>
          <p:nvPr/>
        </p:nvSpPr>
        <p:spPr>
          <a:xfrm>
            <a:off x="800100" y="2806699"/>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a:solidFill>
                  <a:srgbClr val="242424"/>
                </a:solidFill>
                <a:latin typeface="Lato"/>
                <a:ea typeface="Lato"/>
                <a:cs typeface="Lato"/>
              </a:rPr>
              <a:t>“The food was great, but the service was slow.”</a:t>
            </a:r>
          </a:p>
        </p:txBody>
      </p:sp>
      <p:sp>
        <p:nvSpPr>
          <p:cNvPr id="9" name="body-Đầu vào">
            <a:extLst>
              <a:ext uri="{FF2B5EF4-FFF2-40B4-BE49-F238E27FC236}">
                <a16:creationId xmlns:a16="http://schemas.microsoft.com/office/drawing/2014/main" id="{ED99CF74-3E19-4413-9C80-365C6045B48A}"/>
              </a:ext>
            </a:extLst>
          </p:cNvPr>
          <p:cNvSpPr>
            <a:spLocks noGrp="1"/>
          </p:cNvSpPr>
          <p:nvPr/>
        </p:nvSpPr>
        <p:spPr>
          <a:xfrm>
            <a:off x="800100" y="3530600"/>
            <a:ext cx="3505200" cy="647700"/>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Đánh</a:t>
            </a:r>
            <a:r>
              <a:rPr sz="1275" dirty="0">
                <a:solidFill>
                  <a:srgbClr val="666666"/>
                </a:solidFill>
                <a:latin typeface="Lato"/>
                <a:ea typeface="Lato"/>
                <a:cs typeface="Lato"/>
              </a:rPr>
              <a:t> </a:t>
            </a:r>
            <a:r>
              <a:rPr sz="1275" dirty="0" err="1">
                <a:solidFill>
                  <a:srgbClr val="666666"/>
                </a:solidFill>
                <a:latin typeface="Lato"/>
                <a:ea typeface="Lato"/>
                <a:cs typeface="Lato"/>
              </a:rPr>
              <a:t>giá</a:t>
            </a:r>
            <a:r>
              <a:rPr sz="1275" dirty="0">
                <a:solidFill>
                  <a:srgbClr val="666666"/>
                </a:solidFill>
                <a:latin typeface="Lato"/>
                <a:ea typeface="Lato"/>
                <a:cs typeface="Lato"/>
              </a:rPr>
              <a:t> </a:t>
            </a:r>
            <a:r>
              <a:rPr sz="1275" dirty="0" err="1">
                <a:solidFill>
                  <a:srgbClr val="666666"/>
                </a:solidFill>
                <a:latin typeface="Lato"/>
                <a:ea typeface="Lato"/>
                <a:cs typeface="Lato"/>
              </a:rPr>
              <a:t>ở</a:t>
            </a:r>
            <a:r>
              <a:rPr sz="1275" dirty="0">
                <a:solidFill>
                  <a:srgbClr val="666666"/>
                </a:solidFill>
                <a:latin typeface="Lato"/>
                <a:ea typeface="Lato"/>
                <a:cs typeface="Lato"/>
              </a:rPr>
              <a:t> </a:t>
            </a:r>
            <a:r>
              <a:rPr sz="1275" dirty="0" err="1">
                <a:solidFill>
                  <a:srgbClr val="666666"/>
                </a:solidFill>
                <a:latin typeface="Lato"/>
                <a:ea typeface="Lato"/>
                <a:cs typeface="Lato"/>
              </a:rPr>
              <a:t>mức</a:t>
            </a:r>
            <a:r>
              <a:rPr sz="1275" dirty="0">
                <a:solidFill>
                  <a:srgbClr val="666666"/>
                </a:solidFill>
                <a:latin typeface="Lato"/>
                <a:ea typeface="Lato"/>
                <a:cs typeface="Lato"/>
              </a:rPr>
              <a:t> </a:t>
            </a:r>
            <a:r>
              <a:rPr sz="1275" dirty="0" err="1">
                <a:solidFill>
                  <a:srgbClr val="666666"/>
                </a:solidFill>
                <a:latin typeface="Lato"/>
                <a:ea typeface="Lato"/>
                <a:cs typeface="Lato"/>
              </a:rPr>
              <a:t>câu</a:t>
            </a:r>
            <a:r>
              <a:rPr sz="1275" dirty="0">
                <a:solidFill>
                  <a:srgbClr val="666666"/>
                </a:solidFill>
                <a:latin typeface="Lato"/>
                <a:ea typeface="Lato"/>
                <a:cs typeface="Lato"/>
              </a:rPr>
              <a:t> </a:t>
            </a:r>
            <a:r>
              <a:rPr sz="1275" dirty="0" err="1">
                <a:solidFill>
                  <a:srgbClr val="666666"/>
                </a:solidFill>
                <a:latin typeface="Lato"/>
                <a:ea typeface="Lato"/>
                <a:cs typeface="Lato"/>
              </a:rPr>
              <a:t>không</a:t>
            </a:r>
            <a:r>
              <a:rPr sz="1275" dirty="0">
                <a:solidFill>
                  <a:srgbClr val="666666"/>
                </a:solidFill>
                <a:latin typeface="Lato"/>
                <a:ea typeface="Lato"/>
                <a:cs typeface="Lato"/>
              </a:rPr>
              <a:t> </a:t>
            </a:r>
            <a:r>
              <a:rPr sz="1275" dirty="0" err="1">
                <a:solidFill>
                  <a:srgbClr val="666666"/>
                </a:solidFill>
                <a:latin typeface="Lato"/>
                <a:ea typeface="Lato"/>
                <a:cs typeface="Lato"/>
              </a:rPr>
              <a:t>thể</a:t>
            </a:r>
            <a:r>
              <a:rPr sz="1275" dirty="0">
                <a:solidFill>
                  <a:srgbClr val="666666"/>
                </a:solidFill>
                <a:latin typeface="Lato"/>
                <a:ea typeface="Lato"/>
                <a:cs typeface="Lato"/>
              </a:rPr>
              <a:t> </a:t>
            </a:r>
            <a:r>
              <a:rPr sz="1275" dirty="0" err="1">
                <a:solidFill>
                  <a:srgbClr val="666666"/>
                </a:solidFill>
                <a:latin typeface="Lato"/>
                <a:ea typeface="Lato"/>
                <a:cs typeface="Lato"/>
              </a:rPr>
              <a:t>hiện</a:t>
            </a:r>
            <a:r>
              <a:rPr sz="1275" dirty="0">
                <a:solidFill>
                  <a:srgbClr val="666666"/>
                </a:solidFill>
                <a:latin typeface="Lato"/>
                <a:ea typeface="Lato"/>
                <a:cs typeface="Lato"/>
              </a:rPr>
              <a:t> </a:t>
            </a:r>
            <a:r>
              <a:rPr sz="1275" dirty="0" err="1">
                <a:solidFill>
                  <a:srgbClr val="666666"/>
                </a:solidFill>
                <a:latin typeface="Lato"/>
                <a:ea typeface="Lato"/>
                <a:cs typeface="Lato"/>
              </a:rPr>
              <a:t>được</a:t>
            </a:r>
            <a:r>
              <a:rPr sz="1275" dirty="0">
                <a:solidFill>
                  <a:srgbClr val="666666"/>
                </a:solidFill>
                <a:latin typeface="Lato"/>
                <a:ea typeface="Lato"/>
                <a:cs typeface="Lato"/>
              </a:rPr>
              <a:t> </a:t>
            </a:r>
            <a:r>
              <a:rPr sz="1275" dirty="0" err="1">
                <a:solidFill>
                  <a:srgbClr val="666666"/>
                </a:solidFill>
                <a:latin typeface="Lato"/>
                <a:ea typeface="Lato"/>
                <a:cs typeface="Lato"/>
              </a:rPr>
              <a:t>việc</a:t>
            </a:r>
            <a:r>
              <a:rPr sz="1275" dirty="0">
                <a:solidFill>
                  <a:srgbClr val="666666"/>
                </a:solidFill>
                <a:latin typeface="Lato"/>
                <a:ea typeface="Lato"/>
                <a:cs typeface="Lato"/>
              </a:rPr>
              <a:t> </a:t>
            </a:r>
            <a:r>
              <a:rPr sz="1275" dirty="0" err="1">
                <a:solidFill>
                  <a:srgbClr val="666666"/>
                </a:solidFill>
                <a:latin typeface="Lato"/>
                <a:ea typeface="Lato"/>
                <a:cs typeface="Lato"/>
              </a:rPr>
              <a:t>khách</a:t>
            </a:r>
            <a:r>
              <a:rPr sz="1275" dirty="0">
                <a:solidFill>
                  <a:srgbClr val="666666"/>
                </a:solidFill>
                <a:latin typeface="Lato"/>
                <a:ea typeface="Lato"/>
                <a:cs typeface="Lato"/>
              </a:rPr>
              <a:t> </a:t>
            </a:r>
            <a:r>
              <a:rPr sz="1275" dirty="0" err="1">
                <a:solidFill>
                  <a:srgbClr val="666666"/>
                </a:solidFill>
                <a:latin typeface="Lato"/>
                <a:ea typeface="Lato"/>
                <a:cs typeface="Lato"/>
              </a:rPr>
              <a:t>hàng</a:t>
            </a:r>
            <a:r>
              <a:rPr sz="1275" dirty="0">
                <a:solidFill>
                  <a:srgbClr val="666666"/>
                </a:solidFill>
                <a:latin typeface="Lato"/>
                <a:ea typeface="Lato"/>
                <a:cs typeface="Lato"/>
              </a:rPr>
              <a:t> </a:t>
            </a:r>
            <a:r>
              <a:rPr sz="1275" dirty="0" err="1">
                <a:solidFill>
                  <a:srgbClr val="666666"/>
                </a:solidFill>
                <a:latin typeface="Lato"/>
                <a:ea typeface="Lato"/>
                <a:cs typeface="Lato"/>
              </a:rPr>
              <a:t>đồng</a:t>
            </a:r>
            <a:r>
              <a:rPr sz="1275" dirty="0">
                <a:solidFill>
                  <a:srgbClr val="666666"/>
                </a:solidFill>
                <a:latin typeface="Lato"/>
                <a:ea typeface="Lato"/>
                <a:cs typeface="Lato"/>
              </a:rPr>
              <a:t> </a:t>
            </a:r>
            <a:r>
              <a:rPr sz="1275" dirty="0" err="1">
                <a:solidFill>
                  <a:srgbClr val="666666"/>
                </a:solidFill>
                <a:latin typeface="Lato"/>
                <a:ea typeface="Lato"/>
                <a:cs typeface="Lato"/>
              </a:rPr>
              <a:t>thời</a:t>
            </a:r>
            <a:r>
              <a:rPr sz="1275" dirty="0">
                <a:solidFill>
                  <a:srgbClr val="666666"/>
                </a:solidFill>
                <a:latin typeface="Lato"/>
                <a:ea typeface="Lato"/>
                <a:cs typeface="Lato"/>
              </a:rPr>
              <a:t> </a:t>
            </a:r>
            <a:r>
              <a:rPr sz="1275" dirty="0" err="1">
                <a:solidFill>
                  <a:srgbClr val="666666"/>
                </a:solidFill>
                <a:latin typeface="Lato"/>
                <a:ea typeface="Lato"/>
                <a:cs typeface="Lato"/>
              </a:rPr>
              <a:t>hài</a:t>
            </a:r>
            <a:r>
              <a:rPr sz="1275" dirty="0">
                <a:solidFill>
                  <a:srgbClr val="666666"/>
                </a:solidFill>
                <a:latin typeface="Lato"/>
                <a:ea typeface="Lato"/>
                <a:cs typeface="Lato"/>
              </a:rPr>
              <a:t> </a:t>
            </a:r>
            <a:r>
              <a:rPr sz="1275" dirty="0" err="1">
                <a:solidFill>
                  <a:srgbClr val="666666"/>
                </a:solidFill>
                <a:latin typeface="Lato"/>
                <a:ea typeface="Lato"/>
                <a:cs typeface="Lato"/>
              </a:rPr>
              <a:t>lòng</a:t>
            </a:r>
            <a:r>
              <a:rPr sz="1275" dirty="0">
                <a:solidFill>
                  <a:srgbClr val="666666"/>
                </a:solidFill>
                <a:latin typeface="Lato"/>
                <a:ea typeface="Lato"/>
                <a:cs typeface="Lato"/>
              </a:rPr>
              <a:t> </a:t>
            </a:r>
            <a:r>
              <a:rPr sz="1275" dirty="0" err="1">
                <a:solidFill>
                  <a:srgbClr val="666666"/>
                </a:solidFill>
                <a:latin typeface="Lato"/>
                <a:ea typeface="Lato"/>
                <a:cs typeface="Lato"/>
              </a:rPr>
              <a:t>với</a:t>
            </a:r>
            <a:r>
              <a:rPr sz="1275" dirty="0">
                <a:solidFill>
                  <a:srgbClr val="666666"/>
                </a:solidFill>
                <a:latin typeface="Lato"/>
                <a:ea typeface="Lato"/>
                <a:cs typeface="Lato"/>
              </a:rPr>
              <a:t> </a:t>
            </a:r>
            <a:r>
              <a:rPr sz="1275" dirty="0" err="1">
                <a:solidFill>
                  <a:srgbClr val="666666"/>
                </a:solidFill>
                <a:latin typeface="Lato"/>
                <a:ea typeface="Lato"/>
                <a:cs typeface="Lato"/>
              </a:rPr>
              <a:t>món</a:t>
            </a:r>
            <a:r>
              <a:rPr sz="1275" dirty="0">
                <a:solidFill>
                  <a:srgbClr val="666666"/>
                </a:solidFill>
                <a:latin typeface="Lato"/>
                <a:ea typeface="Lato"/>
                <a:cs typeface="Lato"/>
              </a:rPr>
              <a:t> </a:t>
            </a:r>
            <a:r>
              <a:rPr sz="1275" dirty="0" err="1">
                <a:solidFill>
                  <a:srgbClr val="666666"/>
                </a:solidFill>
                <a:latin typeface="Lato"/>
                <a:ea typeface="Lato"/>
                <a:cs typeface="Lato"/>
              </a:rPr>
              <a:t>ăn</a:t>
            </a:r>
            <a:r>
              <a:rPr sz="1275" dirty="0">
                <a:solidFill>
                  <a:srgbClr val="666666"/>
                </a:solidFill>
                <a:latin typeface="Lato"/>
                <a:ea typeface="Lato"/>
                <a:cs typeface="Lato"/>
              </a:rPr>
              <a:t> </a:t>
            </a:r>
            <a:r>
              <a:rPr sz="1275" dirty="0" err="1">
                <a:solidFill>
                  <a:srgbClr val="666666"/>
                </a:solidFill>
                <a:latin typeface="Lato"/>
                <a:ea typeface="Lato"/>
                <a:cs typeface="Lato"/>
              </a:rPr>
              <a:t>và</a:t>
            </a:r>
            <a:r>
              <a:rPr sz="1275" dirty="0">
                <a:solidFill>
                  <a:srgbClr val="666666"/>
                </a:solidFill>
                <a:latin typeface="Lato"/>
                <a:ea typeface="Lato"/>
                <a:cs typeface="Lato"/>
              </a:rPr>
              <a:t> </a:t>
            </a:r>
            <a:r>
              <a:rPr sz="1275" dirty="0" err="1">
                <a:solidFill>
                  <a:srgbClr val="666666"/>
                </a:solidFill>
                <a:latin typeface="Lato"/>
                <a:ea typeface="Lato"/>
                <a:cs typeface="Lato"/>
              </a:rPr>
              <a:t>không</a:t>
            </a:r>
            <a:r>
              <a:rPr sz="1275" dirty="0">
                <a:solidFill>
                  <a:srgbClr val="666666"/>
                </a:solidFill>
                <a:latin typeface="Lato"/>
                <a:ea typeface="Lato"/>
                <a:cs typeface="Lato"/>
              </a:rPr>
              <a:t> </a:t>
            </a:r>
            <a:r>
              <a:rPr sz="1275" dirty="0" err="1">
                <a:solidFill>
                  <a:srgbClr val="666666"/>
                </a:solidFill>
                <a:latin typeface="Lato"/>
                <a:ea typeface="Lato"/>
                <a:cs typeface="Lato"/>
              </a:rPr>
              <a:t>hài</a:t>
            </a:r>
            <a:r>
              <a:rPr sz="1275" dirty="0">
                <a:solidFill>
                  <a:srgbClr val="666666"/>
                </a:solidFill>
                <a:latin typeface="Lato"/>
                <a:ea typeface="Lato"/>
                <a:cs typeface="Lato"/>
              </a:rPr>
              <a:t> </a:t>
            </a:r>
            <a:r>
              <a:rPr sz="1275" dirty="0" err="1">
                <a:solidFill>
                  <a:srgbClr val="666666"/>
                </a:solidFill>
                <a:latin typeface="Lato"/>
                <a:ea typeface="Lato"/>
                <a:cs typeface="Lato"/>
              </a:rPr>
              <a:t>lòng</a:t>
            </a:r>
            <a:r>
              <a:rPr sz="1275" dirty="0">
                <a:solidFill>
                  <a:srgbClr val="666666"/>
                </a:solidFill>
                <a:latin typeface="Lato"/>
                <a:ea typeface="Lato"/>
                <a:cs typeface="Lato"/>
              </a:rPr>
              <a:t> </a:t>
            </a:r>
            <a:r>
              <a:rPr sz="1275" dirty="0" err="1">
                <a:solidFill>
                  <a:srgbClr val="666666"/>
                </a:solidFill>
                <a:latin typeface="Lato"/>
                <a:ea typeface="Lato"/>
                <a:cs typeface="Lato"/>
              </a:rPr>
              <a:t>với</a:t>
            </a:r>
            <a:r>
              <a:rPr sz="1275" dirty="0">
                <a:solidFill>
                  <a:srgbClr val="666666"/>
                </a:solidFill>
                <a:latin typeface="Lato"/>
                <a:ea typeface="Lato"/>
                <a:cs typeface="Lato"/>
              </a:rPr>
              <a:t> </a:t>
            </a:r>
            <a:r>
              <a:rPr sz="1275" dirty="0" err="1">
                <a:solidFill>
                  <a:srgbClr val="666666"/>
                </a:solidFill>
                <a:latin typeface="Lato"/>
                <a:ea typeface="Lato"/>
                <a:cs typeface="Lato"/>
              </a:rPr>
              <a:t>dịch</a:t>
            </a:r>
            <a:r>
              <a:rPr sz="1275" dirty="0">
                <a:solidFill>
                  <a:srgbClr val="666666"/>
                </a:solidFill>
                <a:latin typeface="Lato"/>
                <a:ea typeface="Lato"/>
                <a:cs typeface="Lato"/>
              </a:rPr>
              <a:t> </a:t>
            </a:r>
            <a:r>
              <a:rPr sz="1275" dirty="0" err="1">
                <a:solidFill>
                  <a:srgbClr val="666666"/>
                </a:solidFill>
                <a:latin typeface="Lato"/>
                <a:ea typeface="Lato"/>
                <a:cs typeface="Lato"/>
              </a:rPr>
              <a:t>vụ</a:t>
            </a:r>
            <a:r>
              <a:rPr sz="1275" dirty="0">
                <a:solidFill>
                  <a:srgbClr val="666666"/>
                </a:solidFill>
                <a:latin typeface="Lato"/>
                <a:ea typeface="Lato"/>
                <a:cs typeface="Lato"/>
              </a:rPr>
              <a:t>.</a:t>
            </a:r>
          </a:p>
        </p:txBody>
      </p:sp>
      <p:sp>
        <p:nvSpPr>
          <p:cNvPr id="10" name="card-Đầu ra ASTE">
            <a:extLst>
              <a:ext uri="{FF2B5EF4-FFF2-40B4-BE49-F238E27FC236}">
                <a16:creationId xmlns:a16="http://schemas.microsoft.com/office/drawing/2014/main" id="{FB8DC7E3-BE91-4DB5-A3C8-F52643BBBFEA}"/>
              </a:ext>
            </a:extLst>
          </p:cNvPr>
          <p:cNvSpPr>
            <a:spLocks noGrp="1"/>
          </p:cNvSpPr>
          <p:nvPr/>
        </p:nvSpPr>
        <p:spPr>
          <a:xfrm>
            <a:off x="4648200" y="2349500"/>
            <a:ext cx="3886200" cy="2000250"/>
          </a:xfrm>
          <a:prstGeom prst="roundRect">
            <a:avLst>
              <a:gd name="adj" fmla="val 3431"/>
            </a:avLst>
          </a:prstGeom>
          <a:noFill/>
          <a:ln w="11430">
            <a:solidFill>
              <a:srgbClr val="E2D6D6"/>
            </a:solidFill>
            <a:prstDash val="solid"/>
          </a:ln>
        </p:spPr>
        <p:txBody>
          <a:bodyPr/>
          <a:lstStyle/>
          <a:p>
            <a:endParaRPr lang="en-VN"/>
          </a:p>
        </p:txBody>
      </p:sp>
      <p:sp>
        <p:nvSpPr>
          <p:cNvPr id="11" name="eyebrow-Đầu ra ASTE">
            <a:extLst>
              <a:ext uri="{FF2B5EF4-FFF2-40B4-BE49-F238E27FC236}">
                <a16:creationId xmlns:a16="http://schemas.microsoft.com/office/drawing/2014/main" id="{376B6682-B87A-4057-845C-E80FC2D17BAA}"/>
              </a:ext>
            </a:extLst>
          </p:cNvPr>
          <p:cNvSpPr>
            <a:spLocks noGrp="1"/>
          </p:cNvSpPr>
          <p:nvPr/>
        </p:nvSpPr>
        <p:spPr>
          <a:xfrm>
            <a:off x="4838700" y="2501899"/>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dirty="0">
                <a:solidFill>
                  <a:srgbClr val="E8A000"/>
                </a:solidFill>
                <a:latin typeface="Lato"/>
                <a:ea typeface="Lato"/>
                <a:cs typeface="Lato"/>
              </a:rPr>
              <a:t>ĐẦU RA</a:t>
            </a:r>
            <a:r>
              <a:rPr lang="en-US" sz="975" b="1" dirty="0">
                <a:solidFill>
                  <a:srgbClr val="E8A000"/>
                </a:solidFill>
                <a:latin typeface="Lato"/>
                <a:ea typeface="Lato"/>
                <a:cs typeface="Lato"/>
              </a:rPr>
              <a:t> ASTE</a:t>
            </a:r>
            <a:endParaRPr sz="975" b="1" dirty="0">
              <a:solidFill>
                <a:srgbClr val="E8A000"/>
              </a:solidFill>
              <a:latin typeface="Lato"/>
              <a:ea typeface="Lato"/>
              <a:cs typeface="Lato"/>
            </a:endParaRPr>
          </a:p>
        </p:txBody>
      </p:sp>
      <p:sp>
        <p:nvSpPr>
          <p:cNvPr id="12" name="headline-Đầu ra ASTE">
            <a:extLst>
              <a:ext uri="{FF2B5EF4-FFF2-40B4-BE49-F238E27FC236}">
                <a16:creationId xmlns:a16="http://schemas.microsoft.com/office/drawing/2014/main" id="{2787C12D-3077-42C5-A3C1-7B305AB64FEF}"/>
              </a:ext>
            </a:extLst>
          </p:cNvPr>
          <p:cNvSpPr>
            <a:spLocks noGrp="1"/>
          </p:cNvSpPr>
          <p:nvPr/>
        </p:nvSpPr>
        <p:spPr>
          <a:xfrm>
            <a:off x="4838700" y="2806699"/>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a:solidFill>
                  <a:srgbClr val="242424"/>
                </a:solidFill>
                <a:latin typeface="Lato"/>
                <a:ea typeface="Lato"/>
                <a:cs typeface="Lato"/>
              </a:rPr>
              <a:t>food → great → positive</a:t>
            </a:r>
          </a:p>
          <a:p>
            <a:pPr>
              <a:defRPr sz="1800" b="1">
                <a:solidFill>
                  <a:srgbClr val="242424"/>
                </a:solidFill>
                <a:latin typeface="Lato"/>
                <a:ea typeface="Lato"/>
                <a:cs typeface="Lato"/>
              </a:defRPr>
            </a:pPr>
            <a:r>
              <a:rPr sz="1800" b="1" dirty="0">
                <a:solidFill>
                  <a:srgbClr val="242424"/>
                </a:solidFill>
                <a:latin typeface="Lato"/>
                <a:ea typeface="Lato"/>
                <a:cs typeface="Lato"/>
              </a:rPr>
              <a:t>service → slow → negative</a:t>
            </a:r>
          </a:p>
        </p:txBody>
      </p:sp>
      <p:sp>
        <p:nvSpPr>
          <p:cNvPr id="13" name="body-Đầu ra ASTE">
            <a:extLst>
              <a:ext uri="{FF2B5EF4-FFF2-40B4-BE49-F238E27FC236}">
                <a16:creationId xmlns:a16="http://schemas.microsoft.com/office/drawing/2014/main" id="{2037B479-656A-41CB-BEEC-4A622BE3C89F}"/>
              </a:ext>
            </a:extLst>
          </p:cNvPr>
          <p:cNvSpPr>
            <a:spLocks noGrp="1"/>
          </p:cNvSpPr>
          <p:nvPr/>
        </p:nvSpPr>
        <p:spPr>
          <a:xfrm>
            <a:off x="4838700" y="3530600"/>
            <a:ext cx="3505200" cy="819150"/>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Mỗi</a:t>
            </a:r>
            <a:r>
              <a:rPr sz="1275" dirty="0">
                <a:solidFill>
                  <a:srgbClr val="666666"/>
                </a:solidFill>
                <a:latin typeface="Lato"/>
                <a:ea typeface="Lato"/>
                <a:cs typeface="Lato"/>
              </a:rPr>
              <a:t> </a:t>
            </a:r>
            <a:r>
              <a:rPr sz="1275" dirty="0" err="1">
                <a:solidFill>
                  <a:srgbClr val="666666"/>
                </a:solidFill>
                <a:latin typeface="Lato"/>
                <a:ea typeface="Lato"/>
                <a:cs typeface="Lato"/>
              </a:rPr>
              <a:t>bộ</a:t>
            </a:r>
            <a:r>
              <a:rPr sz="1275" dirty="0">
                <a:solidFill>
                  <a:srgbClr val="666666"/>
                </a:solidFill>
                <a:latin typeface="Lato"/>
                <a:ea typeface="Lato"/>
                <a:cs typeface="Lato"/>
              </a:rPr>
              <a:t> </a:t>
            </a:r>
            <a:r>
              <a:rPr sz="1275" dirty="0" err="1">
                <a:solidFill>
                  <a:srgbClr val="666666"/>
                </a:solidFill>
                <a:latin typeface="Lato"/>
                <a:ea typeface="Lato"/>
                <a:cs typeface="Lato"/>
              </a:rPr>
              <a:t>ba</a:t>
            </a:r>
            <a:r>
              <a:rPr sz="1275" dirty="0">
                <a:solidFill>
                  <a:srgbClr val="666666"/>
                </a:solidFill>
                <a:latin typeface="Lato"/>
                <a:ea typeface="Lato"/>
                <a:cs typeface="Lato"/>
              </a:rPr>
              <a:t> </a:t>
            </a:r>
            <a:r>
              <a:rPr sz="1275" dirty="0" err="1">
                <a:solidFill>
                  <a:srgbClr val="666666"/>
                </a:solidFill>
                <a:latin typeface="Lato"/>
                <a:ea typeface="Lato"/>
                <a:cs typeface="Lato"/>
              </a:rPr>
              <a:t>liên</a:t>
            </a:r>
            <a:r>
              <a:rPr sz="1275" dirty="0">
                <a:solidFill>
                  <a:srgbClr val="666666"/>
                </a:solidFill>
                <a:latin typeface="Lato"/>
                <a:ea typeface="Lato"/>
                <a:cs typeface="Lato"/>
              </a:rPr>
              <a:t> </a:t>
            </a:r>
            <a:r>
              <a:rPr sz="1275" dirty="0" err="1">
                <a:solidFill>
                  <a:srgbClr val="666666"/>
                </a:solidFill>
                <a:latin typeface="Lato"/>
                <a:ea typeface="Lato"/>
                <a:cs typeface="Lato"/>
              </a:rPr>
              <a:t>kết</a:t>
            </a:r>
            <a:r>
              <a:rPr sz="1275" dirty="0">
                <a:solidFill>
                  <a:srgbClr val="666666"/>
                </a:solidFill>
                <a:latin typeface="Lato"/>
                <a:ea typeface="Lato"/>
                <a:cs typeface="Lato"/>
              </a:rPr>
              <a:t> </a:t>
            </a:r>
            <a:r>
              <a:rPr sz="1275" dirty="0" err="1">
                <a:solidFill>
                  <a:srgbClr val="666666"/>
                </a:solidFill>
                <a:latin typeface="Lato"/>
                <a:ea typeface="Lato"/>
                <a:cs typeface="Lato"/>
              </a:rPr>
              <a:t>đúng</a:t>
            </a:r>
            <a:r>
              <a:rPr sz="1275" dirty="0">
                <a:solidFill>
                  <a:srgbClr val="666666"/>
                </a:solidFill>
                <a:latin typeface="Lato"/>
                <a:ea typeface="Lato"/>
                <a:cs typeface="Lato"/>
              </a:rPr>
              <a:t> </a:t>
            </a:r>
            <a:r>
              <a:rPr sz="1275" b="1" dirty="0">
                <a:solidFill>
                  <a:srgbClr val="666666"/>
                </a:solidFill>
                <a:latin typeface="Lato"/>
                <a:ea typeface="Lato"/>
                <a:cs typeface="Lato"/>
              </a:rPr>
              <a:t>aspect, opinion </a:t>
            </a:r>
            <a:r>
              <a:rPr sz="1275" b="1" dirty="0" err="1">
                <a:solidFill>
                  <a:srgbClr val="666666"/>
                </a:solidFill>
                <a:latin typeface="Lato"/>
                <a:ea typeface="Lato"/>
                <a:cs typeface="Lato"/>
              </a:rPr>
              <a:t>và</a:t>
            </a:r>
            <a:r>
              <a:rPr sz="1275" b="1" dirty="0">
                <a:solidFill>
                  <a:srgbClr val="666666"/>
                </a:solidFill>
                <a:latin typeface="Lato"/>
                <a:ea typeface="Lato"/>
                <a:cs typeface="Lato"/>
              </a:rPr>
              <a:t> sentiment.</a:t>
            </a:r>
            <a:r>
              <a:rPr sz="1275" dirty="0">
                <a:solidFill>
                  <a:srgbClr val="666666"/>
                </a:solidFill>
                <a:latin typeface="Lato"/>
                <a:ea typeface="Lato"/>
                <a:cs typeface="Lato"/>
              </a:rPr>
              <a:t> </a:t>
            </a:r>
            <a:r>
              <a:rPr sz="1275" dirty="0" err="1">
                <a:solidFill>
                  <a:srgbClr val="666666"/>
                </a:solidFill>
                <a:latin typeface="Lato"/>
                <a:ea typeface="Lato"/>
                <a:cs typeface="Lato"/>
              </a:rPr>
              <a:t>Đây</a:t>
            </a:r>
            <a:r>
              <a:rPr sz="1275" dirty="0">
                <a:solidFill>
                  <a:srgbClr val="666666"/>
                </a:solidFill>
                <a:latin typeface="Lato"/>
                <a:ea typeface="Lato"/>
                <a:cs typeface="Lato"/>
              </a:rPr>
              <a:t> </a:t>
            </a:r>
            <a:r>
              <a:rPr sz="1275" dirty="0" err="1">
                <a:solidFill>
                  <a:srgbClr val="666666"/>
                </a:solidFill>
                <a:latin typeface="Lato"/>
                <a:ea typeface="Lato"/>
                <a:cs typeface="Lato"/>
              </a:rPr>
              <a:t>là</a:t>
            </a:r>
            <a:r>
              <a:rPr sz="1275" dirty="0">
                <a:solidFill>
                  <a:srgbClr val="666666"/>
                </a:solidFill>
                <a:latin typeface="Lato"/>
                <a:ea typeface="Lato"/>
                <a:cs typeface="Lato"/>
              </a:rPr>
              <a:t> </a:t>
            </a:r>
            <a:r>
              <a:rPr sz="1275" dirty="0" err="1">
                <a:solidFill>
                  <a:srgbClr val="666666"/>
                </a:solidFill>
                <a:latin typeface="Lato"/>
                <a:ea typeface="Lato"/>
                <a:cs typeface="Lato"/>
              </a:rPr>
              <a:t>đơn</a:t>
            </a:r>
            <a:r>
              <a:rPr sz="1275" dirty="0">
                <a:solidFill>
                  <a:srgbClr val="666666"/>
                </a:solidFill>
                <a:latin typeface="Lato"/>
                <a:ea typeface="Lato"/>
                <a:cs typeface="Lato"/>
              </a:rPr>
              <a:t> </a:t>
            </a:r>
            <a:r>
              <a:rPr sz="1275" dirty="0" err="1">
                <a:solidFill>
                  <a:srgbClr val="666666"/>
                </a:solidFill>
                <a:latin typeface="Lato"/>
                <a:ea typeface="Lato"/>
                <a:cs typeface="Lato"/>
              </a:rPr>
              <a:t>vị</a:t>
            </a:r>
            <a:r>
              <a:rPr sz="1275" dirty="0">
                <a:solidFill>
                  <a:srgbClr val="666666"/>
                </a:solidFill>
                <a:latin typeface="Lato"/>
                <a:ea typeface="Lato"/>
                <a:cs typeface="Lato"/>
              </a:rPr>
              <a:t> </a:t>
            </a:r>
            <a:r>
              <a:rPr sz="1275" dirty="0" err="1">
                <a:solidFill>
                  <a:srgbClr val="666666"/>
                </a:solidFill>
                <a:latin typeface="Lato"/>
                <a:ea typeface="Lato"/>
                <a:cs typeface="Lato"/>
              </a:rPr>
              <a:t>dữ</a:t>
            </a:r>
            <a:r>
              <a:rPr sz="1275" dirty="0">
                <a:solidFill>
                  <a:srgbClr val="666666"/>
                </a:solidFill>
                <a:latin typeface="Lato"/>
                <a:ea typeface="Lato"/>
                <a:cs typeface="Lato"/>
              </a:rPr>
              <a:t> </a:t>
            </a:r>
            <a:r>
              <a:rPr sz="1275" dirty="0" err="1">
                <a:solidFill>
                  <a:srgbClr val="666666"/>
                </a:solidFill>
                <a:latin typeface="Lato"/>
                <a:ea typeface="Lato"/>
                <a:cs typeface="Lato"/>
              </a:rPr>
              <a:t>liệu</a:t>
            </a:r>
            <a:r>
              <a:rPr sz="1275" dirty="0">
                <a:solidFill>
                  <a:srgbClr val="666666"/>
                </a:solidFill>
                <a:latin typeface="Lato"/>
                <a:ea typeface="Lato"/>
                <a:cs typeface="Lato"/>
              </a:rPr>
              <a:t> </a:t>
            </a:r>
            <a:r>
              <a:rPr sz="1275" dirty="0" err="1">
                <a:solidFill>
                  <a:srgbClr val="666666"/>
                </a:solidFill>
                <a:latin typeface="Lato"/>
                <a:ea typeface="Lato"/>
                <a:cs typeface="Lato"/>
              </a:rPr>
              <a:t>để</a:t>
            </a:r>
            <a:r>
              <a:rPr sz="1275" dirty="0">
                <a:solidFill>
                  <a:srgbClr val="666666"/>
                </a:solidFill>
                <a:latin typeface="Lato"/>
                <a:ea typeface="Lato"/>
                <a:cs typeface="Lato"/>
              </a:rPr>
              <a:t> </a:t>
            </a:r>
            <a:r>
              <a:rPr sz="1275" dirty="0" err="1">
                <a:solidFill>
                  <a:srgbClr val="666666"/>
                </a:solidFill>
                <a:latin typeface="Lato"/>
                <a:ea typeface="Lato"/>
                <a:cs typeface="Lato"/>
              </a:rPr>
              <a:t>thống</a:t>
            </a:r>
            <a:r>
              <a:rPr sz="1275" dirty="0">
                <a:solidFill>
                  <a:srgbClr val="666666"/>
                </a:solidFill>
                <a:latin typeface="Lato"/>
                <a:ea typeface="Lato"/>
                <a:cs typeface="Lato"/>
              </a:rPr>
              <a:t> </a:t>
            </a:r>
            <a:r>
              <a:rPr sz="1275" dirty="0" err="1">
                <a:solidFill>
                  <a:srgbClr val="666666"/>
                </a:solidFill>
                <a:latin typeface="Lato"/>
                <a:ea typeface="Lato"/>
                <a:cs typeface="Lato"/>
              </a:rPr>
              <a:t>kê</a:t>
            </a:r>
            <a:r>
              <a:rPr sz="1275" dirty="0">
                <a:solidFill>
                  <a:srgbClr val="666666"/>
                </a:solidFill>
                <a:latin typeface="Lato"/>
                <a:ea typeface="Lato"/>
                <a:cs typeface="Lato"/>
              </a:rPr>
              <a:t> </a:t>
            </a:r>
            <a:r>
              <a:rPr sz="1275" dirty="0" err="1">
                <a:solidFill>
                  <a:srgbClr val="666666"/>
                </a:solidFill>
                <a:latin typeface="Lato"/>
                <a:ea typeface="Lato"/>
                <a:cs typeface="Lato"/>
              </a:rPr>
              <a:t>lý</a:t>
            </a:r>
            <a:r>
              <a:rPr sz="1275" dirty="0">
                <a:solidFill>
                  <a:srgbClr val="666666"/>
                </a:solidFill>
                <a:latin typeface="Lato"/>
                <a:ea typeface="Lato"/>
                <a:cs typeface="Lato"/>
              </a:rPr>
              <a:t> do </a:t>
            </a:r>
            <a:r>
              <a:rPr sz="1275" dirty="0" err="1">
                <a:solidFill>
                  <a:srgbClr val="666666"/>
                </a:solidFill>
                <a:latin typeface="Lato"/>
                <a:ea typeface="Lato"/>
                <a:cs typeface="Lato"/>
              </a:rPr>
              <a:t>và</a:t>
            </a:r>
            <a:r>
              <a:rPr sz="1275" dirty="0">
                <a:solidFill>
                  <a:srgbClr val="666666"/>
                </a:solidFill>
                <a:latin typeface="Lato"/>
                <a:ea typeface="Lato"/>
                <a:cs typeface="Lato"/>
              </a:rPr>
              <a:t> </a:t>
            </a:r>
            <a:r>
              <a:rPr sz="1275" dirty="0" err="1">
                <a:solidFill>
                  <a:srgbClr val="666666"/>
                </a:solidFill>
                <a:latin typeface="Lato"/>
                <a:ea typeface="Lato"/>
                <a:cs typeface="Lato"/>
              </a:rPr>
              <a:t>sinh</a:t>
            </a:r>
            <a:r>
              <a:rPr sz="1275" dirty="0">
                <a:solidFill>
                  <a:srgbClr val="666666"/>
                </a:solidFill>
                <a:latin typeface="Lato"/>
                <a:ea typeface="Lato"/>
                <a:cs typeface="Lato"/>
              </a:rPr>
              <a:t> insight.</a:t>
            </a:r>
          </a:p>
        </p:txBody>
      </p:sp>
      <p:sp>
        <p:nvSpPr>
          <p:cNvPr id="27" name="TextBox 26">
            <a:extLst>
              <a:ext uri="{FF2B5EF4-FFF2-40B4-BE49-F238E27FC236}">
                <a16:creationId xmlns:a16="http://schemas.microsoft.com/office/drawing/2014/main" id="{47ED332F-0724-CE2A-8991-67F12BE141EA}"/>
              </a:ext>
            </a:extLst>
          </p:cNvPr>
          <p:cNvSpPr txBox="1"/>
          <p:nvPr/>
        </p:nvSpPr>
        <p:spPr>
          <a:xfrm>
            <a:off x="248556" y="1341120"/>
            <a:ext cx="7594643" cy="369332"/>
          </a:xfrm>
          <a:prstGeom prst="rect">
            <a:avLst/>
          </a:prstGeom>
          <a:noFill/>
        </p:spPr>
        <p:txBody>
          <a:bodyPr wrap="none" rtlCol="0">
            <a:spAutoFit/>
          </a:bodyPr>
          <a:lstStyle/>
          <a:p>
            <a:r>
              <a:rPr lang="en-VN" b="1" dirty="0"/>
              <a:t>Bài toán: </a:t>
            </a:r>
            <a:r>
              <a:rPr lang="en-VN" dirty="0"/>
              <a:t>Phân tích cảm xúc theo khía cạnh từ phản hồi khách hàng và báo cáo  </a:t>
            </a:r>
          </a:p>
        </p:txBody>
      </p:sp>
      <p:sp>
        <p:nvSpPr>
          <p:cNvPr id="29" name="card-Đầu ra ASTE">
            <a:extLst>
              <a:ext uri="{FF2B5EF4-FFF2-40B4-BE49-F238E27FC236}">
                <a16:creationId xmlns:a16="http://schemas.microsoft.com/office/drawing/2014/main" id="{7CB4A5D3-97C5-7BA0-EA2E-7EC267807A79}"/>
              </a:ext>
            </a:extLst>
          </p:cNvPr>
          <p:cNvSpPr>
            <a:spLocks noGrp="1"/>
          </p:cNvSpPr>
          <p:nvPr/>
        </p:nvSpPr>
        <p:spPr>
          <a:xfrm>
            <a:off x="609600" y="4502148"/>
            <a:ext cx="7924800" cy="1492252"/>
          </a:xfrm>
          <a:prstGeom prst="roundRect">
            <a:avLst>
              <a:gd name="adj" fmla="val 3431"/>
            </a:avLst>
          </a:prstGeom>
          <a:noFill/>
          <a:ln w="11430">
            <a:solidFill>
              <a:srgbClr val="E2D6D6"/>
            </a:solidFill>
            <a:prstDash val="solid"/>
          </a:ln>
        </p:spPr>
        <p:txBody>
          <a:bodyPr/>
          <a:lstStyle/>
          <a:p>
            <a:endParaRPr lang="en-VN"/>
          </a:p>
        </p:txBody>
      </p:sp>
      <p:sp>
        <p:nvSpPr>
          <p:cNvPr id="30" name="eyebrow-Đầu ra ASTE">
            <a:extLst>
              <a:ext uri="{FF2B5EF4-FFF2-40B4-BE49-F238E27FC236}">
                <a16:creationId xmlns:a16="http://schemas.microsoft.com/office/drawing/2014/main" id="{E482A696-1158-C107-9BDE-AFDAE010B507}"/>
              </a:ext>
            </a:extLst>
          </p:cNvPr>
          <p:cNvSpPr>
            <a:spLocks noGrp="1"/>
          </p:cNvSpPr>
          <p:nvPr/>
        </p:nvSpPr>
        <p:spPr>
          <a:xfrm>
            <a:off x="800100" y="4654547"/>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dirty="0">
                <a:solidFill>
                  <a:srgbClr val="E8A000"/>
                </a:solidFill>
                <a:latin typeface="Lato"/>
                <a:ea typeface="Lato"/>
                <a:cs typeface="Lato"/>
              </a:rPr>
              <a:t>ĐẦU RA </a:t>
            </a:r>
            <a:r>
              <a:rPr lang="en-US" sz="975" b="1" dirty="0">
                <a:solidFill>
                  <a:srgbClr val="E8A000"/>
                </a:solidFill>
                <a:latin typeface="Lato"/>
                <a:ea typeface="Lato"/>
                <a:cs typeface="Lato"/>
              </a:rPr>
              <a:t>BÁO CÁO</a:t>
            </a:r>
            <a:endParaRPr sz="975" b="1" dirty="0">
              <a:solidFill>
                <a:srgbClr val="E8A000"/>
              </a:solidFill>
              <a:latin typeface="Lato"/>
              <a:ea typeface="Lato"/>
              <a:cs typeface="Lato"/>
            </a:endParaRPr>
          </a:p>
        </p:txBody>
      </p:sp>
      <p:sp>
        <p:nvSpPr>
          <p:cNvPr id="31" name="headline-Đầu ra ASTE">
            <a:extLst>
              <a:ext uri="{FF2B5EF4-FFF2-40B4-BE49-F238E27FC236}">
                <a16:creationId xmlns:a16="http://schemas.microsoft.com/office/drawing/2014/main" id="{A92DF908-CBF1-2CD7-6CFC-7D2608519919}"/>
              </a:ext>
            </a:extLst>
          </p:cNvPr>
          <p:cNvSpPr>
            <a:spLocks noGrp="1"/>
          </p:cNvSpPr>
          <p:nvPr/>
        </p:nvSpPr>
        <p:spPr>
          <a:xfrm>
            <a:off x="800100" y="4921622"/>
            <a:ext cx="7543800" cy="647700"/>
          </a:xfrm>
          <a:prstGeom prst="rect">
            <a:avLst/>
          </a:prstGeom>
          <a:noFill/>
          <a:ln w="0">
            <a:noFill/>
            <a:prstDash val="solid"/>
          </a:ln>
        </p:spPr>
        <p:txBody>
          <a:bodyPr anchor="ctr"/>
          <a:lstStyle/>
          <a:p>
            <a:pPr algn="just">
              <a:defRPr sz="1800" b="1">
                <a:solidFill>
                  <a:srgbClr val="242424"/>
                </a:solidFill>
                <a:latin typeface="Lato"/>
                <a:ea typeface="Lato"/>
                <a:cs typeface="Lato"/>
              </a:defRPr>
            </a:pPr>
            <a:r>
              <a:rPr lang="vi-VN" sz="1400" b="1" i="1" dirty="0">
                <a:solidFill>
                  <a:srgbClr val="242424"/>
                </a:solidFill>
                <a:latin typeface="Lato"/>
                <a:ea typeface="Lato"/>
                <a:cs typeface="Lato"/>
              </a:rPr>
              <a:t>“Khách hàng đánh giá tích cực về food (đa số nhắc ‘great’, ‘delicious’) và price. Tuy nhiên, service là khía cạnh có nhiều phản hồi tiêu cực nhất (thường bị chê ‘slow’) và cần được ưu tiên cải thiện.”</a:t>
            </a:r>
            <a:endParaRPr sz="1400" b="1" i="1" dirty="0">
              <a:solidFill>
                <a:srgbClr val="242424"/>
              </a:solidFill>
              <a:latin typeface="Lato"/>
              <a:ea typeface="Lato"/>
              <a:cs typeface="Lato"/>
            </a:endParaRPr>
          </a:p>
        </p:txBody>
      </p:sp>
      <p:sp>
        <p:nvSpPr>
          <p:cNvPr id="33" name="body-Đầu vào">
            <a:extLst>
              <a:ext uri="{FF2B5EF4-FFF2-40B4-BE49-F238E27FC236}">
                <a16:creationId xmlns:a16="http://schemas.microsoft.com/office/drawing/2014/main" id="{D0967219-7363-1313-7D82-DD07629FB91A}"/>
              </a:ext>
            </a:extLst>
          </p:cNvPr>
          <p:cNvSpPr>
            <a:spLocks noGrp="1"/>
          </p:cNvSpPr>
          <p:nvPr/>
        </p:nvSpPr>
        <p:spPr>
          <a:xfrm>
            <a:off x="800100" y="5607797"/>
            <a:ext cx="7724140" cy="303296"/>
          </a:xfrm>
          <a:prstGeom prst="rect">
            <a:avLst/>
          </a:prstGeom>
          <a:noFill/>
          <a:ln w="0">
            <a:noFill/>
            <a:prstDash val="solid"/>
          </a:ln>
        </p:spPr>
        <p:txBody>
          <a:bodyPr anchor="t"/>
          <a:lstStyle/>
          <a:p>
            <a:pPr>
              <a:defRPr sz="1275">
                <a:solidFill>
                  <a:srgbClr val="666666"/>
                </a:solidFill>
                <a:latin typeface="Lato"/>
                <a:ea typeface="Lato"/>
                <a:cs typeface="Lato"/>
              </a:defRPr>
            </a:pPr>
            <a:r>
              <a:rPr lang="vi-VN" sz="1275" dirty="0">
                <a:solidFill>
                  <a:srgbClr val="666666"/>
                </a:solidFill>
                <a:latin typeface="Lato"/>
                <a:ea typeface="Lato"/>
                <a:cs typeface="Lato"/>
              </a:rPr>
              <a:t>Hiện tượng hallucination – mô hình có thể bịa ra số liệu hoặc nhận định không khớp với dữ </a:t>
            </a:r>
            <a:r>
              <a:rPr lang="vi-VN" sz="1275">
                <a:solidFill>
                  <a:srgbClr val="666666"/>
                </a:solidFill>
                <a:latin typeface="Lato"/>
                <a:ea typeface="Lato"/>
                <a:cs typeface="Lato"/>
              </a:rPr>
              <a:t>liệu gốc.</a:t>
            </a:r>
            <a:endParaRPr sz="1275" dirty="0">
              <a:solidFill>
                <a:srgbClr val="666666"/>
              </a:solidFill>
              <a:latin typeface="Lato"/>
              <a:ea typeface="Lato"/>
              <a:cs typeface="Lato"/>
            </a:endParaRPr>
          </a:p>
        </p:txBody>
      </p:sp>
      <p:sp>
        <p:nvSpPr>
          <p:cNvPr id="14" name="TextBox 13">
            <a:extLst>
              <a:ext uri="{FF2B5EF4-FFF2-40B4-BE49-F238E27FC236}">
                <a16:creationId xmlns:a16="http://schemas.microsoft.com/office/drawing/2014/main" id="{916B73E1-F636-7527-EB14-2B8D2781EB38}"/>
              </a:ext>
            </a:extLst>
          </p:cNvPr>
          <p:cNvSpPr txBox="1"/>
          <p:nvPr/>
        </p:nvSpPr>
        <p:spPr>
          <a:xfrm>
            <a:off x="266700" y="1763125"/>
            <a:ext cx="5697220" cy="369332"/>
          </a:xfrm>
          <a:prstGeom prst="rect">
            <a:avLst/>
          </a:prstGeom>
          <a:noFill/>
        </p:spPr>
        <p:txBody>
          <a:bodyPr wrap="square">
            <a:spAutoFit/>
          </a:bodyPr>
          <a:lstStyle/>
          <a:p>
            <a:r>
              <a:rPr lang="en-US" i="1" dirty="0">
                <a:solidFill>
                  <a:schemeClr val="bg1">
                    <a:lumMod val="50000"/>
                  </a:schemeClr>
                </a:solidFill>
                <a:ea typeface="Lato" panose="020F0502020204030203" pitchFamily="34" charset="0"/>
                <a:cs typeface="Lato" panose="020F0502020204030203" pitchFamily="34" charset="0"/>
              </a:rPr>
              <a:t>(Aspect-Based Sentiment Analysis (ABSA) and Report)</a:t>
            </a:r>
            <a:endParaRPr lang="en-VN" i="1" dirty="0">
              <a:solidFill>
                <a:schemeClr val="bg1">
                  <a:lumMod val="50000"/>
                </a:schemeClr>
              </a:solidFill>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13418406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009622-FEC8-31B5-9444-24CE47E88B5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EE8A9-F5FB-D6C5-90CC-3C7F6A5A9CAF}"/>
              </a:ext>
            </a:extLst>
          </p:cNvPr>
          <p:cNvSpPr>
            <a:spLocks noGrp="1"/>
          </p:cNvSpPr>
          <p:nvPr>
            <p:ph type="sldNum" idx="12"/>
          </p:nvPr>
        </p:nvSpPr>
        <p:spPr>
          <a:xfrm>
            <a:off x="6867430" y="6491288"/>
            <a:ext cx="2057400" cy="361950"/>
          </a:xfrm>
        </p:spPr>
        <p:txBody>
          <a:bodyPr/>
          <a:lstStyle/>
          <a:p>
            <a:fld id="{202359C0-8A7A-196E-DD58-8E6569619F09}" type="slidenum">
              <a:rPr/>
              <a:t>4</a:t>
            </a:fld>
            <a:endParaRPr/>
          </a:p>
        </p:txBody>
      </p:sp>
      <p:sp>
        <p:nvSpPr>
          <p:cNvPr id="5" name="Title 4">
            <a:extLst>
              <a:ext uri="{FF2B5EF4-FFF2-40B4-BE49-F238E27FC236}">
                <a16:creationId xmlns:a16="http://schemas.microsoft.com/office/drawing/2014/main" id="{952BF9BD-2B26-26A5-EE01-8D9B546C409E}"/>
              </a:ext>
            </a:extLst>
          </p:cNvPr>
          <p:cNvSpPr>
            <a:spLocks noGrp="1"/>
          </p:cNvSpPr>
          <p:nvPr>
            <p:ph type="title"/>
          </p:nvPr>
        </p:nvSpPr>
        <p:spPr/>
        <p:txBody>
          <a:bodyPr/>
          <a:lstStyle/>
          <a:p>
            <a:r>
              <a:t>1. Bài toán &amp; mục tiêu</a:t>
            </a:r>
          </a:p>
        </p:txBody>
      </p:sp>
      <p:sp>
        <p:nvSpPr>
          <p:cNvPr id="27" name="TextBox 26">
            <a:extLst>
              <a:ext uri="{FF2B5EF4-FFF2-40B4-BE49-F238E27FC236}">
                <a16:creationId xmlns:a16="http://schemas.microsoft.com/office/drawing/2014/main" id="{BEB17074-E61F-D608-C3CB-EB4F3D6EF9DD}"/>
              </a:ext>
            </a:extLst>
          </p:cNvPr>
          <p:cNvSpPr txBox="1"/>
          <p:nvPr/>
        </p:nvSpPr>
        <p:spPr>
          <a:xfrm>
            <a:off x="248556" y="1341120"/>
            <a:ext cx="1098378" cy="369332"/>
          </a:xfrm>
          <a:prstGeom prst="rect">
            <a:avLst/>
          </a:prstGeom>
          <a:noFill/>
        </p:spPr>
        <p:txBody>
          <a:bodyPr wrap="none" rtlCol="0">
            <a:spAutoFit/>
          </a:bodyPr>
          <a:lstStyle/>
          <a:p>
            <a:r>
              <a:rPr lang="en-VN" b="1" dirty="0"/>
              <a:t>Mục tiêu:</a:t>
            </a:r>
            <a:endParaRPr lang="en-VN" dirty="0"/>
          </a:p>
        </p:txBody>
      </p:sp>
      <p:sp>
        <p:nvSpPr>
          <p:cNvPr id="34" name="card-01 • TRÍCH XUẤT"/>
          <p:cNvSpPr>
            <a:spLocks noGrp="1"/>
          </p:cNvSpPr>
          <p:nvPr/>
        </p:nvSpPr>
        <p:spPr>
          <a:xfrm>
            <a:off x="523875" y="1900000"/>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35" name="eyebrow-01 • TRÍCH XUẤT"/>
          <p:cNvSpPr>
            <a:spLocks noGrp="1"/>
          </p:cNvSpPr>
          <p:nvPr/>
        </p:nvSpPr>
        <p:spPr>
          <a:xfrm>
            <a:off x="714375" y="2052400"/>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01 • TRÍCH XUẤT</a:t>
            </a:r>
          </a:p>
        </p:txBody>
      </p:sp>
      <p:sp>
        <p:nvSpPr>
          <p:cNvPr id="36" name="headline-01 • TRÍCH XUẤT"/>
          <p:cNvSpPr>
            <a:spLocks noGrp="1"/>
          </p:cNvSpPr>
          <p:nvPr/>
        </p:nvSpPr>
        <p:spPr>
          <a:xfrm>
            <a:off x="714375" y="2357200"/>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Trích bộ ba (aspect, opinion, sentiment) trực tiếp từ câu thô</a:t>
            </a:r>
          </a:p>
        </p:txBody>
      </p:sp>
      <p:sp>
        <p:nvSpPr>
          <p:cNvPr id="37" name="body-01 • TRÍCH XUẤT"/>
          <p:cNvSpPr>
            <a:spLocks noGrp="1"/>
          </p:cNvSpPr>
          <p:nvPr/>
        </p:nvSpPr>
        <p:spPr>
          <a:xfrm>
            <a:off x="714375" y="3081100"/>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Nhận diện khía cạnh và sentiment mà không cần biết trước aspect, theo hướng generative (GAS) thay vì nhiều classifier rời rạc.</a:t>
            </a:r>
          </a:p>
        </p:txBody>
      </p:sp>
      <p:sp>
        <p:nvSpPr>
          <p:cNvPr id="38" name="card-02 • MÔ HÌNH"/>
          <p:cNvSpPr>
            <a:spLocks noGrp="1"/>
          </p:cNvSpPr>
          <p:nvPr/>
        </p:nvSpPr>
        <p:spPr>
          <a:xfrm>
            <a:off x="4667250" y="1900000"/>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39" name="eyebrow-02 • MÔ HÌNH"/>
          <p:cNvSpPr>
            <a:spLocks noGrp="1"/>
          </p:cNvSpPr>
          <p:nvPr/>
        </p:nvSpPr>
        <p:spPr>
          <a:xfrm>
            <a:off x="4857750" y="2052400"/>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02 • MÔ HÌNH</a:t>
            </a:r>
          </a:p>
        </p:txBody>
      </p:sp>
      <p:sp>
        <p:nvSpPr>
          <p:cNvPr id="40" name="headline-02 • MÔ HÌNH"/>
          <p:cNvSpPr>
            <a:spLocks noGrp="1"/>
          </p:cNvSpPr>
          <p:nvPr/>
        </p:nvSpPr>
        <p:spPr>
          <a:xfrm>
            <a:off x="4857750" y="2357200"/>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a:solidFill>
                  <a:srgbClr val="242424"/>
                </a:solidFill>
                <a:latin typeface="Lato"/>
                <a:ea typeface="Lato"/>
                <a:cs typeface="Lato"/>
              </a:rPr>
              <a:t>So </a:t>
            </a:r>
            <a:r>
              <a:rPr sz="1800" b="1" dirty="0" err="1">
                <a:solidFill>
                  <a:srgbClr val="242424"/>
                </a:solidFill>
                <a:latin typeface="Lato"/>
                <a:ea typeface="Lato"/>
                <a:cs typeface="Lato"/>
              </a:rPr>
              <a:t>sánh</a:t>
            </a:r>
            <a:r>
              <a:rPr sz="1800" b="1" dirty="0">
                <a:solidFill>
                  <a:srgbClr val="242424"/>
                </a:solidFill>
                <a:latin typeface="Lato"/>
                <a:ea typeface="Lato"/>
                <a:cs typeface="Lato"/>
              </a:rPr>
              <a:t> baseline </a:t>
            </a:r>
            <a:r>
              <a:rPr sz="1800" b="1" dirty="0" err="1">
                <a:solidFill>
                  <a:srgbClr val="242424"/>
                </a:solidFill>
                <a:latin typeface="Lato"/>
                <a:ea typeface="Lato"/>
                <a:cs typeface="Lato"/>
              </a:rPr>
              <a:t>và</a:t>
            </a:r>
            <a:r>
              <a:rPr sz="1800" b="1" dirty="0">
                <a:solidFill>
                  <a:srgbClr val="242424"/>
                </a:solidFill>
                <a:latin typeface="Lato"/>
                <a:ea typeface="Lato"/>
                <a:cs typeface="Lato"/>
              </a:rPr>
              <a:t> </a:t>
            </a:r>
            <a:r>
              <a:rPr sz="1800" b="1" dirty="0" err="1">
                <a:solidFill>
                  <a:srgbClr val="242424"/>
                </a:solidFill>
                <a:latin typeface="Lato"/>
                <a:ea typeface="Lato"/>
                <a:cs typeface="Lato"/>
              </a:rPr>
              <a:t>các</a:t>
            </a:r>
            <a:r>
              <a:rPr sz="1800" b="1" dirty="0">
                <a:solidFill>
                  <a:srgbClr val="242424"/>
                </a:solidFill>
                <a:latin typeface="Lato"/>
                <a:ea typeface="Lato"/>
                <a:cs typeface="Lato"/>
              </a:rPr>
              <a:t> checkpoint T5-family </a:t>
            </a:r>
            <a:r>
              <a:rPr sz="1800" b="1" dirty="0" err="1">
                <a:solidFill>
                  <a:srgbClr val="242424"/>
                </a:solidFill>
                <a:latin typeface="Lato"/>
                <a:ea typeface="Lato"/>
                <a:cs typeface="Lato"/>
              </a:rPr>
              <a:t>cho</a:t>
            </a:r>
            <a:r>
              <a:rPr sz="1800" b="1" dirty="0">
                <a:solidFill>
                  <a:srgbClr val="242424"/>
                </a:solidFill>
                <a:latin typeface="Lato"/>
                <a:ea typeface="Lato"/>
                <a:cs typeface="Lato"/>
              </a:rPr>
              <a:t> ASTE</a:t>
            </a:r>
          </a:p>
        </p:txBody>
      </p:sp>
      <p:sp>
        <p:nvSpPr>
          <p:cNvPr id="41" name="body-02 • MÔ HÌNH"/>
          <p:cNvSpPr>
            <a:spLocks noGrp="1"/>
          </p:cNvSpPr>
          <p:nvPr/>
        </p:nvSpPr>
        <p:spPr>
          <a:xfrm>
            <a:off x="4857750" y="3081100"/>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Đối</a:t>
            </a:r>
            <a:r>
              <a:rPr sz="1275" dirty="0">
                <a:solidFill>
                  <a:srgbClr val="666666"/>
                </a:solidFill>
                <a:latin typeface="Lato"/>
                <a:ea typeface="Lato"/>
                <a:cs typeface="Lato"/>
              </a:rPr>
              <a:t> </a:t>
            </a:r>
            <a:r>
              <a:rPr sz="1275" dirty="0" err="1">
                <a:solidFill>
                  <a:srgbClr val="666666"/>
                </a:solidFill>
                <a:latin typeface="Lato"/>
                <a:ea typeface="Lato"/>
                <a:cs typeface="Lato"/>
              </a:rPr>
              <a:t>chiếu</a:t>
            </a:r>
            <a:r>
              <a:rPr sz="1275" dirty="0">
                <a:solidFill>
                  <a:srgbClr val="666666"/>
                </a:solidFill>
                <a:latin typeface="Lato"/>
                <a:ea typeface="Lato"/>
                <a:cs typeface="Lato"/>
              </a:rPr>
              <a:t> </a:t>
            </a:r>
            <a:r>
              <a:rPr sz="1275" dirty="0" err="1">
                <a:solidFill>
                  <a:srgbClr val="666666"/>
                </a:solidFill>
                <a:latin typeface="Lato"/>
                <a:ea typeface="Lato"/>
                <a:cs typeface="Lato"/>
              </a:rPr>
              <a:t>AsteLookupBaseline</a:t>
            </a:r>
            <a:r>
              <a:rPr lang="en-US" sz="1275" dirty="0">
                <a:solidFill>
                  <a:srgbClr val="666666"/>
                </a:solidFill>
                <a:latin typeface="Lato"/>
                <a:ea typeface="Lato"/>
                <a:cs typeface="Lato"/>
              </a:rPr>
              <a:t>, GTS-BERT</a:t>
            </a:r>
            <a:r>
              <a:rPr sz="1275" dirty="0">
                <a:solidFill>
                  <a:srgbClr val="666666"/>
                </a:solidFill>
                <a:latin typeface="Lato"/>
                <a:ea typeface="Lato"/>
                <a:cs typeface="Lato"/>
              </a:rPr>
              <a:t> </a:t>
            </a:r>
            <a:r>
              <a:rPr sz="1275" dirty="0" err="1">
                <a:solidFill>
                  <a:srgbClr val="666666"/>
                </a:solidFill>
                <a:latin typeface="Lato"/>
                <a:ea typeface="Lato"/>
                <a:cs typeface="Lato"/>
              </a:rPr>
              <a:t>với</a:t>
            </a:r>
            <a:r>
              <a:rPr sz="1275" dirty="0">
                <a:solidFill>
                  <a:srgbClr val="666666"/>
                </a:solidFill>
                <a:latin typeface="Lato"/>
                <a:ea typeface="Lato"/>
                <a:cs typeface="Lato"/>
              </a:rPr>
              <a:t> T5-small, T5-base, FLAN-T5-base </a:t>
            </a:r>
            <a:r>
              <a:rPr sz="1275" dirty="0" err="1">
                <a:solidFill>
                  <a:srgbClr val="666666"/>
                </a:solidFill>
                <a:latin typeface="Lato"/>
                <a:ea typeface="Lato"/>
                <a:cs typeface="Lato"/>
              </a:rPr>
              <a:t>cùng</a:t>
            </a:r>
            <a:r>
              <a:rPr sz="1275" dirty="0">
                <a:solidFill>
                  <a:srgbClr val="666666"/>
                </a:solidFill>
                <a:latin typeface="Lato"/>
                <a:ea typeface="Lato"/>
                <a:cs typeface="Lato"/>
              </a:rPr>
              <a:t> hyperparameter </a:t>
            </a:r>
            <a:r>
              <a:rPr sz="1275" dirty="0" err="1">
                <a:solidFill>
                  <a:srgbClr val="666666"/>
                </a:solidFill>
                <a:latin typeface="Lato"/>
                <a:ea typeface="Lato"/>
                <a:cs typeface="Lato"/>
              </a:rPr>
              <a:t>để</a:t>
            </a:r>
            <a:r>
              <a:rPr sz="1275" dirty="0">
                <a:solidFill>
                  <a:srgbClr val="666666"/>
                </a:solidFill>
                <a:latin typeface="Lato"/>
                <a:ea typeface="Lato"/>
                <a:cs typeface="Lato"/>
              </a:rPr>
              <a:t> </a:t>
            </a:r>
            <a:r>
              <a:rPr sz="1275" dirty="0" err="1">
                <a:solidFill>
                  <a:srgbClr val="666666"/>
                </a:solidFill>
                <a:latin typeface="Lato"/>
                <a:ea typeface="Lato"/>
                <a:cs typeface="Lato"/>
              </a:rPr>
              <a:t>chọn</a:t>
            </a:r>
            <a:r>
              <a:rPr sz="1275" dirty="0">
                <a:solidFill>
                  <a:srgbClr val="666666"/>
                </a:solidFill>
                <a:latin typeface="Lato"/>
                <a:ea typeface="Lato"/>
                <a:cs typeface="Lato"/>
              </a:rPr>
              <a:t> model </a:t>
            </a:r>
            <a:r>
              <a:rPr sz="1275" dirty="0" err="1">
                <a:solidFill>
                  <a:srgbClr val="666666"/>
                </a:solidFill>
                <a:latin typeface="Lato"/>
                <a:ea typeface="Lato"/>
                <a:cs typeface="Lato"/>
              </a:rPr>
              <a:t>tối</a:t>
            </a:r>
            <a:r>
              <a:rPr sz="1275" dirty="0">
                <a:solidFill>
                  <a:srgbClr val="666666"/>
                </a:solidFill>
                <a:latin typeface="Lato"/>
                <a:ea typeface="Lato"/>
                <a:cs typeface="Lato"/>
              </a:rPr>
              <a:t> </a:t>
            </a:r>
            <a:r>
              <a:rPr sz="1275" dirty="0" err="1">
                <a:solidFill>
                  <a:srgbClr val="666666"/>
                </a:solidFill>
                <a:latin typeface="Lato"/>
                <a:ea typeface="Lato"/>
                <a:cs typeface="Lato"/>
              </a:rPr>
              <a:t>ưu</a:t>
            </a:r>
            <a:r>
              <a:rPr sz="1275" dirty="0">
                <a:solidFill>
                  <a:srgbClr val="666666"/>
                </a:solidFill>
                <a:latin typeface="Lato"/>
                <a:ea typeface="Lato"/>
                <a:cs typeface="Lato"/>
              </a:rPr>
              <a:t> </a:t>
            </a:r>
            <a:r>
              <a:rPr sz="1275" dirty="0" err="1">
                <a:solidFill>
                  <a:srgbClr val="666666"/>
                </a:solidFill>
                <a:latin typeface="Lato"/>
                <a:ea typeface="Lato"/>
                <a:cs typeface="Lato"/>
              </a:rPr>
              <a:t>cho</a:t>
            </a:r>
            <a:r>
              <a:rPr sz="1275" dirty="0">
                <a:solidFill>
                  <a:srgbClr val="666666"/>
                </a:solidFill>
                <a:latin typeface="Lato"/>
                <a:ea typeface="Lato"/>
                <a:cs typeface="Lato"/>
              </a:rPr>
              <a:t> triplet-F1.</a:t>
            </a:r>
          </a:p>
        </p:txBody>
      </p:sp>
      <p:sp>
        <p:nvSpPr>
          <p:cNvPr id="42" name="card-03 • TỔNG HỢP"/>
          <p:cNvSpPr>
            <a:spLocks noGrp="1"/>
          </p:cNvSpPr>
          <p:nvPr/>
        </p:nvSpPr>
        <p:spPr>
          <a:xfrm>
            <a:off x="523875" y="4295644"/>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43" name="eyebrow-03 • TỔNG HỢP"/>
          <p:cNvSpPr>
            <a:spLocks noGrp="1"/>
          </p:cNvSpPr>
          <p:nvPr/>
        </p:nvSpPr>
        <p:spPr>
          <a:xfrm>
            <a:off x="714375" y="4448044"/>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03 • TỔNG HỢP</a:t>
            </a:r>
          </a:p>
        </p:txBody>
      </p:sp>
      <p:sp>
        <p:nvSpPr>
          <p:cNvPr id="44" name="headline-03 • TỔNG HỢP"/>
          <p:cNvSpPr>
            <a:spLocks noGrp="1"/>
          </p:cNvSpPr>
          <p:nvPr/>
        </p:nvSpPr>
        <p:spPr>
          <a:xfrm>
            <a:off x="714375" y="4752844"/>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err="1">
                <a:solidFill>
                  <a:srgbClr val="242424"/>
                </a:solidFill>
                <a:latin typeface="Lato"/>
                <a:ea typeface="Lato"/>
                <a:cs typeface="Lato"/>
              </a:rPr>
              <a:t>Tổng</a:t>
            </a:r>
            <a:r>
              <a:rPr sz="1800" b="1" dirty="0">
                <a:solidFill>
                  <a:srgbClr val="242424"/>
                </a:solidFill>
                <a:latin typeface="Lato"/>
                <a:ea typeface="Lato"/>
                <a:cs typeface="Lato"/>
              </a:rPr>
              <a:t> </a:t>
            </a:r>
            <a:r>
              <a:rPr sz="1800" b="1" dirty="0" err="1">
                <a:solidFill>
                  <a:srgbClr val="242424"/>
                </a:solidFill>
                <a:latin typeface="Lato"/>
                <a:ea typeface="Lato"/>
                <a:cs typeface="Lato"/>
              </a:rPr>
              <a:t>hợp</a:t>
            </a:r>
            <a:r>
              <a:rPr sz="1800" b="1" dirty="0">
                <a:solidFill>
                  <a:srgbClr val="242424"/>
                </a:solidFill>
                <a:latin typeface="Lato"/>
                <a:ea typeface="Lato"/>
                <a:cs typeface="Lato"/>
              </a:rPr>
              <a:t> </a:t>
            </a:r>
            <a:r>
              <a:rPr sz="1800" b="1" dirty="0" err="1">
                <a:solidFill>
                  <a:srgbClr val="242424"/>
                </a:solidFill>
                <a:latin typeface="Lato"/>
                <a:ea typeface="Lato"/>
                <a:cs typeface="Lato"/>
              </a:rPr>
              <a:t>thống</a:t>
            </a:r>
            <a:r>
              <a:rPr sz="1800" b="1" dirty="0">
                <a:solidFill>
                  <a:srgbClr val="242424"/>
                </a:solidFill>
                <a:latin typeface="Lato"/>
                <a:ea typeface="Lato"/>
                <a:cs typeface="Lato"/>
              </a:rPr>
              <a:t> </a:t>
            </a:r>
            <a:r>
              <a:rPr sz="1800" b="1" dirty="0" err="1">
                <a:solidFill>
                  <a:srgbClr val="242424"/>
                </a:solidFill>
                <a:latin typeface="Lato"/>
                <a:ea typeface="Lato"/>
                <a:cs typeface="Lato"/>
              </a:rPr>
              <a:t>kê</a:t>
            </a:r>
            <a:r>
              <a:rPr sz="1800" b="1" dirty="0">
                <a:solidFill>
                  <a:srgbClr val="242424"/>
                </a:solidFill>
                <a:latin typeface="Lato"/>
                <a:ea typeface="Lato"/>
                <a:cs typeface="Lato"/>
              </a:rPr>
              <a:t> </a:t>
            </a:r>
            <a:r>
              <a:rPr sz="1800" b="1" dirty="0" err="1">
                <a:solidFill>
                  <a:srgbClr val="242424"/>
                </a:solidFill>
                <a:latin typeface="Lato"/>
                <a:ea typeface="Lato"/>
                <a:cs typeface="Lato"/>
              </a:rPr>
              <a:t>theo</a:t>
            </a:r>
            <a:r>
              <a:rPr sz="1800" b="1" dirty="0">
                <a:solidFill>
                  <a:srgbClr val="242424"/>
                </a:solidFill>
                <a:latin typeface="Lato"/>
                <a:ea typeface="Lato"/>
                <a:cs typeface="Lato"/>
              </a:rPr>
              <a:t> </a:t>
            </a:r>
            <a:r>
              <a:rPr sz="1800" b="1" dirty="0" err="1">
                <a:solidFill>
                  <a:srgbClr val="242424"/>
                </a:solidFill>
                <a:latin typeface="Lato"/>
                <a:ea typeface="Lato"/>
                <a:cs typeface="Lato"/>
              </a:rPr>
              <a:t>khía</a:t>
            </a:r>
            <a:r>
              <a:rPr sz="1800" b="1" dirty="0">
                <a:solidFill>
                  <a:srgbClr val="242424"/>
                </a:solidFill>
                <a:latin typeface="Lato"/>
                <a:ea typeface="Lato"/>
                <a:cs typeface="Lato"/>
              </a:rPr>
              <a:t> </a:t>
            </a:r>
            <a:r>
              <a:rPr sz="1800" b="1" dirty="0" err="1">
                <a:solidFill>
                  <a:srgbClr val="242424"/>
                </a:solidFill>
                <a:latin typeface="Lato"/>
                <a:ea typeface="Lato"/>
                <a:cs typeface="Lato"/>
              </a:rPr>
              <a:t>cạnh</a:t>
            </a:r>
            <a:r>
              <a:rPr sz="1800" b="1" dirty="0">
                <a:solidFill>
                  <a:srgbClr val="242424"/>
                </a:solidFill>
                <a:latin typeface="Lato"/>
                <a:ea typeface="Lato"/>
                <a:cs typeface="Lato"/>
              </a:rPr>
              <a:t> </a:t>
            </a:r>
            <a:r>
              <a:rPr sz="1800" b="1" dirty="0" err="1">
                <a:solidFill>
                  <a:srgbClr val="242424"/>
                </a:solidFill>
                <a:latin typeface="Lato"/>
                <a:ea typeface="Lato"/>
                <a:cs typeface="Lato"/>
              </a:rPr>
              <a:t>và</a:t>
            </a:r>
            <a:r>
              <a:rPr sz="1800" b="1" dirty="0">
                <a:solidFill>
                  <a:srgbClr val="242424"/>
                </a:solidFill>
                <a:latin typeface="Lato"/>
                <a:ea typeface="Lato"/>
                <a:cs typeface="Lato"/>
              </a:rPr>
              <a:t> </a:t>
            </a:r>
            <a:r>
              <a:rPr sz="1800" b="1" dirty="0" err="1">
                <a:solidFill>
                  <a:srgbClr val="242424"/>
                </a:solidFill>
                <a:latin typeface="Lato"/>
                <a:ea typeface="Lato"/>
                <a:cs typeface="Lato"/>
              </a:rPr>
              <a:t>sinh</a:t>
            </a:r>
            <a:r>
              <a:rPr sz="1800" b="1" dirty="0">
                <a:solidFill>
                  <a:srgbClr val="242424"/>
                </a:solidFill>
                <a:latin typeface="Lato"/>
                <a:ea typeface="Lato"/>
                <a:cs typeface="Lato"/>
              </a:rPr>
              <a:t> </a:t>
            </a:r>
            <a:r>
              <a:rPr sz="1800" b="1" dirty="0" err="1">
                <a:solidFill>
                  <a:srgbClr val="242424"/>
                </a:solidFill>
                <a:latin typeface="Lato"/>
                <a:ea typeface="Lato"/>
                <a:cs typeface="Lato"/>
              </a:rPr>
              <a:t>báo</a:t>
            </a:r>
            <a:r>
              <a:rPr sz="1800" b="1" dirty="0">
                <a:solidFill>
                  <a:srgbClr val="242424"/>
                </a:solidFill>
                <a:latin typeface="Lato"/>
                <a:ea typeface="Lato"/>
                <a:cs typeface="Lato"/>
              </a:rPr>
              <a:t> </a:t>
            </a:r>
            <a:r>
              <a:rPr sz="1800" b="1" dirty="0" err="1">
                <a:solidFill>
                  <a:srgbClr val="242424"/>
                </a:solidFill>
                <a:latin typeface="Lato"/>
                <a:ea typeface="Lato"/>
                <a:cs typeface="Lato"/>
              </a:rPr>
              <a:t>cáo</a:t>
            </a:r>
            <a:r>
              <a:rPr sz="1800" b="1" dirty="0">
                <a:solidFill>
                  <a:srgbClr val="242424"/>
                </a:solidFill>
                <a:latin typeface="Lato"/>
                <a:ea typeface="Lato"/>
                <a:cs typeface="Lato"/>
              </a:rPr>
              <a:t> </a:t>
            </a:r>
            <a:r>
              <a:rPr sz="1800" b="1" dirty="0" err="1">
                <a:solidFill>
                  <a:srgbClr val="242424"/>
                </a:solidFill>
                <a:latin typeface="Lato"/>
                <a:ea typeface="Lato"/>
                <a:cs typeface="Lato"/>
              </a:rPr>
              <a:t>tự</a:t>
            </a:r>
            <a:r>
              <a:rPr sz="1800" b="1" dirty="0">
                <a:solidFill>
                  <a:srgbClr val="242424"/>
                </a:solidFill>
                <a:latin typeface="Lato"/>
                <a:ea typeface="Lato"/>
                <a:cs typeface="Lato"/>
              </a:rPr>
              <a:t> </a:t>
            </a:r>
            <a:r>
              <a:rPr sz="1800" b="1" dirty="0" err="1">
                <a:solidFill>
                  <a:srgbClr val="242424"/>
                </a:solidFill>
                <a:latin typeface="Lato"/>
                <a:ea typeface="Lato"/>
                <a:cs typeface="Lato"/>
              </a:rPr>
              <a:t>nhiên</a:t>
            </a:r>
            <a:endParaRPr sz="1800" b="1" dirty="0">
              <a:solidFill>
                <a:srgbClr val="242424"/>
              </a:solidFill>
              <a:latin typeface="Lato"/>
              <a:ea typeface="Lato"/>
              <a:cs typeface="Lato"/>
            </a:endParaRPr>
          </a:p>
        </p:txBody>
      </p:sp>
      <p:sp>
        <p:nvSpPr>
          <p:cNvPr id="45" name="body-03 • TỔNG HỢP"/>
          <p:cNvSpPr>
            <a:spLocks noGrp="1"/>
          </p:cNvSpPr>
          <p:nvPr/>
        </p:nvSpPr>
        <p:spPr>
          <a:xfrm>
            <a:off x="714375" y="5476744"/>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Gom</a:t>
            </a:r>
            <a:r>
              <a:rPr sz="1275" dirty="0">
                <a:solidFill>
                  <a:srgbClr val="666666"/>
                </a:solidFill>
                <a:latin typeface="Lato"/>
                <a:ea typeface="Lato"/>
                <a:cs typeface="Lato"/>
              </a:rPr>
              <a:t> triplet </a:t>
            </a:r>
            <a:r>
              <a:rPr sz="1275" dirty="0" err="1">
                <a:solidFill>
                  <a:srgbClr val="666666"/>
                </a:solidFill>
                <a:latin typeface="Lato"/>
                <a:ea typeface="Lato"/>
                <a:cs typeface="Lato"/>
              </a:rPr>
              <a:t>theo</a:t>
            </a:r>
            <a:r>
              <a:rPr sz="1275" dirty="0">
                <a:solidFill>
                  <a:srgbClr val="666666"/>
                </a:solidFill>
                <a:latin typeface="Lato"/>
                <a:ea typeface="Lato"/>
                <a:cs typeface="Lato"/>
              </a:rPr>
              <a:t> aspect, </a:t>
            </a:r>
            <a:r>
              <a:rPr sz="1275" dirty="0" err="1">
                <a:solidFill>
                  <a:srgbClr val="666666"/>
                </a:solidFill>
                <a:latin typeface="Lato"/>
                <a:ea typeface="Lato"/>
                <a:cs typeface="Lato"/>
              </a:rPr>
              <a:t>thống</a:t>
            </a:r>
            <a:r>
              <a:rPr sz="1275" dirty="0">
                <a:solidFill>
                  <a:srgbClr val="666666"/>
                </a:solidFill>
                <a:latin typeface="Lato"/>
                <a:ea typeface="Lato"/>
                <a:cs typeface="Lato"/>
              </a:rPr>
              <a:t> </a:t>
            </a:r>
            <a:r>
              <a:rPr sz="1275" dirty="0" err="1">
                <a:solidFill>
                  <a:srgbClr val="666666"/>
                </a:solidFill>
                <a:latin typeface="Lato"/>
                <a:ea typeface="Lato"/>
                <a:cs typeface="Lato"/>
              </a:rPr>
              <a:t>kê</a:t>
            </a:r>
            <a:r>
              <a:rPr sz="1275" dirty="0">
                <a:solidFill>
                  <a:srgbClr val="666666"/>
                </a:solidFill>
                <a:latin typeface="Lato"/>
                <a:ea typeface="Lato"/>
                <a:cs typeface="Lato"/>
              </a:rPr>
              <a:t> </a:t>
            </a:r>
            <a:r>
              <a:rPr sz="1275" dirty="0" err="1">
                <a:solidFill>
                  <a:srgbClr val="666666"/>
                </a:solidFill>
                <a:latin typeface="Lato"/>
                <a:ea typeface="Lato"/>
                <a:cs typeface="Lato"/>
              </a:rPr>
              <a:t>tỷ</a:t>
            </a:r>
            <a:r>
              <a:rPr sz="1275" dirty="0">
                <a:solidFill>
                  <a:srgbClr val="666666"/>
                </a:solidFill>
                <a:latin typeface="Lato"/>
                <a:ea typeface="Lato"/>
                <a:cs typeface="Lato"/>
              </a:rPr>
              <a:t> </a:t>
            </a:r>
            <a:r>
              <a:rPr sz="1275" dirty="0" err="1">
                <a:solidFill>
                  <a:srgbClr val="666666"/>
                </a:solidFill>
                <a:latin typeface="Lato"/>
                <a:ea typeface="Lato"/>
                <a:cs typeface="Lato"/>
              </a:rPr>
              <a:t>lệ</a:t>
            </a:r>
            <a:r>
              <a:rPr sz="1275" dirty="0">
                <a:solidFill>
                  <a:srgbClr val="666666"/>
                </a:solidFill>
                <a:latin typeface="Lato"/>
                <a:ea typeface="Lato"/>
                <a:cs typeface="Lato"/>
              </a:rPr>
              <a:t> sentiment </a:t>
            </a:r>
            <a:r>
              <a:rPr sz="1275" dirty="0" err="1">
                <a:solidFill>
                  <a:srgbClr val="666666"/>
                </a:solidFill>
                <a:latin typeface="Lato"/>
                <a:ea typeface="Lato"/>
                <a:cs typeface="Lato"/>
              </a:rPr>
              <a:t>và</a:t>
            </a:r>
            <a:r>
              <a:rPr sz="1275" dirty="0">
                <a:solidFill>
                  <a:srgbClr val="666666"/>
                </a:solidFill>
                <a:latin typeface="Lato"/>
                <a:ea typeface="Lato"/>
                <a:cs typeface="Lato"/>
              </a:rPr>
              <a:t> top </a:t>
            </a:r>
            <a:r>
              <a:rPr sz="1275" dirty="0" err="1">
                <a:solidFill>
                  <a:srgbClr val="666666"/>
                </a:solidFill>
                <a:latin typeface="Lato"/>
                <a:ea typeface="Lato"/>
                <a:cs typeface="Lato"/>
              </a:rPr>
              <a:t>lý</a:t>
            </a:r>
            <a:r>
              <a:rPr sz="1275" dirty="0">
                <a:solidFill>
                  <a:srgbClr val="666666"/>
                </a:solidFill>
                <a:latin typeface="Lato"/>
                <a:ea typeface="Lato"/>
                <a:cs typeface="Lato"/>
              </a:rPr>
              <a:t> do, </a:t>
            </a:r>
            <a:r>
              <a:rPr sz="1275" dirty="0" err="1">
                <a:solidFill>
                  <a:srgbClr val="666666"/>
                </a:solidFill>
                <a:latin typeface="Lato"/>
                <a:ea typeface="Lato"/>
                <a:cs typeface="Lato"/>
              </a:rPr>
              <a:t>rồi</a:t>
            </a:r>
            <a:r>
              <a:rPr sz="1275" dirty="0">
                <a:solidFill>
                  <a:srgbClr val="666666"/>
                </a:solidFill>
                <a:latin typeface="Lato"/>
                <a:ea typeface="Lato"/>
                <a:cs typeface="Lato"/>
              </a:rPr>
              <a:t> </a:t>
            </a:r>
            <a:r>
              <a:rPr sz="1275" dirty="0" err="1">
                <a:solidFill>
                  <a:srgbClr val="666666"/>
                </a:solidFill>
                <a:latin typeface="Lato"/>
                <a:ea typeface="Lato"/>
                <a:cs typeface="Lato"/>
              </a:rPr>
              <a:t>dùng</a:t>
            </a:r>
            <a:r>
              <a:rPr sz="1275" dirty="0">
                <a:solidFill>
                  <a:srgbClr val="666666"/>
                </a:solidFill>
                <a:latin typeface="Lato"/>
                <a:ea typeface="Lato"/>
                <a:cs typeface="Lato"/>
              </a:rPr>
              <a:t> FLAN-T5 </a:t>
            </a:r>
            <a:r>
              <a:rPr sz="1275" dirty="0" err="1">
                <a:solidFill>
                  <a:srgbClr val="666666"/>
                </a:solidFill>
                <a:latin typeface="Lato"/>
                <a:ea typeface="Lato"/>
                <a:cs typeface="Lato"/>
              </a:rPr>
              <a:t>sinh</a:t>
            </a:r>
            <a:r>
              <a:rPr sz="1275" dirty="0">
                <a:solidFill>
                  <a:srgbClr val="666666"/>
                </a:solidFill>
                <a:latin typeface="Lato"/>
                <a:ea typeface="Lato"/>
                <a:cs typeface="Lato"/>
              </a:rPr>
              <a:t> </a:t>
            </a:r>
            <a:r>
              <a:rPr sz="1275" dirty="0" err="1">
                <a:solidFill>
                  <a:srgbClr val="666666"/>
                </a:solidFill>
                <a:latin typeface="Lato"/>
                <a:ea typeface="Lato"/>
                <a:cs typeface="Lato"/>
              </a:rPr>
              <a:t>đoạn</a:t>
            </a:r>
            <a:r>
              <a:rPr sz="1275" dirty="0">
                <a:solidFill>
                  <a:srgbClr val="666666"/>
                </a:solidFill>
                <a:latin typeface="Lato"/>
                <a:ea typeface="Lato"/>
                <a:cs typeface="Lato"/>
              </a:rPr>
              <a:t> </a:t>
            </a:r>
            <a:r>
              <a:rPr sz="1275" dirty="0" err="1">
                <a:solidFill>
                  <a:srgbClr val="666666"/>
                </a:solidFill>
                <a:latin typeface="Lato"/>
                <a:ea typeface="Lato"/>
                <a:cs typeface="Lato"/>
              </a:rPr>
              <a:t>báo</a:t>
            </a:r>
            <a:r>
              <a:rPr sz="1275" dirty="0">
                <a:solidFill>
                  <a:srgbClr val="666666"/>
                </a:solidFill>
                <a:latin typeface="Lato"/>
                <a:ea typeface="Lato"/>
                <a:cs typeface="Lato"/>
              </a:rPr>
              <a:t> </a:t>
            </a:r>
            <a:r>
              <a:rPr sz="1275" dirty="0" err="1">
                <a:solidFill>
                  <a:srgbClr val="666666"/>
                </a:solidFill>
                <a:latin typeface="Lato"/>
                <a:ea typeface="Lato"/>
                <a:cs typeface="Lato"/>
              </a:rPr>
              <a:t>cáo</a:t>
            </a:r>
            <a:r>
              <a:rPr sz="1275" dirty="0">
                <a:solidFill>
                  <a:srgbClr val="666666"/>
                </a:solidFill>
                <a:latin typeface="Lato"/>
                <a:ea typeface="Lato"/>
                <a:cs typeface="Lato"/>
              </a:rPr>
              <a:t> </a:t>
            </a:r>
            <a:r>
              <a:rPr sz="1275" dirty="0" err="1">
                <a:solidFill>
                  <a:srgbClr val="666666"/>
                </a:solidFill>
                <a:latin typeface="Lato"/>
                <a:ea typeface="Lato"/>
                <a:cs typeface="Lato"/>
              </a:rPr>
              <a:t>tóm</a:t>
            </a:r>
            <a:r>
              <a:rPr sz="1275" dirty="0">
                <a:solidFill>
                  <a:srgbClr val="666666"/>
                </a:solidFill>
                <a:latin typeface="Lato"/>
                <a:ea typeface="Lato"/>
                <a:cs typeface="Lato"/>
              </a:rPr>
              <a:t> </a:t>
            </a:r>
            <a:r>
              <a:rPr sz="1275" dirty="0" err="1">
                <a:solidFill>
                  <a:srgbClr val="666666"/>
                </a:solidFill>
                <a:latin typeface="Lato"/>
                <a:ea typeface="Lato"/>
                <a:cs typeface="Lato"/>
              </a:rPr>
              <a:t>tắt</a:t>
            </a:r>
            <a:r>
              <a:rPr sz="1275" dirty="0">
                <a:solidFill>
                  <a:srgbClr val="666666"/>
                </a:solidFill>
                <a:latin typeface="Lato"/>
                <a:ea typeface="Lato"/>
                <a:cs typeface="Lato"/>
              </a:rPr>
              <a:t> </a:t>
            </a:r>
            <a:r>
              <a:rPr sz="1275" dirty="0" err="1">
                <a:solidFill>
                  <a:srgbClr val="666666"/>
                </a:solidFill>
                <a:latin typeface="Lato"/>
                <a:ea typeface="Lato"/>
                <a:cs typeface="Lato"/>
              </a:rPr>
              <a:t>dễ</a:t>
            </a:r>
            <a:r>
              <a:rPr sz="1275" dirty="0">
                <a:solidFill>
                  <a:srgbClr val="666666"/>
                </a:solidFill>
                <a:latin typeface="Lato"/>
                <a:ea typeface="Lato"/>
                <a:cs typeface="Lato"/>
              </a:rPr>
              <a:t> </a:t>
            </a:r>
            <a:r>
              <a:rPr sz="1275" dirty="0" err="1">
                <a:solidFill>
                  <a:srgbClr val="666666"/>
                </a:solidFill>
                <a:latin typeface="Lato"/>
                <a:ea typeface="Lato"/>
                <a:cs typeface="Lato"/>
              </a:rPr>
              <a:t>đọc</a:t>
            </a:r>
            <a:r>
              <a:rPr sz="1275" dirty="0">
                <a:solidFill>
                  <a:srgbClr val="666666"/>
                </a:solidFill>
                <a:latin typeface="Lato"/>
                <a:ea typeface="Lato"/>
                <a:cs typeface="Lato"/>
              </a:rPr>
              <a:t>.</a:t>
            </a:r>
          </a:p>
        </p:txBody>
      </p:sp>
      <p:sp>
        <p:nvSpPr>
          <p:cNvPr id="46" name="card-04 • XÁC THỰC"/>
          <p:cNvSpPr>
            <a:spLocks noGrp="1"/>
          </p:cNvSpPr>
          <p:nvPr/>
        </p:nvSpPr>
        <p:spPr>
          <a:xfrm>
            <a:off x="4667250" y="4295644"/>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47" name="eyebrow-04 • XÁC THỰC"/>
          <p:cNvSpPr>
            <a:spLocks noGrp="1"/>
          </p:cNvSpPr>
          <p:nvPr/>
        </p:nvSpPr>
        <p:spPr>
          <a:xfrm>
            <a:off x="4857750" y="4448044"/>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04 • XÁC THỰC</a:t>
            </a:r>
          </a:p>
        </p:txBody>
      </p:sp>
      <p:sp>
        <p:nvSpPr>
          <p:cNvPr id="48" name="headline-04 • XÁC THỰC"/>
          <p:cNvSpPr>
            <a:spLocks noGrp="1"/>
          </p:cNvSpPr>
          <p:nvPr/>
        </p:nvSpPr>
        <p:spPr>
          <a:xfrm>
            <a:off x="4857750" y="4752844"/>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Kiểm tra tính xác thực để hạn chế hallucination</a:t>
            </a:r>
          </a:p>
        </p:txBody>
      </p:sp>
      <p:sp>
        <p:nvSpPr>
          <p:cNvPr id="49" name="body-04 • XÁC THỰC"/>
          <p:cNvSpPr>
            <a:spLocks noGrp="1"/>
          </p:cNvSpPr>
          <p:nvPr/>
        </p:nvSpPr>
        <p:spPr>
          <a:xfrm>
            <a:off x="4857750" y="5476744"/>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Xây dựng factual checker đối chiếu từng claim trong báo cáo với dữ liệu gốc, đo cả factuality và coverage trước khi chấp nhận.</a:t>
            </a:r>
          </a:p>
        </p:txBody>
      </p:sp>
    </p:spTree>
    <p:extLst>
      <p:ext uri="{BB962C8B-B14F-4D97-AF65-F5344CB8AC3E}">
        <p14:creationId xmlns:p14="http://schemas.microsoft.com/office/powerpoint/2010/main" val="38535287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776946D-AB92-4D05-97ED-4EDF0AB0FF55}"/>
              </a:ext>
            </a:extLst>
          </p:cNvPr>
          <p:cNvSpPr>
            <a:spLocks noGrp="1"/>
          </p:cNvSpPr>
          <p:nvPr>
            <p:ph type="sldNum" idx="12"/>
          </p:nvPr>
        </p:nvSpPr>
        <p:spPr>
          <a:xfrm>
            <a:off x="6867430" y="6491288"/>
            <a:ext cx="2057400" cy="361950"/>
          </a:xfrm>
          <a:prstGeom prst="rect">
            <a:avLst/>
          </a:prstGeom>
        </p:spPr>
        <p:txBody>
          <a:bodyPr/>
          <a:lstStyle/>
          <a:p>
            <a:fld id="{EFD6AB9A-5F9E-5F59-51AB-3C8734130965}" type="slidenum">
              <a:rPr/>
              <a:t>5</a:t>
            </a:fld>
            <a:endParaRPr/>
          </a:p>
        </p:txBody>
      </p:sp>
      <p:sp>
        <p:nvSpPr>
          <p:cNvPr id="2" name="Title 1">
            <a:extLst>
              <a:ext uri="{FF2B5EF4-FFF2-40B4-BE49-F238E27FC236}">
                <a16:creationId xmlns:a16="http://schemas.microsoft.com/office/drawing/2014/main" id="{4FB6CB3A-046A-4C56-A02D-DBF672421CAF}"/>
              </a:ext>
            </a:extLst>
          </p:cNvPr>
          <p:cNvSpPr>
            <a:spLocks noGrp="1"/>
          </p:cNvSpPr>
          <p:nvPr>
            <p:ph type="title"/>
          </p:nvPr>
        </p:nvSpPr>
        <p:spPr>
          <a:xfrm>
            <a:off x="254052" y="112543"/>
            <a:ext cx="8635896" cy="436098"/>
          </a:xfrm>
          <a:prstGeom prst="rect">
            <a:avLst/>
          </a:prstGeom>
        </p:spPr>
        <p:txBody>
          <a:bodyPr/>
          <a:lstStyle/>
          <a:p>
            <a:r>
              <a:t>2. Kiến trúc hệ thống</a:t>
            </a:r>
          </a:p>
        </p:txBody>
      </p:sp>
      <p:pic>
        <p:nvPicPr>
          <p:cNvPr id="17" name="Hình ảnh 16"/>
          <p:cNvPicPr>
            <a:picLocks noChangeAspect="1"/>
          </p:cNvPicPr>
          <p:nvPr/>
        </p:nvPicPr>
        <p:blipFill>
          <a:blip r:embed="rId3"/>
          <a:stretch/>
        </p:blipFill>
        <p:spPr>
          <a:xfrm>
            <a:off x="582083" y="1352550"/>
            <a:ext cx="3398308" cy="4705350"/>
          </a:xfrm>
          <a:prstGeom prst="rect">
            <a:avLst/>
          </a:prstGeom>
        </p:spPr>
      </p:pic>
      <p:sp>
        <p:nvSpPr>
          <p:cNvPr id="7" name="card-Nguyên tắc">
            <a:extLst>
              <a:ext uri="{FF2B5EF4-FFF2-40B4-BE49-F238E27FC236}">
                <a16:creationId xmlns:a16="http://schemas.microsoft.com/office/drawing/2014/main" id="{B6442D1B-89D8-4773-9C0D-6AE88232A290}"/>
              </a:ext>
            </a:extLst>
          </p:cNvPr>
          <p:cNvSpPr>
            <a:spLocks noGrp="1"/>
          </p:cNvSpPr>
          <p:nvPr/>
        </p:nvSpPr>
        <p:spPr>
          <a:xfrm>
            <a:off x="4762500" y="1485900"/>
            <a:ext cx="3714750" cy="1866900"/>
          </a:xfrm>
          <a:prstGeom prst="roundRect">
            <a:avLst>
              <a:gd name="adj" fmla="val 7143"/>
            </a:avLst>
          </a:prstGeom>
          <a:noFill/>
          <a:ln w="11430">
            <a:solidFill>
              <a:srgbClr val="E2D6D6"/>
            </a:solidFill>
            <a:prstDash val="solid"/>
          </a:ln>
        </p:spPr>
        <p:txBody>
          <a:bodyPr/>
          <a:lstStyle/>
          <a:p>
            <a:endParaRPr lang="en-VN"/>
          </a:p>
        </p:txBody>
      </p:sp>
      <p:sp>
        <p:nvSpPr>
          <p:cNvPr id="8" name="eyebrow-Nguyên tắc">
            <a:extLst>
              <a:ext uri="{FF2B5EF4-FFF2-40B4-BE49-F238E27FC236}">
                <a16:creationId xmlns:a16="http://schemas.microsoft.com/office/drawing/2014/main" id="{957D2D7F-2217-4AC6-9EA6-CBAFF644D33C}"/>
              </a:ext>
            </a:extLst>
          </p:cNvPr>
          <p:cNvSpPr>
            <a:spLocks noGrp="1"/>
          </p:cNvSpPr>
          <p:nvPr/>
        </p:nvSpPr>
        <p:spPr>
          <a:xfrm>
            <a:off x="4953000" y="1638300"/>
            <a:ext cx="333375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NGUYÊN TẮC</a:t>
            </a:r>
          </a:p>
        </p:txBody>
      </p:sp>
      <p:sp>
        <p:nvSpPr>
          <p:cNvPr id="9" name="headline-Nguyên tắc">
            <a:extLst>
              <a:ext uri="{FF2B5EF4-FFF2-40B4-BE49-F238E27FC236}">
                <a16:creationId xmlns:a16="http://schemas.microsoft.com/office/drawing/2014/main" id="{3E2160A9-AF9B-4D05-98C6-D078107B926E}"/>
              </a:ext>
            </a:extLst>
          </p:cNvPr>
          <p:cNvSpPr>
            <a:spLocks noGrp="1"/>
          </p:cNvSpPr>
          <p:nvPr/>
        </p:nvSpPr>
        <p:spPr>
          <a:xfrm>
            <a:off x="4953000" y="1943100"/>
            <a:ext cx="333375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a:solidFill>
                  <a:srgbClr val="242424"/>
                </a:solidFill>
                <a:latin typeface="Lato"/>
                <a:ea typeface="Lato"/>
                <a:cs typeface="Lato"/>
              </a:rPr>
              <a:t>Model </a:t>
            </a:r>
            <a:r>
              <a:rPr sz="1800" b="1" dirty="0" err="1">
                <a:solidFill>
                  <a:srgbClr val="242424"/>
                </a:solidFill>
                <a:latin typeface="Lato"/>
                <a:ea typeface="Lato"/>
                <a:cs typeface="Lato"/>
              </a:rPr>
              <a:t>sinh</a:t>
            </a:r>
            <a:r>
              <a:rPr sz="1800" b="1" dirty="0">
                <a:solidFill>
                  <a:srgbClr val="242424"/>
                </a:solidFill>
                <a:latin typeface="Lato"/>
                <a:ea typeface="Lato"/>
                <a:cs typeface="Lato"/>
              </a:rPr>
              <a:t> </a:t>
            </a:r>
            <a:r>
              <a:rPr sz="1800" b="1" dirty="0" err="1">
                <a:solidFill>
                  <a:srgbClr val="242424"/>
                </a:solidFill>
                <a:latin typeface="Lato"/>
                <a:ea typeface="Lato"/>
                <a:cs typeface="Lato"/>
              </a:rPr>
              <a:t>ngôn</a:t>
            </a:r>
            <a:r>
              <a:rPr sz="1800" b="1" dirty="0">
                <a:solidFill>
                  <a:srgbClr val="242424"/>
                </a:solidFill>
                <a:latin typeface="Lato"/>
                <a:ea typeface="Lato"/>
                <a:cs typeface="Lato"/>
              </a:rPr>
              <a:t> </a:t>
            </a:r>
            <a:r>
              <a:rPr sz="1800" b="1" dirty="0" err="1">
                <a:solidFill>
                  <a:srgbClr val="242424"/>
                </a:solidFill>
                <a:latin typeface="Lato"/>
                <a:ea typeface="Lato"/>
                <a:cs typeface="Lato"/>
              </a:rPr>
              <a:t>ngữ</a:t>
            </a:r>
            <a:r>
              <a:rPr sz="1800" b="1" dirty="0">
                <a:solidFill>
                  <a:srgbClr val="242424"/>
                </a:solidFill>
                <a:latin typeface="Lato"/>
                <a:ea typeface="Lato"/>
                <a:cs typeface="Lato"/>
              </a:rPr>
              <a:t>; code </a:t>
            </a:r>
            <a:r>
              <a:rPr sz="1800" b="1" dirty="0" err="1">
                <a:solidFill>
                  <a:srgbClr val="242424"/>
                </a:solidFill>
                <a:latin typeface="Lato"/>
                <a:ea typeface="Lato"/>
                <a:cs typeface="Lato"/>
              </a:rPr>
              <a:t>giữ</a:t>
            </a:r>
            <a:r>
              <a:rPr sz="1800" b="1" dirty="0">
                <a:solidFill>
                  <a:srgbClr val="242424"/>
                </a:solidFill>
                <a:latin typeface="Lato"/>
                <a:ea typeface="Lato"/>
                <a:cs typeface="Lato"/>
              </a:rPr>
              <a:t> </a:t>
            </a:r>
            <a:r>
              <a:rPr sz="1800" b="1" dirty="0" err="1">
                <a:solidFill>
                  <a:srgbClr val="242424"/>
                </a:solidFill>
                <a:latin typeface="Lato"/>
                <a:ea typeface="Lato"/>
                <a:cs typeface="Lato"/>
              </a:rPr>
              <a:t>vai</a:t>
            </a:r>
            <a:r>
              <a:rPr sz="1800" b="1" dirty="0">
                <a:solidFill>
                  <a:srgbClr val="242424"/>
                </a:solidFill>
                <a:latin typeface="Lato"/>
                <a:ea typeface="Lato"/>
                <a:cs typeface="Lato"/>
              </a:rPr>
              <a:t> </a:t>
            </a:r>
            <a:r>
              <a:rPr sz="1800" b="1" dirty="0" err="1">
                <a:solidFill>
                  <a:srgbClr val="242424"/>
                </a:solidFill>
                <a:latin typeface="Lato"/>
                <a:ea typeface="Lato"/>
                <a:cs typeface="Lato"/>
              </a:rPr>
              <a:t>trò</a:t>
            </a:r>
            <a:r>
              <a:rPr sz="1800" b="1" dirty="0">
                <a:solidFill>
                  <a:srgbClr val="242424"/>
                </a:solidFill>
                <a:latin typeface="Lato"/>
                <a:ea typeface="Lato"/>
                <a:cs typeface="Lato"/>
              </a:rPr>
              <a:t> </a:t>
            </a:r>
            <a:r>
              <a:rPr sz="1800" b="1" dirty="0" err="1">
                <a:solidFill>
                  <a:srgbClr val="242424"/>
                </a:solidFill>
                <a:latin typeface="Lato"/>
                <a:ea typeface="Lato"/>
                <a:cs typeface="Lato"/>
              </a:rPr>
              <a:t>kiểm</a:t>
            </a:r>
            <a:r>
              <a:rPr sz="1800" b="1" dirty="0">
                <a:solidFill>
                  <a:srgbClr val="242424"/>
                </a:solidFill>
                <a:latin typeface="Lato"/>
                <a:ea typeface="Lato"/>
                <a:cs typeface="Lato"/>
              </a:rPr>
              <a:t> </a:t>
            </a:r>
            <a:r>
              <a:rPr sz="1800" b="1" dirty="0" err="1">
                <a:solidFill>
                  <a:srgbClr val="242424"/>
                </a:solidFill>
                <a:latin typeface="Lato"/>
                <a:ea typeface="Lato"/>
                <a:cs typeface="Lato"/>
              </a:rPr>
              <a:t>chứng</a:t>
            </a:r>
            <a:endParaRPr sz="1800" b="1" dirty="0">
              <a:solidFill>
                <a:srgbClr val="242424"/>
              </a:solidFill>
              <a:latin typeface="Lato"/>
              <a:ea typeface="Lato"/>
              <a:cs typeface="Lato"/>
            </a:endParaRPr>
          </a:p>
        </p:txBody>
      </p:sp>
      <p:sp>
        <p:nvSpPr>
          <p:cNvPr id="10" name="body-Nguyên tắc">
            <a:extLst>
              <a:ext uri="{FF2B5EF4-FFF2-40B4-BE49-F238E27FC236}">
                <a16:creationId xmlns:a16="http://schemas.microsoft.com/office/drawing/2014/main" id="{19CDADB6-6F97-44A8-B4BB-D135DAB34AFF}"/>
              </a:ext>
            </a:extLst>
          </p:cNvPr>
          <p:cNvSpPr>
            <a:spLocks noGrp="1"/>
          </p:cNvSpPr>
          <p:nvPr/>
        </p:nvSpPr>
        <p:spPr>
          <a:xfrm>
            <a:off x="4953000" y="2667000"/>
            <a:ext cx="3333750" cy="5143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FLAN-T5 tạo phần diễn giải tự nhiên từ thống kê. Checker không viết thay model mà chỉ đối chiếu claim với dữ liệu gốc.</a:t>
            </a:r>
          </a:p>
        </p:txBody>
      </p:sp>
      <p:sp>
        <p:nvSpPr>
          <p:cNvPr id="11" name="card-Đầu ra">
            <a:extLst>
              <a:ext uri="{FF2B5EF4-FFF2-40B4-BE49-F238E27FC236}">
                <a16:creationId xmlns:a16="http://schemas.microsoft.com/office/drawing/2014/main" id="{0AB4DF1C-C50A-43BF-858A-1ACF4C710498}"/>
              </a:ext>
            </a:extLst>
          </p:cNvPr>
          <p:cNvSpPr>
            <a:spLocks noGrp="1"/>
          </p:cNvSpPr>
          <p:nvPr/>
        </p:nvSpPr>
        <p:spPr>
          <a:xfrm>
            <a:off x="4762500" y="3581400"/>
            <a:ext cx="3714750" cy="1866900"/>
          </a:xfrm>
          <a:prstGeom prst="roundRect">
            <a:avLst>
              <a:gd name="adj" fmla="val 7143"/>
            </a:avLst>
          </a:prstGeom>
          <a:noFill/>
          <a:ln w="11430">
            <a:solidFill>
              <a:srgbClr val="E2D6D6"/>
            </a:solidFill>
            <a:prstDash val="solid"/>
          </a:ln>
        </p:spPr>
        <p:txBody>
          <a:bodyPr/>
          <a:lstStyle/>
          <a:p>
            <a:endParaRPr lang="en-VN"/>
          </a:p>
        </p:txBody>
      </p:sp>
      <p:sp>
        <p:nvSpPr>
          <p:cNvPr id="12" name="eyebrow-Đầu ra">
            <a:extLst>
              <a:ext uri="{FF2B5EF4-FFF2-40B4-BE49-F238E27FC236}">
                <a16:creationId xmlns:a16="http://schemas.microsoft.com/office/drawing/2014/main" id="{E4CB1B2E-9E06-4285-9250-E2497270481F}"/>
              </a:ext>
            </a:extLst>
          </p:cNvPr>
          <p:cNvSpPr>
            <a:spLocks noGrp="1"/>
          </p:cNvSpPr>
          <p:nvPr/>
        </p:nvSpPr>
        <p:spPr>
          <a:xfrm>
            <a:off x="4953000" y="3733800"/>
            <a:ext cx="333375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ĐẦU RA</a:t>
            </a:r>
          </a:p>
        </p:txBody>
      </p:sp>
      <p:sp>
        <p:nvSpPr>
          <p:cNvPr id="13" name="headline-Đầu ra">
            <a:extLst>
              <a:ext uri="{FF2B5EF4-FFF2-40B4-BE49-F238E27FC236}">
                <a16:creationId xmlns:a16="http://schemas.microsoft.com/office/drawing/2014/main" id="{47CC02EB-DFDD-40F9-B1C7-294B93A7E61D}"/>
              </a:ext>
            </a:extLst>
          </p:cNvPr>
          <p:cNvSpPr>
            <a:spLocks noGrp="1"/>
          </p:cNvSpPr>
          <p:nvPr/>
        </p:nvSpPr>
        <p:spPr>
          <a:xfrm>
            <a:off x="4953000" y="4038600"/>
            <a:ext cx="333375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Báo cáo dễ đọc + trạng thái chấp nhận</a:t>
            </a:r>
          </a:p>
        </p:txBody>
      </p:sp>
      <p:sp>
        <p:nvSpPr>
          <p:cNvPr id="14" name="body-Đầu ra">
            <a:extLst>
              <a:ext uri="{FF2B5EF4-FFF2-40B4-BE49-F238E27FC236}">
                <a16:creationId xmlns:a16="http://schemas.microsoft.com/office/drawing/2014/main" id="{840FD0EC-14D0-4FD7-B877-878F92CA9C8B}"/>
              </a:ext>
            </a:extLst>
          </p:cNvPr>
          <p:cNvSpPr>
            <a:spLocks noGrp="1"/>
          </p:cNvSpPr>
          <p:nvPr/>
        </p:nvSpPr>
        <p:spPr>
          <a:xfrm>
            <a:off x="4953000" y="4762500"/>
            <a:ext cx="3333750" cy="5143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Hai tín hiệu tách biệt: factuality của số liệu đã nêu và coverage của các aspect được chọn.</a:t>
            </a:r>
          </a:p>
        </p:txBody>
      </p:sp>
    </p:spTree>
    <p:extLst>
      <p:ext uri="{BB962C8B-B14F-4D97-AF65-F5344CB8AC3E}">
        <p14:creationId xmlns:p14="http://schemas.microsoft.com/office/powerpoint/2010/main" val="640846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EE5B3003-2C54-13C6-9832-7637201064DE}" type="slidenum">
              <a:rPr/>
              <a:t>6</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t>3. Vai trò của T5 và FLAN-T5</a:t>
            </a:r>
          </a:p>
        </p:txBody>
      </p:sp>
      <p:sp>
        <p:nvSpPr>
          <p:cNvPr id="6" name="card-T5-base • ASTE">
            <a:extLst>
              <a:ext uri="{FF2B5EF4-FFF2-40B4-BE49-F238E27FC236}">
                <a16:creationId xmlns:a16="http://schemas.microsoft.com/office/drawing/2014/main" id="{69951E4E-9A82-4D8E-9A2C-F4D10009D8F8}"/>
              </a:ext>
            </a:extLst>
          </p:cNvPr>
          <p:cNvSpPr>
            <a:spLocks noGrp="1"/>
          </p:cNvSpPr>
          <p:nvPr/>
        </p:nvSpPr>
        <p:spPr>
          <a:xfrm>
            <a:off x="5334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7" name="eyebrow-T5-base • ASTE">
            <a:extLst>
              <a:ext uri="{FF2B5EF4-FFF2-40B4-BE49-F238E27FC236}">
                <a16:creationId xmlns:a16="http://schemas.microsoft.com/office/drawing/2014/main" id="{401AEA54-8397-44D2-BF6D-734D52E1D3D3}"/>
              </a:ext>
            </a:extLst>
          </p:cNvPr>
          <p:cNvSpPr>
            <a:spLocks noGrp="1"/>
          </p:cNvSpPr>
          <p:nvPr/>
        </p:nvSpPr>
        <p:spPr>
          <a:xfrm>
            <a:off x="723900" y="1581150"/>
            <a:ext cx="350520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T5-BASE • ASTE</a:t>
            </a:r>
          </a:p>
        </p:txBody>
      </p:sp>
      <p:sp>
        <p:nvSpPr>
          <p:cNvPr id="8" name="headline-T5-base • ASTE">
            <a:extLst>
              <a:ext uri="{FF2B5EF4-FFF2-40B4-BE49-F238E27FC236}">
                <a16:creationId xmlns:a16="http://schemas.microsoft.com/office/drawing/2014/main" id="{7E6123FF-6F45-49B7-9424-D7A63D8761ED}"/>
              </a:ext>
            </a:extLst>
          </p:cNvPr>
          <p:cNvSpPr>
            <a:spLocks noGrp="1"/>
          </p:cNvSpPr>
          <p:nvPr/>
        </p:nvSpPr>
        <p:spPr>
          <a:xfrm>
            <a:off x="7239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Review thô → triplet có cấu trúc</a:t>
            </a:r>
          </a:p>
        </p:txBody>
      </p:sp>
      <p:sp>
        <p:nvSpPr>
          <p:cNvPr id="9" name="body-T5-base • ASTE">
            <a:extLst>
              <a:ext uri="{FF2B5EF4-FFF2-40B4-BE49-F238E27FC236}">
                <a16:creationId xmlns:a16="http://schemas.microsoft.com/office/drawing/2014/main" id="{BCFCD0C5-E6B7-406A-B418-D671C33161BF}"/>
              </a:ext>
            </a:extLst>
          </p:cNvPr>
          <p:cNvSpPr>
            <a:spLocks noGrp="1"/>
          </p:cNvSpPr>
          <p:nvPr/>
        </p:nvSpPr>
        <p:spPr>
          <a:xfrm>
            <a:off x="723900" y="2609850"/>
            <a:ext cx="3505200" cy="2981325"/>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T5 quy mọi tác vụ về text-to-text. Sau khi fine-tune chuyên biệt trên ASTE, mô hình học đồng thời aspect, opinion và sentiment trong một chuỗi đầu ra có định dạng chặt.</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Ưu tiên: độ chính xác, khả năng parse và tính ổn định.</a:t>
            </a:r>
          </a:p>
        </p:txBody>
      </p:sp>
      <p:sp>
        <p:nvSpPr>
          <p:cNvPr id="10" name="card-FLAN-T5 • Báo cáo">
            <a:extLst>
              <a:ext uri="{FF2B5EF4-FFF2-40B4-BE49-F238E27FC236}">
                <a16:creationId xmlns:a16="http://schemas.microsoft.com/office/drawing/2014/main" id="{386A7277-1906-469F-8837-DE7CD67B489E}"/>
              </a:ext>
            </a:extLst>
          </p:cNvPr>
          <p:cNvSpPr>
            <a:spLocks noGrp="1"/>
          </p:cNvSpPr>
          <p:nvPr/>
        </p:nvSpPr>
        <p:spPr>
          <a:xfrm>
            <a:off x="45720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11" name="eyebrow-FLAN-T5 • Báo cáo">
            <a:extLst>
              <a:ext uri="{FF2B5EF4-FFF2-40B4-BE49-F238E27FC236}">
                <a16:creationId xmlns:a16="http://schemas.microsoft.com/office/drawing/2014/main" id="{16D96DF1-9F30-4B7F-9713-B033EC47DFF9}"/>
              </a:ext>
            </a:extLst>
          </p:cNvPr>
          <p:cNvSpPr>
            <a:spLocks noGrp="1"/>
          </p:cNvSpPr>
          <p:nvPr/>
        </p:nvSpPr>
        <p:spPr>
          <a:xfrm>
            <a:off x="4762500" y="1581150"/>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FLAN-T5 • BÁO CÁO</a:t>
            </a:r>
          </a:p>
        </p:txBody>
      </p:sp>
      <p:sp>
        <p:nvSpPr>
          <p:cNvPr id="12" name="headline-FLAN-T5 • Báo cáo">
            <a:extLst>
              <a:ext uri="{FF2B5EF4-FFF2-40B4-BE49-F238E27FC236}">
                <a16:creationId xmlns:a16="http://schemas.microsoft.com/office/drawing/2014/main" id="{AC47115E-3849-4D0B-B656-6F42C0B25A9A}"/>
              </a:ext>
            </a:extLst>
          </p:cNvPr>
          <p:cNvSpPr>
            <a:spLocks noGrp="1"/>
          </p:cNvSpPr>
          <p:nvPr/>
        </p:nvSpPr>
        <p:spPr>
          <a:xfrm>
            <a:off x="47625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Thống kê → diễn giải tự nhiên</a:t>
            </a:r>
          </a:p>
        </p:txBody>
      </p:sp>
      <p:sp>
        <p:nvSpPr>
          <p:cNvPr id="13" name="body-FLAN-T5 • Báo cáo">
            <a:extLst>
              <a:ext uri="{FF2B5EF4-FFF2-40B4-BE49-F238E27FC236}">
                <a16:creationId xmlns:a16="http://schemas.microsoft.com/office/drawing/2014/main" id="{8FD43ADC-3270-4CDC-BE26-A2FA9E157FC4}"/>
              </a:ext>
            </a:extLst>
          </p:cNvPr>
          <p:cNvSpPr>
            <a:spLocks noGrp="1"/>
          </p:cNvSpPr>
          <p:nvPr/>
        </p:nvSpPr>
        <p:spPr>
          <a:xfrm>
            <a:off x="4762500" y="2609850"/>
            <a:ext cx="3505200" cy="2981325"/>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Instruction tuning giúp FLAN-T5 làm theo yêu cầu data-to-text tốt hơn: sử dụng counts và top reasons để tạo đoạn phân tích, thay vì chỉ liệt kê số liệu.</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Ưu tiên: tổng hợp insight và chất lượng diễn đạt.</a:t>
            </a:r>
          </a:p>
        </p:txBody>
      </p:sp>
    </p:spTree>
    <p:extLst>
      <p:ext uri="{BB962C8B-B14F-4D97-AF65-F5344CB8AC3E}">
        <p14:creationId xmlns:p14="http://schemas.microsoft.com/office/powerpoint/2010/main" val="11738525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BA5FD9F-F079-E7CB-275B-4B407F7320C6}"/>
              </a:ext>
            </a:extLst>
          </p:cNvPr>
          <p:cNvSpPr>
            <a:spLocks noGrp="1"/>
          </p:cNvSpPr>
          <p:nvPr>
            <p:ph type="sldNum" idx="12"/>
          </p:nvPr>
        </p:nvSpPr>
        <p:spPr>
          <a:xfrm>
            <a:off x="6867430" y="6491288"/>
            <a:ext cx="2057400" cy="361950"/>
          </a:xfrm>
        </p:spPr>
        <p:txBody>
          <a:bodyPr/>
          <a:lstStyle/>
          <a:p>
            <a:fld id="{EE5B3003-2C54-13C6-9832-7637201064DE}" type="slidenum">
              <a:rPr/>
              <a:t>7</a:t>
            </a:fld>
            <a:endParaRPr/>
          </a:p>
        </p:txBody>
      </p:sp>
      <p:sp>
        <p:nvSpPr>
          <p:cNvPr id="3" name="Title 2">
            <a:extLst>
              <a:ext uri="{FF2B5EF4-FFF2-40B4-BE49-F238E27FC236}">
                <a16:creationId xmlns:a16="http://schemas.microsoft.com/office/drawing/2014/main" id="{CE73DABA-0E07-DDEE-86EE-B4224D9C9822}"/>
              </a:ext>
            </a:extLst>
          </p:cNvPr>
          <p:cNvSpPr>
            <a:spLocks noGrp="1"/>
          </p:cNvSpPr>
          <p:nvPr>
            <p:ph type="title"/>
          </p:nvPr>
        </p:nvSpPr>
        <p:spPr/>
        <p:txBody>
          <a:bodyPr lIns="91440" tIns="45720" rIns="91440" bIns="45720" anchor="t"/>
          <a:lstStyle/>
          <a:p>
            <a:r>
              <a:rPr lang="en-US"/>
              <a:t>4. </a:t>
            </a:r>
            <a:r>
              <a:rPr lang="en-US" err="1"/>
              <a:t>Dữ</a:t>
            </a:r>
            <a:r>
              <a:rPr lang="en-US"/>
              <a:t> </a:t>
            </a:r>
            <a:r>
              <a:rPr lang="en-US" err="1"/>
              <a:t>liệu</a:t>
            </a:r>
            <a:r>
              <a:rPr lang="en-US"/>
              <a:t> </a:t>
            </a:r>
            <a:r>
              <a:rPr lang="en-US" err="1"/>
              <a:t>cho</a:t>
            </a:r>
            <a:r>
              <a:rPr lang="en-US"/>
              <a:t> </a:t>
            </a:r>
            <a:r>
              <a:rPr lang="en-US" err="1"/>
              <a:t>bài</a:t>
            </a:r>
            <a:r>
              <a:rPr lang="en-US"/>
              <a:t> </a:t>
            </a:r>
            <a:r>
              <a:rPr lang="en-US" err="1"/>
              <a:t>toán</a:t>
            </a:r>
            <a:r>
              <a:rPr lang="en-US"/>
              <a:t> ASTE</a:t>
            </a:r>
            <a:endParaRPr lang="en-US" b="0"/>
          </a:p>
          <a:p>
            <a:endParaRPr lang="vi-VN"/>
          </a:p>
        </p:txBody>
      </p:sp>
      <p:sp>
        <p:nvSpPr>
          <p:cNvPr id="4" name="metric-mẫu SemEval Restaurant">
            <a:extLst>
              <a:ext uri="{FF2B5EF4-FFF2-40B4-BE49-F238E27FC236}">
                <a16:creationId xmlns:a16="http://schemas.microsoft.com/office/drawing/2014/main" id="{A394C6D0-6D3A-46D8-B10C-969E17AA16E2}"/>
              </a:ext>
            </a:extLst>
          </p:cNvPr>
          <p:cNvSpPr>
            <a:spLocks noGrp="1"/>
          </p:cNvSpPr>
          <p:nvPr/>
        </p:nvSpPr>
        <p:spPr>
          <a:xfrm>
            <a:off x="523875" y="1381125"/>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5" name="metric-value-mẫu SemEval Restaurant">
            <a:extLst>
              <a:ext uri="{FF2B5EF4-FFF2-40B4-BE49-F238E27FC236}">
                <a16:creationId xmlns:a16="http://schemas.microsoft.com/office/drawing/2014/main" id="{639C6BB4-DCB9-4A85-9B7E-C55D3D331563}"/>
              </a:ext>
            </a:extLst>
          </p:cNvPr>
          <p:cNvSpPr>
            <a:spLocks noGrp="1"/>
          </p:cNvSpPr>
          <p:nvPr/>
        </p:nvSpPr>
        <p:spPr>
          <a:xfrm>
            <a:off x="619125" y="1495425"/>
            <a:ext cx="2143125" cy="495300"/>
          </a:xfrm>
          <a:prstGeom prst="rect">
            <a:avLst/>
          </a:prstGeom>
          <a:noFill/>
          <a:ln w="0">
            <a:noFill/>
            <a:prstDash val="solid"/>
          </a:ln>
        </p:spPr>
        <p:txBody>
          <a:bodyPr anchor="ctr"/>
          <a:lstStyle/>
          <a:p>
            <a:pPr algn="ctr">
              <a:defRPr sz="2700" b="1">
                <a:solidFill>
                  <a:srgbClr val="C00000"/>
                </a:solidFill>
                <a:latin typeface="Lato"/>
                <a:ea typeface="Lato"/>
                <a:cs typeface="Lato"/>
              </a:defRPr>
            </a:pPr>
            <a:r>
              <a:rPr sz="2700" b="1">
                <a:solidFill>
                  <a:srgbClr val="C00000"/>
                </a:solidFill>
                <a:latin typeface="Lato"/>
                <a:ea typeface="Lato"/>
                <a:cs typeface="Lato"/>
              </a:rPr>
              <a:t>4.550</a:t>
            </a:r>
          </a:p>
        </p:txBody>
      </p:sp>
      <p:sp>
        <p:nvSpPr>
          <p:cNvPr id="6" name="metric-label-mẫu SemEval Restaurant">
            <a:extLst>
              <a:ext uri="{FF2B5EF4-FFF2-40B4-BE49-F238E27FC236}">
                <a16:creationId xmlns:a16="http://schemas.microsoft.com/office/drawing/2014/main" id="{06F7B920-4564-497E-A3AA-91B62EEC45FD}"/>
              </a:ext>
            </a:extLst>
          </p:cNvPr>
          <p:cNvSpPr>
            <a:spLocks noGrp="1"/>
          </p:cNvSpPr>
          <p:nvPr/>
        </p:nvSpPr>
        <p:spPr>
          <a:xfrm>
            <a:off x="657225" y="2019300"/>
            <a:ext cx="206692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mẫu SemEval Restaurant</a:t>
            </a:r>
          </a:p>
        </p:txBody>
      </p:sp>
      <p:sp>
        <p:nvSpPr>
          <p:cNvPr id="7" name="metric-câu trong tập test">
            <a:extLst>
              <a:ext uri="{FF2B5EF4-FFF2-40B4-BE49-F238E27FC236}">
                <a16:creationId xmlns:a16="http://schemas.microsoft.com/office/drawing/2014/main" id="{1189A787-8B6F-4CEE-9A0D-E73239E3ED0B}"/>
              </a:ext>
            </a:extLst>
          </p:cNvPr>
          <p:cNvSpPr>
            <a:spLocks noGrp="1"/>
          </p:cNvSpPr>
          <p:nvPr/>
        </p:nvSpPr>
        <p:spPr>
          <a:xfrm>
            <a:off x="3400425" y="1381125"/>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8" name="metric-value-câu trong tập test">
            <a:extLst>
              <a:ext uri="{FF2B5EF4-FFF2-40B4-BE49-F238E27FC236}">
                <a16:creationId xmlns:a16="http://schemas.microsoft.com/office/drawing/2014/main" id="{F9A2AE10-F9DA-4024-A2D3-32E070EF1F9E}"/>
              </a:ext>
            </a:extLst>
          </p:cNvPr>
          <p:cNvSpPr>
            <a:spLocks noGrp="1"/>
          </p:cNvSpPr>
          <p:nvPr/>
        </p:nvSpPr>
        <p:spPr>
          <a:xfrm>
            <a:off x="3495675" y="1495425"/>
            <a:ext cx="2143125" cy="495300"/>
          </a:xfrm>
          <a:prstGeom prst="rect">
            <a:avLst/>
          </a:prstGeom>
          <a:noFill/>
          <a:ln w="0">
            <a:noFill/>
            <a:prstDash val="solid"/>
          </a:ln>
        </p:spPr>
        <p:txBody>
          <a:bodyPr anchor="ctr"/>
          <a:lstStyle/>
          <a:p>
            <a:pPr algn="ctr">
              <a:defRPr sz="2700" b="1">
                <a:solidFill>
                  <a:srgbClr val="E8A000"/>
                </a:solidFill>
                <a:latin typeface="Lato"/>
                <a:ea typeface="Lato"/>
                <a:cs typeface="Lato"/>
              </a:defRPr>
            </a:pPr>
            <a:r>
              <a:rPr sz="2700" b="1">
                <a:solidFill>
                  <a:srgbClr val="E8A000"/>
                </a:solidFill>
                <a:latin typeface="Lato"/>
                <a:ea typeface="Lato"/>
                <a:cs typeface="Lato"/>
              </a:rPr>
              <a:t>1.134</a:t>
            </a:r>
          </a:p>
        </p:txBody>
      </p:sp>
      <p:sp>
        <p:nvSpPr>
          <p:cNvPr id="9" name="metric-label-câu trong tập test">
            <a:extLst>
              <a:ext uri="{FF2B5EF4-FFF2-40B4-BE49-F238E27FC236}">
                <a16:creationId xmlns:a16="http://schemas.microsoft.com/office/drawing/2014/main" id="{CA877FD1-3BAB-4269-B6A4-403968BCE8F2}"/>
              </a:ext>
            </a:extLst>
          </p:cNvPr>
          <p:cNvSpPr>
            <a:spLocks noGrp="1"/>
          </p:cNvSpPr>
          <p:nvPr/>
        </p:nvSpPr>
        <p:spPr>
          <a:xfrm>
            <a:off x="3533775" y="2019300"/>
            <a:ext cx="206692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câu trong tập test</a:t>
            </a:r>
          </a:p>
        </p:txBody>
      </p:sp>
      <p:sp>
        <p:nvSpPr>
          <p:cNvPr id="10" name="metric-cấu hình được so sánh">
            <a:extLst>
              <a:ext uri="{FF2B5EF4-FFF2-40B4-BE49-F238E27FC236}">
                <a16:creationId xmlns:a16="http://schemas.microsoft.com/office/drawing/2014/main" id="{711BB8C5-C484-455E-AE95-696B6A71F1AD}"/>
              </a:ext>
            </a:extLst>
          </p:cNvPr>
          <p:cNvSpPr>
            <a:spLocks noGrp="1"/>
          </p:cNvSpPr>
          <p:nvPr/>
        </p:nvSpPr>
        <p:spPr>
          <a:xfrm>
            <a:off x="6276975" y="1381125"/>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11" name="metric-value-cấu hình được so sánh">
            <a:extLst>
              <a:ext uri="{FF2B5EF4-FFF2-40B4-BE49-F238E27FC236}">
                <a16:creationId xmlns:a16="http://schemas.microsoft.com/office/drawing/2014/main" id="{DB20BB3C-89B8-4DD0-AB6E-BEE8A0707555}"/>
              </a:ext>
            </a:extLst>
          </p:cNvPr>
          <p:cNvSpPr>
            <a:spLocks noGrp="1"/>
          </p:cNvSpPr>
          <p:nvPr/>
        </p:nvSpPr>
        <p:spPr>
          <a:xfrm>
            <a:off x="6372225" y="1495425"/>
            <a:ext cx="2143125" cy="495300"/>
          </a:xfrm>
          <a:prstGeom prst="rect">
            <a:avLst/>
          </a:prstGeom>
          <a:noFill/>
          <a:ln w="0">
            <a:noFill/>
            <a:prstDash val="solid"/>
          </a:ln>
        </p:spPr>
        <p:txBody>
          <a:bodyPr anchor="ctr"/>
          <a:lstStyle/>
          <a:p>
            <a:pPr algn="ctr">
              <a:defRPr sz="2700" b="1">
                <a:solidFill>
                  <a:srgbClr val="2455D6"/>
                </a:solidFill>
                <a:latin typeface="Lato"/>
                <a:ea typeface="Lato"/>
                <a:cs typeface="Lato"/>
              </a:defRPr>
            </a:pPr>
            <a:r>
              <a:rPr sz="2700" b="1">
                <a:solidFill>
                  <a:srgbClr val="2455D6"/>
                </a:solidFill>
                <a:latin typeface="Lato"/>
                <a:ea typeface="Lato"/>
                <a:cs typeface="Lato"/>
              </a:rPr>
              <a:t>5</a:t>
            </a:r>
          </a:p>
        </p:txBody>
      </p:sp>
      <p:sp>
        <p:nvSpPr>
          <p:cNvPr id="12" name="metric-label-cấu hình được so sánh">
            <a:extLst>
              <a:ext uri="{FF2B5EF4-FFF2-40B4-BE49-F238E27FC236}">
                <a16:creationId xmlns:a16="http://schemas.microsoft.com/office/drawing/2014/main" id="{DD9C221D-F082-40EA-8E73-03E59180E057}"/>
              </a:ext>
            </a:extLst>
          </p:cNvPr>
          <p:cNvSpPr>
            <a:spLocks noGrp="1"/>
          </p:cNvSpPr>
          <p:nvPr/>
        </p:nvSpPr>
        <p:spPr>
          <a:xfrm>
            <a:off x="6410325" y="2019300"/>
            <a:ext cx="2066925" cy="285750"/>
          </a:xfrm>
          <a:prstGeom prst="rect">
            <a:avLst/>
          </a:prstGeom>
          <a:noFill/>
          <a:ln w="0">
            <a:noFill/>
            <a:prstDash val="solid"/>
          </a:ln>
        </p:spPr>
        <p:txBody>
          <a:bodyPr lIns="91440" tIns="45720" rIns="91440" bIns="45720" anchor="ctr"/>
          <a:lstStyle/>
          <a:p>
            <a:pPr algn="ctr">
              <a:defRPr sz="1125">
                <a:solidFill>
                  <a:srgbClr val="666666"/>
                </a:solidFill>
                <a:latin typeface="Lato"/>
                <a:ea typeface="Lato"/>
                <a:cs typeface="Lato"/>
              </a:defRPr>
            </a:pPr>
            <a:r>
              <a:rPr lang="vi-VN" sz="1100">
                <a:solidFill>
                  <a:srgbClr val="666666"/>
                </a:solidFill>
                <a:latin typeface="Lato"/>
                <a:ea typeface="Lato"/>
                <a:cs typeface="Lato"/>
              </a:rPr>
              <a:t>models  </a:t>
            </a:r>
            <a:r>
              <a:rPr lang="vi-VN" sz="1100" err="1">
                <a:solidFill>
                  <a:srgbClr val="666666"/>
                </a:solidFill>
                <a:latin typeface="Lato"/>
                <a:ea typeface="Lato"/>
                <a:cs typeface="Lato"/>
              </a:rPr>
              <a:t>được</a:t>
            </a:r>
            <a:r>
              <a:rPr lang="vi-VN" sz="1100">
                <a:solidFill>
                  <a:srgbClr val="666666"/>
                </a:solidFill>
                <a:latin typeface="Lato"/>
                <a:ea typeface="Lato"/>
                <a:cs typeface="Lato"/>
              </a:rPr>
              <a:t> so </a:t>
            </a:r>
            <a:r>
              <a:rPr lang="vi-VN" sz="1100" err="1">
                <a:solidFill>
                  <a:srgbClr val="666666"/>
                </a:solidFill>
                <a:latin typeface="Lato"/>
                <a:ea typeface="Lato"/>
                <a:cs typeface="Lato"/>
              </a:rPr>
              <a:t>sánh</a:t>
            </a:r>
          </a:p>
        </p:txBody>
      </p:sp>
      <p:sp>
        <p:nvSpPr>
          <p:cNvPr id="13" name="card-Task">
            <a:extLst>
              <a:ext uri="{FF2B5EF4-FFF2-40B4-BE49-F238E27FC236}">
                <a16:creationId xmlns:a16="http://schemas.microsoft.com/office/drawing/2014/main" id="{EFF7A492-8A79-483E-A970-D9E6DE80EF1D}"/>
              </a:ext>
            </a:extLst>
          </p:cNvPr>
          <p:cNvSpPr>
            <a:spLocks noGrp="1"/>
          </p:cNvSpPr>
          <p:nvPr/>
        </p:nvSpPr>
        <p:spPr>
          <a:xfrm>
            <a:off x="523875" y="2762250"/>
            <a:ext cx="3857625" cy="2857500"/>
          </a:xfrm>
          <a:prstGeom prst="roundRect">
            <a:avLst>
              <a:gd name="adj" fmla="val 4667"/>
            </a:avLst>
          </a:prstGeom>
          <a:noFill/>
          <a:ln w="11430">
            <a:solidFill>
              <a:srgbClr val="E2D6D6"/>
            </a:solidFill>
            <a:prstDash val="solid"/>
          </a:ln>
        </p:spPr>
        <p:txBody>
          <a:bodyPr/>
          <a:lstStyle/>
          <a:p>
            <a:endParaRPr lang="en-VN"/>
          </a:p>
        </p:txBody>
      </p:sp>
      <p:sp>
        <p:nvSpPr>
          <p:cNvPr id="14" name="eyebrow-Task">
            <a:extLst>
              <a:ext uri="{FF2B5EF4-FFF2-40B4-BE49-F238E27FC236}">
                <a16:creationId xmlns:a16="http://schemas.microsoft.com/office/drawing/2014/main" id="{5F6C9222-E525-4E5A-846B-D5B8473B7159}"/>
              </a:ext>
            </a:extLst>
          </p:cNvPr>
          <p:cNvSpPr>
            <a:spLocks noGrp="1"/>
          </p:cNvSpPr>
          <p:nvPr/>
        </p:nvSpPr>
        <p:spPr>
          <a:xfrm>
            <a:off x="714375" y="2914650"/>
            <a:ext cx="347662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TASK</a:t>
            </a:r>
          </a:p>
        </p:txBody>
      </p:sp>
      <p:sp>
        <p:nvSpPr>
          <p:cNvPr id="15" name="headline-Task">
            <a:extLst>
              <a:ext uri="{FF2B5EF4-FFF2-40B4-BE49-F238E27FC236}">
                <a16:creationId xmlns:a16="http://schemas.microsoft.com/office/drawing/2014/main" id="{AEE7BB3D-4764-4E5A-B4A3-14540170EEDF}"/>
              </a:ext>
            </a:extLst>
          </p:cNvPr>
          <p:cNvSpPr>
            <a:spLocks noGrp="1"/>
          </p:cNvSpPr>
          <p:nvPr/>
        </p:nvSpPr>
        <p:spPr>
          <a:xfrm>
            <a:off x="714375" y="3219450"/>
            <a:ext cx="347662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Aspect Sentiment Triplet Extraction</a:t>
            </a:r>
          </a:p>
        </p:txBody>
      </p:sp>
      <p:sp>
        <p:nvSpPr>
          <p:cNvPr id="16" name="body-Task">
            <a:extLst>
              <a:ext uri="{FF2B5EF4-FFF2-40B4-BE49-F238E27FC236}">
                <a16:creationId xmlns:a16="http://schemas.microsoft.com/office/drawing/2014/main" id="{C52BFE22-4A9D-4381-8050-65B9A40A3A36}"/>
              </a:ext>
            </a:extLst>
          </p:cNvPr>
          <p:cNvSpPr>
            <a:spLocks noGrp="1"/>
          </p:cNvSpPr>
          <p:nvPr/>
        </p:nvSpPr>
        <p:spPr>
          <a:xfrm>
            <a:off x="714375" y="3943350"/>
            <a:ext cx="3476625" cy="15049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Đầu vào: review nhà hàng.</a:t>
            </a:r>
          </a:p>
          <a:p>
            <a:pPr>
              <a:defRPr sz="1275">
                <a:solidFill>
                  <a:srgbClr val="666666"/>
                </a:solidFill>
                <a:latin typeface="Lato"/>
                <a:ea typeface="Lato"/>
                <a:cs typeface="Lato"/>
              </a:defRPr>
            </a:pPr>
            <a:r>
              <a:rPr sz="1275">
                <a:solidFill>
                  <a:srgbClr val="666666"/>
                </a:solidFill>
                <a:latin typeface="Lato"/>
                <a:ea typeface="Lato"/>
                <a:cs typeface="Lato"/>
              </a:rPr>
              <a:t>Đầu ra: (aspect, opinion, sentiment).</a:t>
            </a:r>
          </a:p>
          <a:p>
            <a:pPr>
              <a:defRPr sz="1275">
                <a:solidFill>
                  <a:srgbClr val="666666"/>
                </a:solidFill>
                <a:latin typeface="Lato"/>
                <a:ea typeface="Lato"/>
                <a:cs typeface="Lato"/>
              </a:defRPr>
            </a:pPr>
            <a:r>
              <a:rPr sz="1275">
                <a:solidFill>
                  <a:srgbClr val="666666"/>
                </a:solidFill>
                <a:latin typeface="Lato"/>
                <a:ea typeface="Lato"/>
                <a:cs typeface="Lato"/>
              </a:rPr>
              <a:t>Dữ liệu gộp từ 14res, 15res và 16res.</a:t>
            </a:r>
          </a:p>
        </p:txBody>
      </p:sp>
      <p:sp>
        <p:nvSpPr>
          <p:cNvPr id="17" name="card-Mô hình">
            <a:extLst>
              <a:ext uri="{FF2B5EF4-FFF2-40B4-BE49-F238E27FC236}">
                <a16:creationId xmlns:a16="http://schemas.microsoft.com/office/drawing/2014/main" id="{D5FD482A-E3B9-4306-B457-05CAFEEBE1EE}"/>
              </a:ext>
            </a:extLst>
          </p:cNvPr>
          <p:cNvSpPr>
            <a:spLocks noGrp="1"/>
          </p:cNvSpPr>
          <p:nvPr/>
        </p:nvSpPr>
        <p:spPr>
          <a:xfrm>
            <a:off x="4762500" y="2762250"/>
            <a:ext cx="3857625" cy="2857500"/>
          </a:xfrm>
          <a:prstGeom prst="roundRect">
            <a:avLst>
              <a:gd name="adj" fmla="val 4667"/>
            </a:avLst>
          </a:prstGeom>
          <a:noFill/>
          <a:ln w="11430">
            <a:solidFill>
              <a:srgbClr val="E2D6D6"/>
            </a:solidFill>
            <a:prstDash val="solid"/>
          </a:ln>
        </p:spPr>
        <p:txBody>
          <a:bodyPr/>
          <a:lstStyle/>
          <a:p>
            <a:endParaRPr lang="en-VN"/>
          </a:p>
        </p:txBody>
      </p:sp>
      <p:sp>
        <p:nvSpPr>
          <p:cNvPr id="18" name="eyebrow-Mô hình">
            <a:extLst>
              <a:ext uri="{FF2B5EF4-FFF2-40B4-BE49-F238E27FC236}">
                <a16:creationId xmlns:a16="http://schemas.microsoft.com/office/drawing/2014/main" id="{86BEC997-6147-4BC3-8BD7-2B37B43F7FE6}"/>
              </a:ext>
            </a:extLst>
          </p:cNvPr>
          <p:cNvSpPr>
            <a:spLocks noGrp="1"/>
          </p:cNvSpPr>
          <p:nvPr/>
        </p:nvSpPr>
        <p:spPr>
          <a:xfrm>
            <a:off x="4953000" y="2914650"/>
            <a:ext cx="3476625"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MÔ HÌNH</a:t>
            </a:r>
          </a:p>
        </p:txBody>
      </p:sp>
      <p:sp>
        <p:nvSpPr>
          <p:cNvPr id="19" name="headline-Mô hình">
            <a:extLst>
              <a:ext uri="{FF2B5EF4-FFF2-40B4-BE49-F238E27FC236}">
                <a16:creationId xmlns:a16="http://schemas.microsoft.com/office/drawing/2014/main" id="{F8795EA4-1491-4BA8-9FC2-4597DE38A005}"/>
              </a:ext>
            </a:extLst>
          </p:cNvPr>
          <p:cNvSpPr>
            <a:spLocks noGrp="1"/>
          </p:cNvSpPr>
          <p:nvPr/>
        </p:nvSpPr>
        <p:spPr>
          <a:xfrm>
            <a:off x="4953000" y="3219450"/>
            <a:ext cx="347662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Baseline → T5-small → T5-base → FLAN-T5-base</a:t>
            </a:r>
          </a:p>
        </p:txBody>
      </p:sp>
      <p:sp>
        <p:nvSpPr>
          <p:cNvPr id="20" name="body-Mô hình">
            <a:extLst>
              <a:ext uri="{FF2B5EF4-FFF2-40B4-BE49-F238E27FC236}">
                <a16:creationId xmlns:a16="http://schemas.microsoft.com/office/drawing/2014/main" id="{2A99B9BA-4CFF-47FC-87AF-16B636A06E6D}"/>
              </a:ext>
            </a:extLst>
          </p:cNvPr>
          <p:cNvSpPr>
            <a:spLocks noGrp="1"/>
          </p:cNvSpPr>
          <p:nvPr/>
        </p:nvSpPr>
        <p:spPr>
          <a:xfrm>
            <a:off x="4953000" y="3943350"/>
            <a:ext cx="3476625" cy="15049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Baseline tra cứu tạo mốc tối thiểu. Các mô hình sinh chuỗi được fine-tune cùng định dạng triplet để so sánh trực tiếp.</a:t>
            </a:r>
          </a:p>
        </p:txBody>
      </p:sp>
    </p:spTree>
    <p:extLst>
      <p:ext uri="{BB962C8B-B14F-4D97-AF65-F5344CB8AC3E}">
        <p14:creationId xmlns:p14="http://schemas.microsoft.com/office/powerpoint/2010/main" val="644728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D3D7D1C8-AE23-AA48-DF65-C742588DBE47}" type="slidenum">
              <a:rPr/>
              <a:t>8</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t>5. Fine-tune &amp; đánh giá ASTE</a:t>
            </a:r>
          </a:p>
        </p:txBody>
      </p:sp>
      <p:sp>
        <p:nvSpPr>
          <p:cNvPr id="6" name="card-Biểu diễn text-to-text">
            <a:extLst>
              <a:ext uri="{FF2B5EF4-FFF2-40B4-BE49-F238E27FC236}">
                <a16:creationId xmlns:a16="http://schemas.microsoft.com/office/drawing/2014/main" id="{FF4C4D5C-1B6B-493A-B98E-6F40CA193692}"/>
              </a:ext>
            </a:extLst>
          </p:cNvPr>
          <p:cNvSpPr>
            <a:spLocks noGrp="1"/>
          </p:cNvSpPr>
          <p:nvPr/>
        </p:nvSpPr>
        <p:spPr>
          <a:xfrm>
            <a:off x="5334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7" name="eyebrow-Biểu diễn text-to-text">
            <a:extLst>
              <a:ext uri="{FF2B5EF4-FFF2-40B4-BE49-F238E27FC236}">
                <a16:creationId xmlns:a16="http://schemas.microsoft.com/office/drawing/2014/main" id="{968EA6AD-A3DF-46A7-9D6D-71086E9AE8B7}"/>
              </a:ext>
            </a:extLst>
          </p:cNvPr>
          <p:cNvSpPr>
            <a:spLocks noGrp="1"/>
          </p:cNvSpPr>
          <p:nvPr/>
        </p:nvSpPr>
        <p:spPr>
          <a:xfrm>
            <a:off x="723900" y="1581150"/>
            <a:ext cx="350520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BIỂU DIỄN TEXT-TO-TEXT</a:t>
            </a:r>
          </a:p>
        </p:txBody>
      </p:sp>
      <p:sp>
        <p:nvSpPr>
          <p:cNvPr id="8" name="headline-Biểu diễn text-to-text">
            <a:extLst>
              <a:ext uri="{FF2B5EF4-FFF2-40B4-BE49-F238E27FC236}">
                <a16:creationId xmlns:a16="http://schemas.microsoft.com/office/drawing/2014/main" id="{818DC804-BF84-4DA2-A1BE-0C7DF93CB63A}"/>
              </a:ext>
            </a:extLst>
          </p:cNvPr>
          <p:cNvSpPr>
            <a:spLocks noGrp="1"/>
          </p:cNvSpPr>
          <p:nvPr/>
        </p:nvSpPr>
        <p:spPr>
          <a:xfrm>
            <a:off x="7239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Prefix + review → target có cấu trúc</a:t>
            </a:r>
          </a:p>
        </p:txBody>
      </p:sp>
      <p:sp>
        <p:nvSpPr>
          <p:cNvPr id="9" name="body-Biểu diễn text-to-text">
            <a:extLst>
              <a:ext uri="{FF2B5EF4-FFF2-40B4-BE49-F238E27FC236}">
                <a16:creationId xmlns:a16="http://schemas.microsoft.com/office/drawing/2014/main" id="{A53AE666-B233-4CE9-BD0B-2E9710E2D04A}"/>
              </a:ext>
            </a:extLst>
          </p:cNvPr>
          <p:cNvSpPr>
            <a:spLocks noGrp="1"/>
          </p:cNvSpPr>
          <p:nvPr/>
        </p:nvSpPr>
        <p:spPr>
          <a:xfrm>
            <a:off x="723900" y="2609850"/>
            <a:ext cx="3505200" cy="2981325"/>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r>
              <a:rPr sz="1275">
                <a:solidFill>
                  <a:srgbClr val="666666"/>
                </a:solidFill>
                <a:latin typeface="Lato"/>
                <a:ea typeface="Lato"/>
                <a:cs typeface="Lato"/>
              </a:rPr>
              <a:t>INPUT</a:t>
            </a:r>
          </a:p>
          <a:p>
            <a:pPr>
              <a:defRPr sz="1275">
                <a:solidFill>
                  <a:srgbClr val="666666"/>
                </a:solidFill>
                <a:latin typeface="Lato"/>
                <a:ea typeface="Lato"/>
                <a:cs typeface="Lato"/>
              </a:defRPr>
            </a:pPr>
            <a:r>
              <a:rPr sz="1275">
                <a:solidFill>
                  <a:srgbClr val="666666"/>
                </a:solidFill>
                <a:latin typeface="Lato"/>
                <a:ea typeface="Lato"/>
                <a:cs typeface="Lato"/>
              </a:rPr>
              <a:t>extract aspect sentiment triplets:</a:t>
            </a:r>
          </a:p>
          <a:p>
            <a:pPr>
              <a:defRPr sz="1275">
                <a:solidFill>
                  <a:srgbClr val="666666"/>
                </a:solidFill>
                <a:latin typeface="Lato"/>
                <a:ea typeface="Lato"/>
                <a:cs typeface="Lato"/>
              </a:defRPr>
            </a:pPr>
            <a:r>
              <a:rPr lang="vi-VN" sz="1250">
                <a:solidFill>
                  <a:srgbClr val="666666"/>
                </a:solidFill>
                <a:latin typeface="Lato"/>
                <a:ea typeface="Lato"/>
                <a:cs typeface="Lato"/>
              </a:rPr>
              <a:t>The pizza was delicious but the service was slow.</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TARGET</a:t>
            </a:r>
          </a:p>
          <a:p>
            <a:pPr>
              <a:defRPr sz="1275">
                <a:solidFill>
                  <a:srgbClr val="666666"/>
                </a:solidFill>
                <a:latin typeface="Lato"/>
                <a:ea typeface="Lato"/>
                <a:cs typeface="Lato"/>
              </a:defRPr>
            </a:pPr>
            <a:r>
              <a:rPr lang="vi-VN" sz="1250">
                <a:solidFill>
                  <a:srgbClr val="666666"/>
                </a:solidFill>
                <a:latin typeface="Lato"/>
                <a:ea typeface="Lato"/>
                <a:cs typeface="Lato"/>
              </a:rPr>
              <a:t>aspect: pizza | opinion: delicious | sentiment: positive ; </a:t>
            </a:r>
          </a:p>
          <a:p>
            <a:pPr>
              <a:defRPr sz="1275">
                <a:solidFill>
                  <a:srgbClr val="666666"/>
                </a:solidFill>
                <a:latin typeface="Lato"/>
                <a:ea typeface="Lato"/>
                <a:cs typeface="Lato"/>
              </a:defRPr>
            </a:pPr>
            <a:r>
              <a:rPr lang="vi-VN" sz="1250">
                <a:solidFill>
                  <a:srgbClr val="666666"/>
                </a:solidFill>
                <a:latin typeface="Lato"/>
                <a:ea typeface="Lato"/>
                <a:cs typeface="Lato"/>
              </a:rPr>
              <a:t>aspect: service | opinion: slow | sentiment: negative</a:t>
            </a:r>
            <a:endParaRPr lang="vi-VN" sz="1250"/>
          </a:p>
        </p:txBody>
      </p:sp>
      <p:sp>
        <p:nvSpPr>
          <p:cNvPr id="10" name="card-Đánh giá nghiêm ngặt">
            <a:extLst>
              <a:ext uri="{FF2B5EF4-FFF2-40B4-BE49-F238E27FC236}">
                <a16:creationId xmlns:a16="http://schemas.microsoft.com/office/drawing/2014/main" id="{31829E2E-7BC5-4D2F-9F81-7534768AD531}"/>
              </a:ext>
            </a:extLst>
          </p:cNvPr>
          <p:cNvSpPr>
            <a:spLocks noGrp="1"/>
          </p:cNvSpPr>
          <p:nvPr/>
        </p:nvSpPr>
        <p:spPr>
          <a:xfrm>
            <a:off x="45720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11" name="eyebrow-Đánh giá nghiêm ngặt">
            <a:extLst>
              <a:ext uri="{FF2B5EF4-FFF2-40B4-BE49-F238E27FC236}">
                <a16:creationId xmlns:a16="http://schemas.microsoft.com/office/drawing/2014/main" id="{D7C522AB-2E72-4861-8B44-9D4AA18EA1B1}"/>
              </a:ext>
            </a:extLst>
          </p:cNvPr>
          <p:cNvSpPr>
            <a:spLocks noGrp="1"/>
          </p:cNvSpPr>
          <p:nvPr/>
        </p:nvSpPr>
        <p:spPr>
          <a:xfrm>
            <a:off x="4762500" y="1581150"/>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ĐÁNH GIÁ NGHIÊM NGẶT</a:t>
            </a:r>
          </a:p>
        </p:txBody>
      </p:sp>
      <p:sp>
        <p:nvSpPr>
          <p:cNvPr id="12" name="headline-Đánh giá nghiêm ngặt">
            <a:extLst>
              <a:ext uri="{FF2B5EF4-FFF2-40B4-BE49-F238E27FC236}">
                <a16:creationId xmlns:a16="http://schemas.microsoft.com/office/drawing/2014/main" id="{568DC933-FB81-483A-8415-2B2543E68751}"/>
              </a:ext>
            </a:extLst>
          </p:cNvPr>
          <p:cNvSpPr>
            <a:spLocks noGrp="1"/>
          </p:cNvSpPr>
          <p:nvPr/>
        </p:nvSpPr>
        <p:spPr>
          <a:xfrm>
            <a:off x="47625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Cả ba trường phải khớp</a:t>
            </a:r>
          </a:p>
        </p:txBody>
      </p:sp>
      <p:sp>
        <p:nvSpPr>
          <p:cNvPr id="13" name="body-Đánh giá nghiêm ngặt">
            <a:extLst>
              <a:ext uri="{FF2B5EF4-FFF2-40B4-BE49-F238E27FC236}">
                <a16:creationId xmlns:a16="http://schemas.microsoft.com/office/drawing/2014/main" id="{5C055C37-EF64-4538-9E1C-BF041EDD230C}"/>
              </a:ext>
            </a:extLst>
          </p:cNvPr>
          <p:cNvSpPr>
            <a:spLocks noGrp="1"/>
          </p:cNvSpPr>
          <p:nvPr/>
        </p:nvSpPr>
        <p:spPr>
          <a:xfrm>
            <a:off x="4762500" y="2609850"/>
            <a:ext cx="3505200" cy="2981325"/>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r>
              <a:rPr lang="vi-VN" sz="1250" err="1">
                <a:solidFill>
                  <a:srgbClr val="666666"/>
                </a:solidFill>
                <a:latin typeface="Lato"/>
                <a:ea typeface="Lato"/>
                <a:cs typeface="Lato"/>
              </a:rPr>
              <a:t>Chuỗi</a:t>
            </a:r>
            <a:r>
              <a:rPr lang="vi-VN" sz="1250">
                <a:solidFill>
                  <a:srgbClr val="666666"/>
                </a:solidFill>
                <a:latin typeface="Lato"/>
                <a:ea typeface="Lato"/>
                <a:cs typeface="Lato"/>
              </a:rPr>
              <a:t> </a:t>
            </a:r>
            <a:r>
              <a:rPr lang="vi-VN" sz="1250" err="1">
                <a:solidFill>
                  <a:srgbClr val="666666"/>
                </a:solidFill>
                <a:latin typeface="Lato"/>
                <a:ea typeface="Lato"/>
                <a:cs typeface="Lato"/>
              </a:rPr>
              <a:t>sinh</a:t>
            </a:r>
            <a:r>
              <a:rPr lang="vi-VN" sz="1250">
                <a:solidFill>
                  <a:srgbClr val="666666"/>
                </a:solidFill>
                <a:latin typeface="Lato"/>
                <a:ea typeface="Lato"/>
                <a:cs typeface="Lato"/>
              </a:rPr>
              <a:t> </a:t>
            </a:r>
            <a:r>
              <a:rPr lang="vi-VN" sz="1250" err="1">
                <a:solidFill>
                  <a:srgbClr val="666666"/>
                </a:solidFill>
                <a:latin typeface="Lato"/>
                <a:ea typeface="Lato"/>
                <a:cs typeface="Lato"/>
              </a:rPr>
              <a:t>ra</a:t>
            </a:r>
            <a:r>
              <a:rPr lang="vi-VN" sz="1250">
                <a:solidFill>
                  <a:srgbClr val="666666"/>
                </a:solidFill>
                <a:latin typeface="Lato"/>
                <a:ea typeface="Lato"/>
                <a:cs typeface="Lato"/>
              </a:rPr>
              <a:t> </a:t>
            </a:r>
            <a:r>
              <a:rPr lang="vi-VN" sz="1250" err="1">
                <a:solidFill>
                  <a:srgbClr val="666666"/>
                </a:solidFill>
                <a:latin typeface="Lato"/>
                <a:ea typeface="Lato"/>
                <a:cs typeface="Lato"/>
              </a:rPr>
              <a:t>được</a:t>
            </a:r>
            <a:r>
              <a:rPr lang="vi-VN" sz="1250">
                <a:solidFill>
                  <a:srgbClr val="666666"/>
                </a:solidFill>
                <a:latin typeface="Lato"/>
                <a:ea typeface="Lato"/>
                <a:cs typeface="Lato"/>
              </a:rPr>
              <a:t> parse </a:t>
            </a:r>
            <a:r>
              <a:rPr lang="vi-VN" sz="1250" err="1">
                <a:solidFill>
                  <a:srgbClr val="666666"/>
                </a:solidFill>
                <a:latin typeface="Lato"/>
                <a:ea typeface="Lato"/>
                <a:cs typeface="Lato"/>
              </a:rPr>
              <a:t>bằng</a:t>
            </a:r>
            <a:r>
              <a:rPr lang="vi-VN" sz="1250">
                <a:solidFill>
                  <a:srgbClr val="666666"/>
                </a:solidFill>
                <a:latin typeface="Lato"/>
                <a:ea typeface="Lato"/>
                <a:cs typeface="Lato"/>
              </a:rPr>
              <a:t> regex </a:t>
            </a:r>
            <a:r>
              <a:rPr lang="vi-VN" sz="1250" err="1">
                <a:solidFill>
                  <a:srgbClr val="666666"/>
                </a:solidFill>
                <a:latin typeface="Lato"/>
                <a:ea typeface="Lato"/>
                <a:cs typeface="Lato"/>
              </a:rPr>
              <a:t>và</a:t>
            </a:r>
            <a:r>
              <a:rPr lang="vi-VN" sz="1250">
                <a:solidFill>
                  <a:srgbClr val="666666"/>
                </a:solidFill>
                <a:latin typeface="Lato"/>
                <a:ea typeface="Lato"/>
                <a:cs typeface="Lato"/>
              </a:rPr>
              <a:t> </a:t>
            </a:r>
            <a:r>
              <a:rPr lang="vi-VN" sz="1250" err="1">
                <a:solidFill>
                  <a:srgbClr val="666666"/>
                </a:solidFill>
                <a:latin typeface="Lato"/>
                <a:ea typeface="Lato"/>
                <a:cs typeface="Lato"/>
              </a:rPr>
              <a:t>chuẩn</a:t>
            </a:r>
            <a:r>
              <a:rPr lang="vi-VN" sz="1250">
                <a:solidFill>
                  <a:srgbClr val="666666"/>
                </a:solidFill>
                <a:latin typeface="Lato"/>
                <a:ea typeface="Lato"/>
                <a:cs typeface="Lato"/>
              </a:rPr>
              <a:t> </a:t>
            </a:r>
            <a:r>
              <a:rPr lang="vi-VN" sz="1250" err="1">
                <a:solidFill>
                  <a:srgbClr val="666666"/>
                </a:solidFill>
                <a:latin typeface="Lato"/>
                <a:ea typeface="Lato"/>
                <a:cs typeface="Lato"/>
              </a:rPr>
              <a:t>hóa</a:t>
            </a:r>
            <a:r>
              <a:rPr lang="vi-VN" sz="1250">
                <a:solidFill>
                  <a:srgbClr val="666666"/>
                </a:solidFill>
                <a:latin typeface="Lato"/>
                <a:ea typeface="Lato"/>
                <a:cs typeface="Lato"/>
              </a:rPr>
              <a:t> </a:t>
            </a:r>
            <a:r>
              <a:rPr lang="vi-VN" sz="1250" err="1">
                <a:solidFill>
                  <a:srgbClr val="666666"/>
                </a:solidFill>
                <a:latin typeface="Lato"/>
                <a:ea typeface="Lato"/>
                <a:cs typeface="Lato"/>
              </a:rPr>
              <a:t>chữ</a:t>
            </a:r>
            <a:r>
              <a:rPr lang="vi-VN" sz="1250">
                <a:solidFill>
                  <a:srgbClr val="666666"/>
                </a:solidFill>
                <a:latin typeface="Lato"/>
                <a:ea typeface="Lato"/>
                <a:cs typeface="Lato"/>
              </a:rPr>
              <a:t> </a:t>
            </a:r>
            <a:r>
              <a:rPr lang="vi-VN" sz="1250" err="1">
                <a:solidFill>
                  <a:srgbClr val="666666"/>
                </a:solidFill>
                <a:latin typeface="Lato"/>
                <a:ea typeface="Lato"/>
                <a:cs typeface="Lato"/>
              </a:rPr>
              <a:t>thường</a:t>
            </a:r>
            <a:r>
              <a:rPr lang="vi-VN" sz="1250">
                <a:solidFill>
                  <a:srgbClr val="666666"/>
                </a:solidFill>
                <a:latin typeface="Lato"/>
                <a:ea typeface="Lato"/>
                <a:cs typeface="Lato"/>
              </a:rPr>
              <a:t>. </a:t>
            </a:r>
            <a:r>
              <a:rPr lang="vi-VN" sz="1250" err="1">
                <a:solidFill>
                  <a:srgbClr val="666666"/>
                </a:solidFill>
                <a:latin typeface="Lato"/>
                <a:ea typeface="Lato"/>
                <a:cs typeface="Lato"/>
              </a:rPr>
              <a:t>Một</a:t>
            </a:r>
            <a:r>
              <a:rPr lang="vi-VN" sz="1250">
                <a:solidFill>
                  <a:srgbClr val="666666"/>
                </a:solidFill>
                <a:latin typeface="Lato"/>
                <a:ea typeface="Lato"/>
                <a:cs typeface="Lato"/>
              </a:rPr>
              <a:t> triplet </a:t>
            </a:r>
            <a:r>
              <a:rPr lang="vi-VN" sz="1250" err="1">
                <a:solidFill>
                  <a:srgbClr val="666666"/>
                </a:solidFill>
                <a:latin typeface="Lato"/>
                <a:ea typeface="Lato"/>
                <a:cs typeface="Lato"/>
              </a:rPr>
              <a:t>chỉ</a:t>
            </a:r>
            <a:r>
              <a:rPr lang="vi-VN" sz="1250">
                <a:solidFill>
                  <a:srgbClr val="666666"/>
                </a:solidFill>
                <a:latin typeface="Lato"/>
                <a:ea typeface="Lato"/>
                <a:cs typeface="Lato"/>
              </a:rPr>
              <a:t> </a:t>
            </a:r>
            <a:r>
              <a:rPr lang="vi-VN" sz="1250" err="1">
                <a:solidFill>
                  <a:srgbClr val="666666"/>
                </a:solidFill>
                <a:latin typeface="Lato"/>
                <a:ea typeface="Lato"/>
                <a:cs typeface="Lato"/>
              </a:rPr>
              <a:t>đúng</a:t>
            </a:r>
            <a:r>
              <a:rPr lang="vi-VN" sz="1250">
                <a:solidFill>
                  <a:srgbClr val="666666"/>
                </a:solidFill>
                <a:latin typeface="Lato"/>
                <a:ea typeface="Lato"/>
                <a:cs typeface="Lato"/>
              </a:rPr>
              <a:t> </a:t>
            </a:r>
            <a:r>
              <a:rPr lang="vi-VN" sz="1250" err="1">
                <a:solidFill>
                  <a:srgbClr val="666666"/>
                </a:solidFill>
                <a:latin typeface="Lato"/>
                <a:ea typeface="Lato"/>
                <a:cs typeface="Lato"/>
              </a:rPr>
              <a:t>khi</a:t>
            </a:r>
            <a:r>
              <a:rPr lang="vi-VN" sz="1250">
                <a:solidFill>
                  <a:srgbClr val="666666"/>
                </a:solidFill>
                <a:latin typeface="Lato"/>
                <a:ea typeface="Lato"/>
                <a:cs typeface="Lato"/>
              </a:rPr>
              <a:t> aspect, opinion </a:t>
            </a:r>
            <a:r>
              <a:rPr lang="vi-VN" sz="1250" err="1">
                <a:solidFill>
                  <a:srgbClr val="666666"/>
                </a:solidFill>
                <a:latin typeface="Lato"/>
                <a:ea typeface="Lato"/>
                <a:cs typeface="Lato"/>
              </a:rPr>
              <a:t>và</a:t>
            </a:r>
            <a:r>
              <a:rPr lang="vi-VN" sz="1250">
                <a:solidFill>
                  <a:srgbClr val="666666"/>
                </a:solidFill>
                <a:latin typeface="Lato"/>
                <a:ea typeface="Lato"/>
                <a:cs typeface="Lato"/>
              </a:rPr>
              <a:t> sentiment </a:t>
            </a:r>
            <a:r>
              <a:rPr lang="vi-VN" sz="1250" err="1">
                <a:solidFill>
                  <a:srgbClr val="666666"/>
                </a:solidFill>
                <a:latin typeface="Lato"/>
                <a:ea typeface="Lato"/>
                <a:cs typeface="Lato"/>
              </a:rPr>
              <a:t>đều</a:t>
            </a:r>
            <a:r>
              <a:rPr lang="vi-VN" sz="1250">
                <a:solidFill>
                  <a:srgbClr val="666666"/>
                </a:solidFill>
                <a:latin typeface="Lato"/>
                <a:ea typeface="Lato"/>
                <a:cs typeface="Lato"/>
              </a:rPr>
              <a:t> </a:t>
            </a:r>
            <a:r>
              <a:rPr lang="vi-VN" sz="1250" err="1">
                <a:solidFill>
                  <a:srgbClr val="666666"/>
                </a:solidFill>
                <a:latin typeface="Lato"/>
                <a:ea typeface="Lato"/>
                <a:cs typeface="Lato"/>
              </a:rPr>
              <a:t>trùng</a:t>
            </a:r>
            <a:r>
              <a:rPr lang="vi-VN" sz="1250">
                <a:solidFill>
                  <a:srgbClr val="666666"/>
                </a:solidFill>
                <a:latin typeface="Lato"/>
                <a:ea typeface="Lato"/>
                <a:cs typeface="Lato"/>
              </a:rPr>
              <a:t> gold.</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lang="vi-VN" sz="1250">
                <a:solidFill>
                  <a:srgbClr val="666666"/>
                </a:solidFill>
                <a:latin typeface="Lato"/>
                <a:ea typeface="Lato"/>
                <a:cs typeface="Lato"/>
              </a:rPr>
              <a:t>Precision/Recall/F1 </a:t>
            </a:r>
            <a:r>
              <a:rPr lang="vi-VN" sz="1250" err="1">
                <a:solidFill>
                  <a:srgbClr val="666666"/>
                </a:solidFill>
                <a:latin typeface="Lato"/>
                <a:ea typeface="Lato"/>
                <a:cs typeface="Lato"/>
              </a:rPr>
              <a:t>được</a:t>
            </a:r>
            <a:r>
              <a:rPr lang="vi-VN" sz="1250">
                <a:solidFill>
                  <a:srgbClr val="666666"/>
                </a:solidFill>
                <a:latin typeface="Lato"/>
                <a:ea typeface="Lato"/>
                <a:cs typeface="Lato"/>
              </a:rPr>
              <a:t> </a:t>
            </a:r>
            <a:r>
              <a:rPr lang="vi-VN" sz="1250" err="1">
                <a:solidFill>
                  <a:srgbClr val="666666"/>
                </a:solidFill>
                <a:latin typeface="Lato"/>
                <a:ea typeface="Lato"/>
                <a:cs typeface="Lato"/>
              </a:rPr>
              <a:t>tính</a:t>
            </a:r>
            <a:r>
              <a:rPr lang="vi-VN" sz="1250">
                <a:solidFill>
                  <a:srgbClr val="666666"/>
                </a:solidFill>
                <a:latin typeface="Lato"/>
                <a:ea typeface="Lato"/>
                <a:cs typeface="Lato"/>
              </a:rPr>
              <a:t> micro-average </a:t>
            </a:r>
            <a:r>
              <a:rPr lang="vi-VN" sz="1250" err="1">
                <a:solidFill>
                  <a:srgbClr val="666666"/>
                </a:solidFill>
                <a:latin typeface="Lato"/>
                <a:ea typeface="Lato"/>
                <a:cs typeface="Lato"/>
              </a:rPr>
              <a:t>trên</a:t>
            </a:r>
            <a:r>
              <a:rPr lang="vi-VN" sz="1250">
                <a:solidFill>
                  <a:srgbClr val="666666"/>
                </a:solidFill>
                <a:latin typeface="Lato"/>
                <a:ea typeface="Lato"/>
                <a:cs typeface="Lato"/>
              </a:rPr>
              <a:t> </a:t>
            </a:r>
            <a:r>
              <a:rPr lang="vi-VN" sz="1250" err="1">
                <a:solidFill>
                  <a:srgbClr val="666666"/>
                </a:solidFill>
                <a:latin typeface="Lato"/>
                <a:ea typeface="Lato"/>
                <a:cs typeface="Lato"/>
              </a:rPr>
              <a:t>toàn</a:t>
            </a:r>
            <a:r>
              <a:rPr lang="vi-VN" sz="1250">
                <a:solidFill>
                  <a:srgbClr val="666666"/>
                </a:solidFill>
                <a:latin typeface="Lato"/>
                <a:ea typeface="Lato"/>
                <a:cs typeface="Lato"/>
              </a:rPr>
              <a:t> </a:t>
            </a:r>
            <a:r>
              <a:rPr lang="vi-VN" sz="1250" err="1">
                <a:solidFill>
                  <a:srgbClr val="666666"/>
                </a:solidFill>
                <a:latin typeface="Lato"/>
                <a:ea typeface="Lato"/>
                <a:cs typeface="Lato"/>
              </a:rPr>
              <a:t>bộ</a:t>
            </a:r>
            <a:r>
              <a:rPr lang="vi-VN" sz="1250">
                <a:solidFill>
                  <a:srgbClr val="666666"/>
                </a:solidFill>
                <a:latin typeface="Lato"/>
                <a:ea typeface="Lato"/>
                <a:cs typeface="Lato"/>
              </a:rPr>
              <a:t> </a:t>
            </a:r>
            <a:r>
              <a:rPr lang="vi-VN" sz="1250" err="1">
                <a:solidFill>
                  <a:srgbClr val="666666"/>
                </a:solidFill>
                <a:latin typeface="Lato"/>
                <a:ea typeface="Lato"/>
                <a:cs typeface="Lato"/>
              </a:rPr>
              <a:t>tập</a:t>
            </a:r>
            <a:r>
              <a:rPr lang="vi-VN" sz="1250">
                <a:solidFill>
                  <a:srgbClr val="666666"/>
                </a:solidFill>
                <a:latin typeface="Lato"/>
                <a:ea typeface="Lato"/>
                <a:cs typeface="Lato"/>
              </a:rPr>
              <a:t> test.</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lang="vi-VN" sz="1250">
                <a:solidFill>
                  <a:srgbClr val="666666"/>
                </a:solidFill>
                <a:latin typeface="Lato"/>
                <a:ea typeface="Lato"/>
                <a:cs typeface="Lato"/>
              </a:rPr>
              <a:t>Thiết </a:t>
            </a:r>
            <a:r>
              <a:rPr lang="vi-VN" sz="1250" err="1">
                <a:solidFill>
                  <a:srgbClr val="666666"/>
                </a:solidFill>
                <a:latin typeface="Lato"/>
                <a:ea typeface="Lato"/>
                <a:cs typeface="Lato"/>
              </a:rPr>
              <a:t>lập</a:t>
            </a:r>
            <a:r>
              <a:rPr lang="vi-VN" sz="1250">
                <a:solidFill>
                  <a:srgbClr val="666666"/>
                </a:solidFill>
                <a:latin typeface="Lato"/>
                <a:ea typeface="Lato"/>
                <a:cs typeface="Lato"/>
              </a:rPr>
              <a:t> </a:t>
            </a:r>
            <a:r>
              <a:rPr lang="vi-VN" sz="1250" err="1">
                <a:solidFill>
                  <a:srgbClr val="666666"/>
                </a:solidFill>
                <a:latin typeface="Lato"/>
                <a:ea typeface="Lato"/>
                <a:cs typeface="Lato"/>
              </a:rPr>
              <a:t>chung</a:t>
            </a:r>
            <a:r>
              <a:rPr lang="vi-VN" sz="1250">
                <a:solidFill>
                  <a:srgbClr val="666666"/>
                </a:solidFill>
                <a:latin typeface="Lato"/>
                <a:ea typeface="Lato"/>
                <a:cs typeface="Lato"/>
              </a:rPr>
              <a:t>: </a:t>
            </a:r>
          </a:p>
          <a:p>
            <a:pPr>
              <a:defRPr sz="1275">
                <a:solidFill>
                  <a:srgbClr val="666666"/>
                </a:solidFill>
                <a:latin typeface="Lato"/>
                <a:ea typeface="Lato"/>
                <a:cs typeface="Lato"/>
              </a:defRPr>
            </a:pPr>
            <a:r>
              <a:rPr lang="vi-VN" sz="1300">
                <a:solidFill>
                  <a:srgbClr val="666666"/>
                </a:solidFill>
                <a:latin typeface="Lato"/>
                <a:ea typeface="Lato"/>
                <a:cs typeface="Lato"/>
              </a:rPr>
              <a:t>• </a:t>
            </a:r>
            <a:r>
              <a:rPr lang="vi-VN" sz="1250">
                <a:solidFill>
                  <a:srgbClr val="666666"/>
                </a:solidFill>
                <a:latin typeface="Lato"/>
                <a:ea typeface="Lato"/>
                <a:cs typeface="Lato"/>
              </a:rPr>
              <a:t>20 epoch </a:t>
            </a:r>
            <a:endParaRPr lang="vi-VN" sz="1275">
              <a:solidFill>
                <a:srgbClr val="666666"/>
              </a:solidFill>
              <a:latin typeface="Lato"/>
              <a:ea typeface="Lato"/>
              <a:cs typeface="Lato"/>
            </a:endParaRPr>
          </a:p>
          <a:p>
            <a:pPr>
              <a:defRPr sz="1275">
                <a:solidFill>
                  <a:srgbClr val="666666"/>
                </a:solidFill>
                <a:latin typeface="Lato"/>
                <a:ea typeface="Lato"/>
                <a:cs typeface="Lato"/>
              </a:defRPr>
            </a:pPr>
            <a:r>
              <a:rPr lang="vi-VN" sz="1250">
                <a:solidFill>
                  <a:srgbClr val="666666"/>
                </a:solidFill>
                <a:latin typeface="Lato"/>
                <a:ea typeface="Lato"/>
                <a:cs typeface="Lato"/>
              </a:rPr>
              <a:t>• </a:t>
            </a:r>
            <a:r>
              <a:rPr lang="vi-VN" sz="1250" err="1">
                <a:solidFill>
                  <a:srgbClr val="666666"/>
                </a:solidFill>
                <a:latin typeface="Lato"/>
                <a:ea typeface="Lato"/>
                <a:cs typeface="Lato"/>
              </a:rPr>
              <a:t>lr</a:t>
            </a:r>
            <a:r>
              <a:rPr lang="vi-VN" sz="1250">
                <a:solidFill>
                  <a:srgbClr val="666666"/>
                </a:solidFill>
                <a:latin typeface="Lato"/>
                <a:ea typeface="Lato"/>
                <a:cs typeface="Lato"/>
              </a:rPr>
              <a:t>=3e-4 </a:t>
            </a:r>
          </a:p>
          <a:p>
            <a:pPr>
              <a:defRPr sz="1275">
                <a:solidFill>
                  <a:srgbClr val="666666"/>
                </a:solidFill>
                <a:latin typeface="Lato"/>
                <a:ea typeface="Lato"/>
                <a:cs typeface="Lato"/>
              </a:defRPr>
            </a:pPr>
            <a:r>
              <a:rPr lang="vi-VN" sz="1250">
                <a:solidFill>
                  <a:srgbClr val="666666"/>
                </a:solidFill>
                <a:latin typeface="Lato"/>
                <a:ea typeface="Lato"/>
                <a:cs typeface="Lato"/>
              </a:rPr>
              <a:t>• effective batch size=16.</a:t>
            </a:r>
            <a:endParaRPr lang="vi-VN" sz="1250"/>
          </a:p>
        </p:txBody>
      </p:sp>
    </p:spTree>
    <p:extLst>
      <p:ext uri="{BB962C8B-B14F-4D97-AF65-F5344CB8AC3E}">
        <p14:creationId xmlns:p14="http://schemas.microsoft.com/office/powerpoint/2010/main" val="35646651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776946D-AB92-4D05-97ED-4EDF0AB0FF55}"/>
              </a:ext>
            </a:extLst>
          </p:cNvPr>
          <p:cNvSpPr>
            <a:spLocks noGrp="1"/>
          </p:cNvSpPr>
          <p:nvPr>
            <p:ph type="sldNum" idx="12"/>
          </p:nvPr>
        </p:nvSpPr>
        <p:spPr>
          <a:xfrm>
            <a:off x="6867430" y="6491288"/>
            <a:ext cx="2057400" cy="361950"/>
          </a:xfrm>
          <a:prstGeom prst="rect">
            <a:avLst/>
          </a:prstGeom>
        </p:spPr>
        <p:txBody>
          <a:bodyPr/>
          <a:lstStyle/>
          <a:p>
            <a:fld id="{8C630A04-5A25-9E0C-9436-126091DB86B3}" type="slidenum">
              <a:rPr/>
              <a:t>9</a:t>
            </a:fld>
            <a:endParaRPr/>
          </a:p>
        </p:txBody>
      </p:sp>
      <p:sp>
        <p:nvSpPr>
          <p:cNvPr id="2" name="Title 1">
            <a:extLst>
              <a:ext uri="{FF2B5EF4-FFF2-40B4-BE49-F238E27FC236}">
                <a16:creationId xmlns:a16="http://schemas.microsoft.com/office/drawing/2014/main" id="{4FB6CB3A-046A-4C56-A02D-DBF672421CAF}"/>
              </a:ext>
            </a:extLst>
          </p:cNvPr>
          <p:cNvSpPr>
            <a:spLocks noGrp="1"/>
          </p:cNvSpPr>
          <p:nvPr>
            <p:ph type="title"/>
          </p:nvPr>
        </p:nvSpPr>
        <p:spPr>
          <a:xfrm>
            <a:off x="254052" y="112543"/>
            <a:ext cx="8635896" cy="436098"/>
          </a:xfrm>
          <a:prstGeom prst="rect">
            <a:avLst/>
          </a:prstGeom>
        </p:spPr>
        <p:txBody>
          <a:bodyPr lIns="91440" tIns="45720" rIns="91440" bIns="45720" anchor="t"/>
          <a:lstStyle/>
          <a:p>
            <a:r>
              <a:rPr lang="vi-VN"/>
              <a:t>6</a:t>
            </a:r>
            <a:r>
              <a:t>. </a:t>
            </a:r>
            <a:r>
              <a:rPr err="1"/>
              <a:t>Kết</a:t>
            </a:r>
            <a:r>
              <a:t> </a:t>
            </a:r>
            <a:r>
              <a:rPr err="1"/>
              <a:t>quả</a:t>
            </a:r>
            <a:r>
              <a:t> ASTE — So </a:t>
            </a:r>
            <a:r>
              <a:rPr err="1"/>
              <a:t>sánh</a:t>
            </a:r>
            <a:r>
              <a:t> </a:t>
            </a:r>
            <a:r>
              <a:rPr err="1"/>
              <a:t>mô</a:t>
            </a:r>
            <a:r>
              <a:t> </a:t>
            </a:r>
            <a:r>
              <a:rPr err="1"/>
              <a:t>hình</a:t>
            </a:r>
            <a:endParaRPr lang="vi-VN" err="1"/>
          </a:p>
        </p:txBody>
      </p:sp>
      <p:graphicFrame>
        <p:nvGraphicFramePr>
          <p:cNvPr id="16" name="Chart"/>
          <p:cNvGraphicFramePr/>
          <p:nvPr>
            <p:extLst>
              <p:ext uri="{D42A27DB-BD31-4B8C-83A1-F6EECF244321}">
                <p14:modId xmlns:p14="http://schemas.microsoft.com/office/powerpoint/2010/main" val="1953437732"/>
              </p:ext>
            </p:extLst>
          </p:nvPr>
        </p:nvGraphicFramePr>
        <p:xfrm>
          <a:off x="333375" y="1447800"/>
          <a:ext cx="4381500" cy="4324350"/>
        </p:xfrm>
        <a:graphic>
          <a:graphicData uri="http://schemas.openxmlformats.org/drawingml/2006/chart">
            <c:chart xmlns:c="http://schemas.openxmlformats.org/drawingml/2006/chart" xmlns:r="http://schemas.openxmlformats.org/officeDocument/2006/relationships" r:id="rId4"/>
          </a:graphicData>
        </a:graphic>
      </p:graphicFrame>
      <p:sp>
        <p:nvSpPr>
          <p:cNvPr id="7" name="metric-Triplet-F1 của T5-base">
            <a:extLst>
              <a:ext uri="{FF2B5EF4-FFF2-40B4-BE49-F238E27FC236}">
                <a16:creationId xmlns:a16="http://schemas.microsoft.com/office/drawing/2014/main" id="{2307BB27-A957-46B3-8AE2-71917A04FAE6}"/>
              </a:ext>
            </a:extLst>
          </p:cNvPr>
          <p:cNvSpPr>
            <a:spLocks noGrp="1"/>
          </p:cNvSpPr>
          <p:nvPr/>
        </p:nvSpPr>
        <p:spPr>
          <a:xfrm>
            <a:off x="5191125" y="1619250"/>
            <a:ext cx="300037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8" name="metric-value-Triplet-F1 của T5-base">
            <a:extLst>
              <a:ext uri="{FF2B5EF4-FFF2-40B4-BE49-F238E27FC236}">
                <a16:creationId xmlns:a16="http://schemas.microsoft.com/office/drawing/2014/main" id="{FF290FA3-554B-40CD-9138-822334C75C95}"/>
              </a:ext>
            </a:extLst>
          </p:cNvPr>
          <p:cNvSpPr>
            <a:spLocks noGrp="1"/>
          </p:cNvSpPr>
          <p:nvPr/>
        </p:nvSpPr>
        <p:spPr>
          <a:xfrm>
            <a:off x="5286375" y="1733550"/>
            <a:ext cx="2809875" cy="495300"/>
          </a:xfrm>
          <a:prstGeom prst="rect">
            <a:avLst/>
          </a:prstGeom>
          <a:noFill/>
          <a:ln w="0">
            <a:noFill/>
            <a:prstDash val="solid"/>
          </a:ln>
        </p:spPr>
        <p:txBody>
          <a:bodyPr anchor="ctr"/>
          <a:lstStyle/>
          <a:p>
            <a:pPr algn="ctr">
              <a:defRPr sz="2700" b="1">
                <a:solidFill>
                  <a:srgbClr val="C00000"/>
                </a:solidFill>
                <a:latin typeface="Lato"/>
                <a:ea typeface="Lato"/>
                <a:cs typeface="Lato"/>
              </a:defRPr>
            </a:pPr>
            <a:r>
              <a:rPr sz="2700" b="1">
                <a:solidFill>
                  <a:srgbClr val="C00000"/>
                </a:solidFill>
                <a:latin typeface="Lato"/>
                <a:ea typeface="Lato"/>
                <a:cs typeface="Lato"/>
              </a:rPr>
              <a:t>0,7442</a:t>
            </a:r>
          </a:p>
        </p:txBody>
      </p:sp>
      <p:sp>
        <p:nvSpPr>
          <p:cNvPr id="9" name="metric-label-Triplet-F1 của T5-base">
            <a:extLst>
              <a:ext uri="{FF2B5EF4-FFF2-40B4-BE49-F238E27FC236}">
                <a16:creationId xmlns:a16="http://schemas.microsoft.com/office/drawing/2014/main" id="{031E0B47-B8FB-4EFA-B794-FEDE4909A186}"/>
              </a:ext>
            </a:extLst>
          </p:cNvPr>
          <p:cNvSpPr>
            <a:spLocks noGrp="1"/>
          </p:cNvSpPr>
          <p:nvPr/>
        </p:nvSpPr>
        <p:spPr>
          <a:xfrm>
            <a:off x="5324475" y="2257425"/>
            <a:ext cx="273367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Triplet-F1 của T5-base</a:t>
            </a:r>
          </a:p>
        </p:txBody>
      </p:sp>
      <p:sp>
        <p:nvSpPr>
          <p:cNvPr id="10" name="card-Kết luận">
            <a:extLst>
              <a:ext uri="{FF2B5EF4-FFF2-40B4-BE49-F238E27FC236}">
                <a16:creationId xmlns:a16="http://schemas.microsoft.com/office/drawing/2014/main" id="{4F9455F3-78B4-4637-B504-8BE45A7B3529}"/>
              </a:ext>
            </a:extLst>
          </p:cNvPr>
          <p:cNvSpPr>
            <a:spLocks noGrp="1"/>
          </p:cNvSpPr>
          <p:nvPr/>
        </p:nvSpPr>
        <p:spPr>
          <a:xfrm>
            <a:off x="4953000" y="3000375"/>
            <a:ext cx="3476625" cy="2428875"/>
          </a:xfrm>
          <a:prstGeom prst="roundRect">
            <a:avLst>
              <a:gd name="adj" fmla="val 5490"/>
            </a:avLst>
          </a:prstGeom>
          <a:noFill/>
          <a:ln w="11430">
            <a:solidFill>
              <a:srgbClr val="E2D6D6"/>
            </a:solidFill>
            <a:prstDash val="solid"/>
          </a:ln>
        </p:spPr>
        <p:txBody>
          <a:bodyPr/>
          <a:lstStyle/>
          <a:p>
            <a:endParaRPr lang="en-VN"/>
          </a:p>
        </p:txBody>
      </p:sp>
      <p:sp>
        <p:nvSpPr>
          <p:cNvPr id="11" name="eyebrow-Kết luận">
            <a:extLst>
              <a:ext uri="{FF2B5EF4-FFF2-40B4-BE49-F238E27FC236}">
                <a16:creationId xmlns:a16="http://schemas.microsoft.com/office/drawing/2014/main" id="{EF1709E6-248E-432C-80D5-46197311BD8D}"/>
              </a:ext>
            </a:extLst>
          </p:cNvPr>
          <p:cNvSpPr>
            <a:spLocks noGrp="1"/>
          </p:cNvSpPr>
          <p:nvPr/>
        </p:nvSpPr>
        <p:spPr>
          <a:xfrm>
            <a:off x="5143500" y="3152775"/>
            <a:ext cx="309562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KẾT LUẬN</a:t>
            </a:r>
          </a:p>
        </p:txBody>
      </p:sp>
      <p:sp>
        <p:nvSpPr>
          <p:cNvPr id="12" name="headline-Kết luận">
            <a:extLst>
              <a:ext uri="{FF2B5EF4-FFF2-40B4-BE49-F238E27FC236}">
                <a16:creationId xmlns:a16="http://schemas.microsoft.com/office/drawing/2014/main" id="{ECE84FA1-5885-48FC-9111-BF3985E9F939}"/>
              </a:ext>
            </a:extLst>
          </p:cNvPr>
          <p:cNvSpPr>
            <a:spLocks noGrp="1"/>
          </p:cNvSpPr>
          <p:nvPr/>
        </p:nvSpPr>
        <p:spPr>
          <a:xfrm>
            <a:off x="5143500" y="3457575"/>
            <a:ext cx="309562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T5-base gần gấp đôi baseline</a:t>
            </a:r>
          </a:p>
        </p:txBody>
      </p:sp>
      <p:sp>
        <p:nvSpPr>
          <p:cNvPr id="13" name="body-Kết luận">
            <a:extLst>
              <a:ext uri="{FF2B5EF4-FFF2-40B4-BE49-F238E27FC236}">
                <a16:creationId xmlns:a16="http://schemas.microsoft.com/office/drawing/2014/main" id="{A7D9F4E2-9F08-4108-BFFF-D43B93070691}"/>
              </a:ext>
            </a:extLst>
          </p:cNvPr>
          <p:cNvSpPr>
            <a:spLocks noGrp="1"/>
          </p:cNvSpPr>
          <p:nvPr/>
        </p:nvSpPr>
        <p:spPr>
          <a:xfrm>
            <a:off x="5143500" y="4181475"/>
            <a:ext cx="3095625" cy="1076325"/>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r>
              <a:rPr sz="1275">
                <a:solidFill>
                  <a:srgbClr val="666666"/>
                </a:solidFill>
                <a:latin typeface="Lato"/>
                <a:ea typeface="Lato"/>
                <a:cs typeface="Lato"/>
              </a:rPr>
              <a:t>Precision 0,7609 • Recall 0,7282.</a:t>
            </a:r>
          </a:p>
          <a:p>
            <a:pPr>
              <a:defRPr sz="1275">
                <a:solidFill>
                  <a:srgbClr val="666666"/>
                </a:solidFill>
                <a:latin typeface="Lato"/>
                <a:ea typeface="Lato"/>
                <a:cs typeface="Lato"/>
              </a:defRPr>
            </a:pPr>
            <a:r>
              <a:rPr sz="1250" dirty="0">
                <a:solidFill>
                  <a:srgbClr val="666666"/>
                </a:solidFill>
                <a:latin typeface="Lato"/>
                <a:ea typeface="Lato"/>
                <a:cs typeface="Lato"/>
              </a:rPr>
              <a:t>T5-small </a:t>
            </a:r>
            <a:r>
              <a:rPr sz="1250" dirty="0" err="1">
                <a:solidFill>
                  <a:srgbClr val="666666"/>
                </a:solidFill>
                <a:latin typeface="Lato"/>
                <a:ea typeface="Lato"/>
                <a:cs typeface="Lato"/>
              </a:rPr>
              <a:t>bám</a:t>
            </a:r>
            <a:r>
              <a:rPr sz="1250" dirty="0">
                <a:solidFill>
                  <a:srgbClr val="666666"/>
                </a:solidFill>
                <a:latin typeface="Lato"/>
                <a:ea typeface="Lato"/>
                <a:cs typeface="Lato"/>
              </a:rPr>
              <a:t> </a:t>
            </a:r>
            <a:r>
              <a:rPr sz="1250" dirty="0" err="1">
                <a:solidFill>
                  <a:srgbClr val="666666"/>
                </a:solidFill>
                <a:latin typeface="Lato"/>
                <a:ea typeface="Lato"/>
                <a:cs typeface="Lato"/>
              </a:rPr>
              <a:t>sát</a:t>
            </a:r>
            <a:r>
              <a:rPr sz="1250" dirty="0">
                <a:solidFill>
                  <a:srgbClr val="666666"/>
                </a:solidFill>
                <a:latin typeface="Lato"/>
                <a:ea typeface="Lato"/>
                <a:cs typeface="Lato"/>
              </a:rPr>
              <a:t>, </a:t>
            </a:r>
            <a:r>
              <a:rPr sz="1250" dirty="0" err="1">
                <a:solidFill>
                  <a:srgbClr val="666666"/>
                </a:solidFill>
                <a:latin typeface="Lato"/>
                <a:ea typeface="Lato"/>
                <a:cs typeface="Lato"/>
              </a:rPr>
              <a:t>trong</a:t>
            </a:r>
            <a:r>
              <a:rPr sz="1250" dirty="0">
                <a:solidFill>
                  <a:srgbClr val="666666"/>
                </a:solidFill>
                <a:latin typeface="Lato"/>
                <a:ea typeface="Lato"/>
                <a:cs typeface="Lato"/>
              </a:rPr>
              <a:t> </a:t>
            </a:r>
            <a:r>
              <a:rPr sz="1250" dirty="0" err="1">
                <a:solidFill>
                  <a:srgbClr val="666666"/>
                </a:solidFill>
                <a:latin typeface="Lato"/>
                <a:ea typeface="Lato"/>
                <a:cs typeface="Lato"/>
              </a:rPr>
              <a:t>khi</a:t>
            </a:r>
            <a:r>
              <a:rPr sz="1250" dirty="0">
                <a:solidFill>
                  <a:srgbClr val="666666"/>
                </a:solidFill>
                <a:latin typeface="Lato"/>
                <a:ea typeface="Lato"/>
                <a:cs typeface="Lato"/>
              </a:rPr>
              <a:t> FLAN-T5-base </a:t>
            </a:r>
            <a:r>
              <a:rPr sz="1250" dirty="0" err="1">
                <a:solidFill>
                  <a:srgbClr val="666666"/>
                </a:solidFill>
                <a:latin typeface="Lato"/>
                <a:ea typeface="Lato"/>
                <a:cs typeface="Lato"/>
              </a:rPr>
              <a:t>chưa</a:t>
            </a:r>
            <a:r>
              <a:rPr sz="1250" dirty="0">
                <a:solidFill>
                  <a:srgbClr val="666666"/>
                </a:solidFill>
                <a:latin typeface="Lato"/>
                <a:ea typeface="Lato"/>
                <a:cs typeface="Lato"/>
              </a:rPr>
              <a:t> </a:t>
            </a:r>
            <a:r>
              <a:rPr sz="1250" dirty="0" err="1">
                <a:solidFill>
                  <a:srgbClr val="666666"/>
                </a:solidFill>
                <a:latin typeface="Lato"/>
                <a:ea typeface="Lato"/>
                <a:cs typeface="Lato"/>
              </a:rPr>
              <a:t>hội</a:t>
            </a:r>
            <a:r>
              <a:rPr sz="1250" dirty="0">
                <a:solidFill>
                  <a:srgbClr val="666666"/>
                </a:solidFill>
                <a:latin typeface="Lato"/>
                <a:ea typeface="Lato"/>
                <a:cs typeface="Lato"/>
              </a:rPr>
              <a:t> </a:t>
            </a:r>
            <a:r>
              <a:rPr sz="1250" dirty="0" err="1">
                <a:solidFill>
                  <a:srgbClr val="666666"/>
                </a:solidFill>
                <a:latin typeface="Lato"/>
                <a:ea typeface="Lato"/>
                <a:cs typeface="Lato"/>
              </a:rPr>
              <a:t>tụ</a:t>
            </a:r>
            <a:r>
              <a:rPr sz="1250" dirty="0">
                <a:solidFill>
                  <a:srgbClr val="666666"/>
                </a:solidFill>
                <a:latin typeface="Lato"/>
                <a:ea typeface="Lato"/>
                <a:cs typeface="Lato"/>
              </a:rPr>
              <a:t> </a:t>
            </a:r>
            <a:r>
              <a:rPr sz="1250" dirty="0" err="1">
                <a:solidFill>
                  <a:srgbClr val="666666"/>
                </a:solidFill>
                <a:latin typeface="Lato"/>
                <a:ea typeface="Lato"/>
                <a:cs typeface="Lato"/>
              </a:rPr>
              <a:t>trong</a:t>
            </a:r>
            <a:r>
              <a:rPr sz="1250" dirty="0">
                <a:solidFill>
                  <a:srgbClr val="666666"/>
                </a:solidFill>
                <a:latin typeface="Lato"/>
                <a:ea typeface="Lato"/>
                <a:cs typeface="Lato"/>
              </a:rPr>
              <a:t> </a:t>
            </a:r>
            <a:r>
              <a:rPr sz="1250" dirty="0" err="1">
                <a:solidFill>
                  <a:srgbClr val="666666"/>
                </a:solidFill>
                <a:latin typeface="Lato"/>
                <a:ea typeface="Lato"/>
                <a:cs typeface="Lato"/>
              </a:rPr>
              <a:t>cùng</a:t>
            </a:r>
            <a:r>
              <a:rPr sz="1250" dirty="0">
                <a:solidFill>
                  <a:srgbClr val="666666"/>
                </a:solidFill>
                <a:latin typeface="Lato"/>
                <a:ea typeface="Lato"/>
                <a:cs typeface="Lato"/>
              </a:rPr>
              <a:t> </a:t>
            </a:r>
            <a:r>
              <a:rPr sz="1250" dirty="0" err="1">
                <a:solidFill>
                  <a:srgbClr val="666666"/>
                </a:solidFill>
                <a:latin typeface="Lato"/>
                <a:ea typeface="Lato"/>
                <a:cs typeface="Lato"/>
              </a:rPr>
              <a:t>ngân</a:t>
            </a:r>
            <a:r>
              <a:rPr sz="1250" dirty="0">
                <a:solidFill>
                  <a:srgbClr val="666666"/>
                </a:solidFill>
                <a:latin typeface="Lato"/>
                <a:ea typeface="Lato"/>
                <a:cs typeface="Lato"/>
              </a:rPr>
              <a:t> </a:t>
            </a:r>
            <a:r>
              <a:rPr sz="1250" dirty="0" err="1">
                <a:solidFill>
                  <a:srgbClr val="666666"/>
                </a:solidFill>
                <a:latin typeface="Lato"/>
                <a:ea typeface="Lato"/>
                <a:cs typeface="Lato"/>
              </a:rPr>
              <a:t>sách</a:t>
            </a:r>
            <a:r>
              <a:rPr sz="1250" dirty="0">
                <a:solidFill>
                  <a:srgbClr val="666666"/>
                </a:solidFill>
                <a:latin typeface="Lato"/>
                <a:ea typeface="Lato"/>
                <a:cs typeface="Lato"/>
              </a:rPr>
              <a:t> 20 epoch.</a:t>
            </a:r>
          </a:p>
        </p:txBody>
      </p:sp>
    </p:spTree>
    <p:extLst>
      <p:ext uri="{BB962C8B-B14F-4D97-AF65-F5344CB8AC3E}">
        <p14:creationId xmlns:p14="http://schemas.microsoft.com/office/powerpoint/2010/main" val="64084651"/>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776946D-AB92-4D05-97ED-4EDF0AB0FF55}"/>
              </a:ext>
            </a:extLst>
          </p:cNvPr>
          <p:cNvSpPr>
            <a:spLocks noGrp="1"/>
          </p:cNvSpPr>
          <p:nvPr>
            <p:ph type="sldNum" idx="12"/>
          </p:nvPr>
        </p:nvSpPr>
        <p:spPr>
          <a:xfrm>
            <a:off x="6867430" y="6491288"/>
            <a:ext cx="2057400" cy="361950"/>
          </a:xfrm>
          <a:prstGeom prst="rect">
            <a:avLst/>
          </a:prstGeom>
        </p:spPr>
        <p:txBody>
          <a:bodyPr/>
          <a:lstStyle/>
          <a:p>
            <a:fld id="{D3D7D1C8-AE23-AA48-DF65-C742588DBE47}" type="slidenum">
              <a:rPr/>
              <a:t>10</a:t>
            </a:fld>
            <a:endParaRPr/>
          </a:p>
        </p:txBody>
      </p:sp>
      <p:sp>
        <p:nvSpPr>
          <p:cNvPr id="2" name="Title 1">
            <a:extLst>
              <a:ext uri="{FF2B5EF4-FFF2-40B4-BE49-F238E27FC236}">
                <a16:creationId xmlns:a16="http://schemas.microsoft.com/office/drawing/2014/main" id="{4FB6CB3A-046A-4C56-A02D-DBF672421CAF}"/>
              </a:ext>
            </a:extLst>
          </p:cNvPr>
          <p:cNvSpPr>
            <a:spLocks noGrp="1"/>
          </p:cNvSpPr>
          <p:nvPr>
            <p:ph type="title"/>
          </p:nvPr>
        </p:nvSpPr>
        <p:spPr>
          <a:xfrm>
            <a:off x="254052" y="112543"/>
            <a:ext cx="8635896" cy="436098"/>
          </a:xfrm>
          <a:prstGeom prst="rect">
            <a:avLst/>
          </a:prstGeom>
        </p:spPr>
        <p:txBody>
          <a:bodyPr lIns="91440" tIns="45720" rIns="91440" bIns="45720" anchor="t"/>
          <a:lstStyle/>
          <a:p>
            <a:r>
              <a:rPr lang="vi-VN"/>
              <a:t>6</a:t>
            </a:r>
            <a:r>
              <a:t>. </a:t>
            </a:r>
            <a:r>
              <a:rPr err="1"/>
              <a:t>Kết</a:t>
            </a:r>
            <a:r>
              <a:t> </a:t>
            </a:r>
            <a:r>
              <a:rPr err="1"/>
              <a:t>quả</a:t>
            </a:r>
            <a:r>
              <a:t> ASTE — </a:t>
            </a:r>
            <a:r>
              <a:rPr err="1"/>
              <a:t>Quá</a:t>
            </a:r>
            <a:r>
              <a:t> </a:t>
            </a:r>
            <a:r>
              <a:rPr err="1"/>
              <a:t>trình</a:t>
            </a:r>
            <a:r>
              <a:t> </a:t>
            </a:r>
            <a:r>
              <a:rPr err="1"/>
              <a:t>huấn</a:t>
            </a:r>
            <a:r>
              <a:t> </a:t>
            </a:r>
            <a:r>
              <a:rPr err="1"/>
              <a:t>luyện</a:t>
            </a:r>
            <a:endParaRPr lang="vi-VN" err="1"/>
          </a:p>
        </p:txBody>
      </p:sp>
      <p:sp>
        <p:nvSpPr>
          <p:cNvPr id="7" name="card-T5">
            <a:extLst>
              <a:ext uri="{FF2B5EF4-FFF2-40B4-BE49-F238E27FC236}">
                <a16:creationId xmlns:a16="http://schemas.microsoft.com/office/drawing/2014/main" id="{EBFC562B-1F60-4109-81BD-60136A8C6E91}"/>
              </a:ext>
            </a:extLst>
          </p:cNvPr>
          <p:cNvSpPr>
            <a:spLocks noGrp="1"/>
          </p:cNvSpPr>
          <p:nvPr/>
        </p:nvSpPr>
        <p:spPr>
          <a:xfrm>
            <a:off x="5572125" y="1600200"/>
            <a:ext cx="2905125" cy="1600200"/>
          </a:xfrm>
          <a:prstGeom prst="roundRect">
            <a:avLst>
              <a:gd name="adj" fmla="val 8333"/>
            </a:avLst>
          </a:prstGeom>
          <a:solidFill>
            <a:srgbClr val="FFFFFF"/>
          </a:solidFill>
          <a:ln w="11430">
            <a:solidFill>
              <a:srgbClr val="E2D6D6"/>
            </a:solidFill>
            <a:prstDash val="solid"/>
          </a:ln>
        </p:spPr>
        <p:txBody>
          <a:bodyPr/>
          <a:lstStyle/>
          <a:p>
            <a:endParaRPr lang="en-VN"/>
          </a:p>
        </p:txBody>
      </p:sp>
      <p:sp>
        <p:nvSpPr>
          <p:cNvPr id="8" name="eyebrow-T5">
            <a:extLst>
              <a:ext uri="{FF2B5EF4-FFF2-40B4-BE49-F238E27FC236}">
                <a16:creationId xmlns:a16="http://schemas.microsoft.com/office/drawing/2014/main" id="{51B9B7E8-B373-42C4-BE30-F09A34D7011F}"/>
              </a:ext>
            </a:extLst>
          </p:cNvPr>
          <p:cNvSpPr>
            <a:spLocks noGrp="1"/>
          </p:cNvSpPr>
          <p:nvPr/>
        </p:nvSpPr>
        <p:spPr>
          <a:xfrm>
            <a:off x="5762625" y="1752600"/>
            <a:ext cx="252412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T5</a:t>
            </a:r>
          </a:p>
        </p:txBody>
      </p:sp>
      <p:sp>
        <p:nvSpPr>
          <p:cNvPr id="9" name="headline-T5">
            <a:extLst>
              <a:ext uri="{FF2B5EF4-FFF2-40B4-BE49-F238E27FC236}">
                <a16:creationId xmlns:a16="http://schemas.microsoft.com/office/drawing/2014/main" id="{4C5BB130-23CA-4939-82BB-53E722F281A8}"/>
              </a:ext>
            </a:extLst>
          </p:cNvPr>
          <p:cNvSpPr>
            <a:spLocks noGrp="1"/>
          </p:cNvSpPr>
          <p:nvPr/>
        </p:nvSpPr>
        <p:spPr>
          <a:xfrm>
            <a:off x="5762625" y="1977571"/>
            <a:ext cx="252412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Hội tụ sớm</a:t>
            </a:r>
          </a:p>
        </p:txBody>
      </p:sp>
      <p:sp>
        <p:nvSpPr>
          <p:cNvPr id="10" name="body-T5">
            <a:extLst>
              <a:ext uri="{FF2B5EF4-FFF2-40B4-BE49-F238E27FC236}">
                <a16:creationId xmlns:a16="http://schemas.microsoft.com/office/drawing/2014/main" id="{A1F5FB52-5EAF-46FE-9B29-0EFCD67C8BC4}"/>
              </a:ext>
            </a:extLst>
          </p:cNvPr>
          <p:cNvSpPr>
            <a:spLocks noGrp="1"/>
          </p:cNvSpPr>
          <p:nvPr/>
        </p:nvSpPr>
        <p:spPr>
          <a:xfrm>
            <a:off x="5762625" y="2628900"/>
            <a:ext cx="2524125" cy="2476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T5-small và T5-base ổn định quanh epoch 10–15.</a:t>
            </a:r>
          </a:p>
        </p:txBody>
      </p:sp>
      <p:sp>
        <p:nvSpPr>
          <p:cNvPr id="11" name="card-FLAN-T5">
            <a:extLst>
              <a:ext uri="{FF2B5EF4-FFF2-40B4-BE49-F238E27FC236}">
                <a16:creationId xmlns:a16="http://schemas.microsoft.com/office/drawing/2014/main" id="{5788C7AC-9FE6-4FAF-8243-25530840DEB0}"/>
              </a:ext>
            </a:extLst>
          </p:cNvPr>
          <p:cNvSpPr>
            <a:spLocks noGrp="1"/>
          </p:cNvSpPr>
          <p:nvPr/>
        </p:nvSpPr>
        <p:spPr>
          <a:xfrm>
            <a:off x="5572125" y="3429000"/>
            <a:ext cx="2905125" cy="2238375"/>
          </a:xfrm>
          <a:prstGeom prst="roundRect">
            <a:avLst>
              <a:gd name="adj" fmla="val 5957"/>
            </a:avLst>
          </a:prstGeom>
          <a:noFill/>
          <a:ln w="11430">
            <a:solidFill>
              <a:srgbClr val="E2D6D6"/>
            </a:solidFill>
            <a:prstDash val="solid"/>
          </a:ln>
        </p:spPr>
        <p:txBody>
          <a:bodyPr/>
          <a:lstStyle/>
          <a:p>
            <a:endParaRPr lang="en-VN"/>
          </a:p>
        </p:txBody>
      </p:sp>
      <p:sp>
        <p:nvSpPr>
          <p:cNvPr id="12" name="eyebrow-FLAN-T5">
            <a:extLst>
              <a:ext uri="{FF2B5EF4-FFF2-40B4-BE49-F238E27FC236}">
                <a16:creationId xmlns:a16="http://schemas.microsoft.com/office/drawing/2014/main" id="{B9825EA0-0559-46A3-91D6-4978C0831A9A}"/>
              </a:ext>
            </a:extLst>
          </p:cNvPr>
          <p:cNvSpPr>
            <a:spLocks noGrp="1"/>
          </p:cNvSpPr>
          <p:nvPr/>
        </p:nvSpPr>
        <p:spPr>
          <a:xfrm>
            <a:off x="5762625" y="3581400"/>
            <a:ext cx="2524125" cy="228600"/>
          </a:xfrm>
          <a:prstGeom prst="rect">
            <a:avLst/>
          </a:prstGeom>
          <a:noFill/>
          <a:ln w="0">
            <a:noFill/>
            <a:prstDash val="solid"/>
          </a:ln>
        </p:spPr>
        <p:txBody>
          <a:bodyPr anchor="ctr"/>
          <a:lstStyle/>
          <a:p>
            <a:pPr>
              <a:defRPr sz="975" b="1">
                <a:solidFill>
                  <a:srgbClr val="1B7F4B"/>
                </a:solidFill>
                <a:latin typeface="Lato"/>
                <a:ea typeface="Lato"/>
                <a:cs typeface="Lato"/>
              </a:defRPr>
            </a:pPr>
            <a:r>
              <a:rPr sz="975" b="1">
                <a:solidFill>
                  <a:srgbClr val="1B7F4B"/>
                </a:solidFill>
                <a:latin typeface="Lato"/>
                <a:ea typeface="Lato"/>
                <a:cs typeface="Lato"/>
              </a:rPr>
              <a:t>FLAN-T5</a:t>
            </a:r>
          </a:p>
        </p:txBody>
      </p:sp>
      <p:sp>
        <p:nvSpPr>
          <p:cNvPr id="13" name="headline-FLAN-T5">
            <a:extLst>
              <a:ext uri="{FF2B5EF4-FFF2-40B4-BE49-F238E27FC236}">
                <a16:creationId xmlns:a16="http://schemas.microsoft.com/office/drawing/2014/main" id="{A2DFEF29-323C-441E-B71E-0F86B2B8A3FC}"/>
              </a:ext>
            </a:extLst>
          </p:cNvPr>
          <p:cNvSpPr>
            <a:spLocks noGrp="1"/>
          </p:cNvSpPr>
          <p:nvPr/>
        </p:nvSpPr>
        <p:spPr>
          <a:xfrm>
            <a:off x="5762625" y="3886200"/>
            <a:ext cx="252412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Vẫn tăng ở epoch 20</a:t>
            </a:r>
          </a:p>
        </p:txBody>
      </p:sp>
      <p:sp>
        <p:nvSpPr>
          <p:cNvPr id="14" name="body-FLAN-T5">
            <a:extLst>
              <a:ext uri="{FF2B5EF4-FFF2-40B4-BE49-F238E27FC236}">
                <a16:creationId xmlns:a16="http://schemas.microsoft.com/office/drawing/2014/main" id="{3F281FF6-4CFA-4BD3-B7F6-6976D9DD7F65}"/>
              </a:ext>
            </a:extLst>
          </p:cNvPr>
          <p:cNvSpPr>
            <a:spLocks noGrp="1"/>
          </p:cNvSpPr>
          <p:nvPr/>
        </p:nvSpPr>
        <p:spPr>
          <a:xfrm>
            <a:off x="5762625" y="4552043"/>
            <a:ext cx="2524125" cy="885825"/>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r>
              <a:rPr lang="vi-VN" sz="1250" dirty="0">
                <a:solidFill>
                  <a:srgbClr val="666666"/>
                </a:solidFill>
                <a:latin typeface="Lato"/>
                <a:ea typeface="Lato"/>
                <a:cs typeface="Lato"/>
              </a:rPr>
              <a:t>Đường lr=3e-4 tiếp tục đi lên. Kết quả thấp chưa đủ để kết luận kiến trúc kém phù hợp; cần thêm epoch và tuning có kiểm soát.</a:t>
            </a:r>
          </a:p>
        </p:txBody>
      </p:sp>
      <p:pic>
        <p:nvPicPr>
          <p:cNvPr id="3" name="Picture 2">
            <a:extLst>
              <a:ext uri="{FF2B5EF4-FFF2-40B4-BE49-F238E27FC236}">
                <a16:creationId xmlns:a16="http://schemas.microsoft.com/office/drawing/2014/main" id="{A55EE329-23D1-AC39-5783-4CBC45917FDC}"/>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4807" y="2138092"/>
            <a:ext cx="5662568" cy="2854606"/>
          </a:xfrm>
          <a:prstGeom prst="rect">
            <a:avLst/>
          </a:prstGeom>
        </p:spPr>
      </p:pic>
    </p:spTree>
    <p:extLst>
      <p:ext uri="{BB962C8B-B14F-4D97-AF65-F5344CB8AC3E}">
        <p14:creationId xmlns:p14="http://schemas.microsoft.com/office/powerpoint/2010/main" val="64084651"/>
      </p:ext>
    </p:extLst>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lIns="91440" tIns="45720" rIns="91440" bIns="45720" anchor="t"/>
          <a:lstStyle/>
          <a:p>
            <a:r>
              <a:rPr lang="vi-VN"/>
              <a:t>7</a:t>
            </a:r>
            <a:r>
              <a:t>. </a:t>
            </a:r>
            <a:r>
              <a:rPr err="1"/>
              <a:t>Tổng</a:t>
            </a:r>
            <a:r>
              <a:t> </a:t>
            </a:r>
            <a:r>
              <a:rPr err="1"/>
              <a:t>hợp</a:t>
            </a:r>
            <a:r>
              <a:t> aspect &amp; reason</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idx="12"/>
          </p:nvPr>
        </p:nvSpPr>
        <p:spPr>
          <a:xfrm>
            <a:off x="6867430" y="6491288"/>
            <a:ext cx="2057400" cy="361950"/>
          </a:xfrm>
        </p:spPr>
        <p:txBody>
          <a:bodyPr/>
          <a:lstStyle/>
          <a:p>
            <a:fld id="{BA58DA2A-B818-18A9-29C1-B697728D5BCE}" type="slidenum">
              <a:rPr/>
              <a:t>11</a:t>
            </a:fld>
            <a:endParaRPr/>
          </a:p>
        </p:txBody>
      </p:sp>
      <p:sp>
        <p:nvSpPr>
          <p:cNvPr id="6" name="metric-đồng thuận sentiment chủ đạo">
            <a:extLst>
              <a:ext uri="{FF2B5EF4-FFF2-40B4-BE49-F238E27FC236}">
                <a16:creationId xmlns:a16="http://schemas.microsoft.com/office/drawing/2014/main" id="{390E6C58-FF25-4855-AD9F-F53755ADEEF5}"/>
              </a:ext>
            </a:extLst>
          </p:cNvPr>
          <p:cNvSpPr>
            <a:spLocks noGrp="1"/>
          </p:cNvSpPr>
          <p:nvPr/>
        </p:nvSpPr>
        <p:spPr>
          <a:xfrm>
            <a:off x="714375" y="1571625"/>
            <a:ext cx="3238500"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7" name="metric-value-đồng thuận sentiment chủ đạo">
            <a:extLst>
              <a:ext uri="{FF2B5EF4-FFF2-40B4-BE49-F238E27FC236}">
                <a16:creationId xmlns:a16="http://schemas.microsoft.com/office/drawing/2014/main" id="{D8653393-0951-4276-B4C3-8A298B6881FF}"/>
              </a:ext>
            </a:extLst>
          </p:cNvPr>
          <p:cNvSpPr>
            <a:spLocks noGrp="1"/>
          </p:cNvSpPr>
          <p:nvPr/>
        </p:nvSpPr>
        <p:spPr>
          <a:xfrm>
            <a:off x="809625" y="1685925"/>
            <a:ext cx="3048000" cy="495300"/>
          </a:xfrm>
          <a:prstGeom prst="rect">
            <a:avLst/>
          </a:prstGeom>
          <a:noFill/>
          <a:ln w="0">
            <a:noFill/>
            <a:prstDash val="solid"/>
          </a:ln>
        </p:spPr>
        <p:txBody>
          <a:bodyPr anchor="ctr"/>
          <a:lstStyle/>
          <a:p>
            <a:pPr algn="ctr">
              <a:defRPr sz="2700" b="1">
                <a:solidFill>
                  <a:srgbClr val="1B7F4B"/>
                </a:solidFill>
                <a:latin typeface="Lato"/>
                <a:ea typeface="Lato"/>
                <a:cs typeface="Lato"/>
              </a:defRPr>
            </a:pPr>
            <a:r>
              <a:rPr sz="2700" b="1">
                <a:solidFill>
                  <a:srgbClr val="1B7F4B"/>
                </a:solidFill>
                <a:latin typeface="Lato"/>
                <a:ea typeface="Lato"/>
                <a:cs typeface="Lato"/>
              </a:rPr>
              <a:t>97,25%</a:t>
            </a:r>
          </a:p>
        </p:txBody>
      </p:sp>
      <p:sp>
        <p:nvSpPr>
          <p:cNvPr id="8" name="metric-label-đồng thuận sentiment chủ đạo">
            <a:extLst>
              <a:ext uri="{FF2B5EF4-FFF2-40B4-BE49-F238E27FC236}">
                <a16:creationId xmlns:a16="http://schemas.microsoft.com/office/drawing/2014/main" id="{26411D4B-2119-4B8D-A5E6-50B0AD8D756A}"/>
              </a:ext>
            </a:extLst>
          </p:cNvPr>
          <p:cNvSpPr>
            <a:spLocks noGrp="1"/>
          </p:cNvSpPr>
          <p:nvPr/>
        </p:nvSpPr>
        <p:spPr>
          <a:xfrm>
            <a:off x="847725" y="2209800"/>
            <a:ext cx="2971800"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đồng thuận sentiment chủ đạo</a:t>
            </a:r>
          </a:p>
        </p:txBody>
      </p:sp>
      <p:sp>
        <p:nvSpPr>
          <p:cNvPr id="9" name="card-Aspect: food">
            <a:extLst>
              <a:ext uri="{FF2B5EF4-FFF2-40B4-BE49-F238E27FC236}">
                <a16:creationId xmlns:a16="http://schemas.microsoft.com/office/drawing/2014/main" id="{8A511AC0-9AF5-4754-9FC2-790BCAEEF2EB}"/>
              </a:ext>
            </a:extLst>
          </p:cNvPr>
          <p:cNvSpPr>
            <a:spLocks noGrp="1"/>
          </p:cNvSpPr>
          <p:nvPr/>
        </p:nvSpPr>
        <p:spPr>
          <a:xfrm>
            <a:off x="533400" y="2952750"/>
            <a:ext cx="3886200" cy="2619375"/>
          </a:xfrm>
          <a:prstGeom prst="roundRect">
            <a:avLst>
              <a:gd name="adj" fmla="val 5091"/>
            </a:avLst>
          </a:prstGeom>
          <a:noFill/>
          <a:ln w="11430">
            <a:solidFill>
              <a:srgbClr val="E2D6D6"/>
            </a:solidFill>
            <a:prstDash val="solid"/>
          </a:ln>
        </p:spPr>
        <p:txBody>
          <a:bodyPr/>
          <a:lstStyle/>
          <a:p>
            <a:endParaRPr lang="en-VN"/>
          </a:p>
        </p:txBody>
      </p:sp>
      <p:sp>
        <p:nvSpPr>
          <p:cNvPr id="10" name="eyebrow-Aspect: food">
            <a:extLst>
              <a:ext uri="{FF2B5EF4-FFF2-40B4-BE49-F238E27FC236}">
                <a16:creationId xmlns:a16="http://schemas.microsoft.com/office/drawing/2014/main" id="{A11C2450-6023-4DCC-A1EE-54516D7AD179}"/>
              </a:ext>
            </a:extLst>
          </p:cNvPr>
          <p:cNvSpPr>
            <a:spLocks noGrp="1"/>
          </p:cNvSpPr>
          <p:nvPr/>
        </p:nvSpPr>
        <p:spPr>
          <a:xfrm>
            <a:off x="723900" y="3105150"/>
            <a:ext cx="350520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ASPECT: FOOD</a:t>
            </a:r>
          </a:p>
        </p:txBody>
      </p:sp>
      <p:sp>
        <p:nvSpPr>
          <p:cNvPr id="11" name="headline-Aspect: food">
            <a:extLst>
              <a:ext uri="{FF2B5EF4-FFF2-40B4-BE49-F238E27FC236}">
                <a16:creationId xmlns:a16="http://schemas.microsoft.com/office/drawing/2014/main" id="{0652B240-0AC2-47CF-AE1E-F9FA70799A12}"/>
              </a:ext>
            </a:extLst>
          </p:cNvPr>
          <p:cNvSpPr>
            <a:spLocks noGrp="1"/>
          </p:cNvSpPr>
          <p:nvPr/>
        </p:nvSpPr>
        <p:spPr>
          <a:xfrm>
            <a:off x="723900" y="3409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827 lượt nhắc • 621 tích cực • 164 tiêu cực</a:t>
            </a:r>
          </a:p>
        </p:txBody>
      </p:sp>
      <p:sp>
        <p:nvSpPr>
          <p:cNvPr id="12" name="body-Aspect: food">
            <a:extLst>
              <a:ext uri="{FF2B5EF4-FFF2-40B4-BE49-F238E27FC236}">
                <a16:creationId xmlns:a16="http://schemas.microsoft.com/office/drawing/2014/main" id="{953F4505-B3E9-41EB-8641-67C6AF13084A}"/>
              </a:ext>
            </a:extLst>
          </p:cNvPr>
          <p:cNvSpPr>
            <a:spLocks noGrp="1"/>
          </p:cNvSpPr>
          <p:nvPr/>
        </p:nvSpPr>
        <p:spPr>
          <a:xfrm>
            <a:off x="723900" y="4133850"/>
            <a:ext cx="3505200" cy="1266825"/>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Lý do tích cực nổi bật: great (109), good (100), delicious (39), excellent (37).</a:t>
            </a:r>
          </a:p>
          <a:p>
            <a:pPr>
              <a:defRPr sz="1275">
                <a:solidFill>
                  <a:srgbClr val="666666"/>
                </a:solidFill>
                <a:latin typeface="Lato"/>
                <a:ea typeface="Lato"/>
                <a:cs typeface="Lato"/>
              </a:defRPr>
            </a:pPr>
            <a:r>
              <a:rPr sz="1275">
                <a:solidFill>
                  <a:srgbClr val="666666"/>
                </a:solidFill>
                <a:latin typeface="Lato"/>
                <a:ea typeface="Lato"/>
                <a:cs typeface="Lato"/>
              </a:rPr>
              <a:t>Lý do tiêu cực: mediocre (10), bad (7), overpriced (5).</a:t>
            </a:r>
          </a:p>
        </p:txBody>
      </p:sp>
      <p:sp>
        <p:nvSpPr>
          <p:cNvPr id="13" name="card-Giá trị bổ sung">
            <a:extLst>
              <a:ext uri="{FF2B5EF4-FFF2-40B4-BE49-F238E27FC236}">
                <a16:creationId xmlns:a16="http://schemas.microsoft.com/office/drawing/2014/main" id="{4DA4E37E-5805-4948-B5E1-43FB8115FF31}"/>
              </a:ext>
            </a:extLst>
          </p:cNvPr>
          <p:cNvSpPr>
            <a:spLocks noGrp="1"/>
          </p:cNvSpPr>
          <p:nvPr/>
        </p:nvSpPr>
        <p:spPr>
          <a:xfrm>
            <a:off x="4762500" y="1571625"/>
            <a:ext cx="3695700" cy="4000500"/>
          </a:xfrm>
          <a:prstGeom prst="roundRect">
            <a:avLst>
              <a:gd name="adj" fmla="val 3608"/>
            </a:avLst>
          </a:prstGeom>
          <a:noFill/>
          <a:ln w="11430">
            <a:solidFill>
              <a:srgbClr val="E2D6D6"/>
            </a:solidFill>
            <a:prstDash val="solid"/>
          </a:ln>
        </p:spPr>
        <p:txBody>
          <a:bodyPr/>
          <a:lstStyle/>
          <a:p>
            <a:endParaRPr lang="en-VN"/>
          </a:p>
        </p:txBody>
      </p:sp>
      <p:sp>
        <p:nvSpPr>
          <p:cNvPr id="14" name="eyebrow-Giá trị bổ sung">
            <a:extLst>
              <a:ext uri="{FF2B5EF4-FFF2-40B4-BE49-F238E27FC236}">
                <a16:creationId xmlns:a16="http://schemas.microsoft.com/office/drawing/2014/main" id="{607FDA44-D8AC-4659-B7F4-71083A7A84FB}"/>
              </a:ext>
            </a:extLst>
          </p:cNvPr>
          <p:cNvSpPr>
            <a:spLocks noGrp="1"/>
          </p:cNvSpPr>
          <p:nvPr/>
        </p:nvSpPr>
        <p:spPr>
          <a:xfrm>
            <a:off x="4953000" y="1724025"/>
            <a:ext cx="33147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GIÁ TRỊ BỔ SUNG</a:t>
            </a:r>
          </a:p>
        </p:txBody>
      </p:sp>
      <p:sp>
        <p:nvSpPr>
          <p:cNvPr id="15" name="headline-Giá trị bổ sung">
            <a:extLst>
              <a:ext uri="{FF2B5EF4-FFF2-40B4-BE49-F238E27FC236}">
                <a16:creationId xmlns:a16="http://schemas.microsoft.com/office/drawing/2014/main" id="{2B52BED1-6B51-468C-99E8-10F73C13B2BA}"/>
              </a:ext>
            </a:extLst>
          </p:cNvPr>
          <p:cNvSpPr>
            <a:spLocks noGrp="1"/>
          </p:cNvSpPr>
          <p:nvPr/>
        </p:nvSpPr>
        <p:spPr>
          <a:xfrm>
            <a:off x="4953000" y="2028825"/>
            <a:ext cx="33147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Không chỉ biết “positive/negative”</a:t>
            </a:r>
          </a:p>
        </p:txBody>
      </p:sp>
      <p:sp>
        <p:nvSpPr>
          <p:cNvPr id="16" name="body-Giá trị bổ sung">
            <a:extLst>
              <a:ext uri="{FF2B5EF4-FFF2-40B4-BE49-F238E27FC236}">
                <a16:creationId xmlns:a16="http://schemas.microsoft.com/office/drawing/2014/main" id="{A1C9029D-8D0A-4F14-9CE4-06A85CBAEC21}"/>
              </a:ext>
            </a:extLst>
          </p:cNvPr>
          <p:cNvSpPr>
            <a:spLocks noGrp="1"/>
          </p:cNvSpPr>
          <p:nvPr/>
        </p:nvSpPr>
        <p:spPr>
          <a:xfrm>
            <a:off x="4953000" y="2752725"/>
            <a:ext cx="3314700" cy="2647950"/>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r>
              <a:rPr lang="en-US" sz="1300" err="1">
                <a:solidFill>
                  <a:srgbClr val="666666"/>
                </a:solidFill>
                <a:latin typeface="Lato"/>
                <a:ea typeface="Lato"/>
                <a:cs typeface="Lato"/>
              </a:rPr>
              <a:t>Gom</a:t>
            </a:r>
            <a:r>
              <a:rPr lang="en-US" sz="1300">
                <a:solidFill>
                  <a:srgbClr val="666666"/>
                </a:solidFill>
                <a:latin typeface="Lato"/>
                <a:ea typeface="Lato"/>
                <a:cs typeface="Lato"/>
              </a:rPr>
              <a:t> </a:t>
            </a:r>
            <a:r>
              <a:rPr lang="en-US" sz="1300" err="1">
                <a:solidFill>
                  <a:srgbClr val="666666"/>
                </a:solidFill>
                <a:latin typeface="Lato"/>
                <a:ea typeface="Lato"/>
                <a:cs typeface="Lato"/>
              </a:rPr>
              <a:t>nhóm</a:t>
            </a:r>
            <a:r>
              <a:rPr lang="en-US" sz="1300">
                <a:solidFill>
                  <a:srgbClr val="666666"/>
                </a:solidFill>
                <a:latin typeface="Lato"/>
                <a:ea typeface="Lato"/>
                <a:cs typeface="Lato"/>
              </a:rPr>
              <a:t> </a:t>
            </a:r>
            <a:r>
              <a:rPr lang="en-US" sz="1300" err="1">
                <a:solidFill>
                  <a:srgbClr val="666666"/>
                </a:solidFill>
                <a:latin typeface="Lato"/>
                <a:ea typeface="Lato"/>
                <a:cs typeface="Lato"/>
              </a:rPr>
              <a:t>theo</a:t>
            </a:r>
            <a:r>
              <a:rPr lang="en-US" sz="1300">
                <a:solidFill>
                  <a:srgbClr val="666666"/>
                </a:solidFill>
                <a:latin typeface="Lato"/>
                <a:ea typeface="Lato"/>
                <a:cs typeface="Lato"/>
              </a:rPr>
              <a:t> aspect → </a:t>
            </a:r>
            <a:r>
              <a:rPr lang="en-US" sz="1300" err="1">
                <a:solidFill>
                  <a:srgbClr val="666666"/>
                </a:solidFill>
                <a:latin typeface="Lato"/>
                <a:ea typeface="Lato"/>
                <a:cs typeface="Lato"/>
              </a:rPr>
              <a:t>đếm</a:t>
            </a:r>
            <a:r>
              <a:rPr lang="en-US" sz="1300">
                <a:solidFill>
                  <a:srgbClr val="666666"/>
                </a:solidFill>
                <a:latin typeface="Lato"/>
                <a:ea typeface="Lato"/>
                <a:cs typeface="Lato"/>
              </a:rPr>
              <a:t> positive/negative/neutral → </a:t>
            </a:r>
            <a:r>
              <a:rPr lang="en-US" sz="1300" err="1">
                <a:solidFill>
                  <a:srgbClr val="666666"/>
                </a:solidFill>
                <a:latin typeface="Lato"/>
                <a:ea typeface="Lato"/>
                <a:cs typeface="Lato"/>
              </a:rPr>
              <a:t>chọn</a:t>
            </a:r>
            <a:r>
              <a:rPr lang="en-US" sz="1300">
                <a:solidFill>
                  <a:srgbClr val="666666"/>
                </a:solidFill>
                <a:latin typeface="Lato"/>
                <a:ea typeface="Lato"/>
                <a:cs typeface="Lato"/>
              </a:rPr>
              <a:t> majority sentiment → </a:t>
            </a:r>
            <a:r>
              <a:rPr lang="en-US" sz="1300" err="1">
                <a:solidFill>
                  <a:srgbClr val="666666"/>
                </a:solidFill>
                <a:latin typeface="Lato"/>
                <a:ea typeface="Lato"/>
                <a:cs typeface="Lato"/>
              </a:rPr>
              <a:t>xếp</a:t>
            </a:r>
            <a:r>
              <a:rPr lang="en-US" sz="1300">
                <a:solidFill>
                  <a:srgbClr val="666666"/>
                </a:solidFill>
                <a:latin typeface="Lato"/>
                <a:ea typeface="Lato"/>
                <a:cs typeface="Lato"/>
              </a:rPr>
              <a:t> </a:t>
            </a:r>
            <a:r>
              <a:rPr lang="en-US" sz="1300" err="1">
                <a:solidFill>
                  <a:srgbClr val="666666"/>
                </a:solidFill>
                <a:latin typeface="Lato"/>
                <a:ea typeface="Lato"/>
                <a:cs typeface="Lato"/>
              </a:rPr>
              <a:t>hạng</a:t>
            </a:r>
            <a:r>
              <a:rPr lang="en-US" sz="1300">
                <a:solidFill>
                  <a:srgbClr val="666666"/>
                </a:solidFill>
                <a:latin typeface="Lato"/>
                <a:ea typeface="Lato"/>
                <a:cs typeface="Lato"/>
              </a:rPr>
              <a:t> opinion </a:t>
            </a:r>
            <a:r>
              <a:rPr lang="en-US" sz="1300" err="1">
                <a:solidFill>
                  <a:srgbClr val="666666"/>
                </a:solidFill>
                <a:latin typeface="Lato"/>
                <a:ea typeface="Lato"/>
                <a:cs typeface="Lato"/>
              </a:rPr>
              <a:t>và</a:t>
            </a:r>
            <a:r>
              <a:rPr lang="en-US" sz="1300">
                <a:solidFill>
                  <a:srgbClr val="666666"/>
                </a:solidFill>
                <a:latin typeface="Lato"/>
                <a:ea typeface="Lato"/>
                <a:cs typeface="Lato"/>
              </a:rPr>
              <a:t> </a:t>
            </a:r>
            <a:r>
              <a:rPr lang="en-US" sz="1300" err="1">
                <a:solidFill>
                  <a:srgbClr val="666666"/>
                </a:solidFill>
                <a:latin typeface="Lato"/>
                <a:ea typeface="Lato"/>
                <a:cs typeface="Lato"/>
              </a:rPr>
              <a:t>giữ</a:t>
            </a:r>
            <a:r>
              <a:rPr lang="en-US" sz="1300">
                <a:solidFill>
                  <a:srgbClr val="666666"/>
                </a:solidFill>
                <a:latin typeface="Lato"/>
                <a:ea typeface="Lato"/>
                <a:cs typeface="Lato"/>
              </a:rPr>
              <a:t> top-10 reason </a:t>
            </a:r>
            <a:r>
              <a:rPr lang="en-US" sz="1300" err="1">
                <a:solidFill>
                  <a:srgbClr val="666666"/>
                </a:solidFill>
                <a:latin typeface="Lato"/>
                <a:ea typeface="Lato"/>
                <a:cs typeface="Lato"/>
              </a:rPr>
              <a:t>cho</a:t>
            </a:r>
            <a:r>
              <a:rPr lang="en-US" sz="1300">
                <a:solidFill>
                  <a:srgbClr val="666666"/>
                </a:solidFill>
                <a:latin typeface="Lato"/>
                <a:ea typeface="Lato"/>
                <a:cs typeface="Lato"/>
              </a:rPr>
              <a:t> </a:t>
            </a:r>
            <a:r>
              <a:rPr lang="en-US" sz="1300" err="1">
                <a:solidFill>
                  <a:srgbClr val="666666"/>
                </a:solidFill>
                <a:latin typeface="Lato"/>
                <a:ea typeface="Lato"/>
                <a:cs typeface="Lato"/>
              </a:rPr>
              <a:t>từng</a:t>
            </a:r>
            <a:r>
              <a:rPr lang="en-US" sz="1300">
                <a:solidFill>
                  <a:srgbClr val="666666"/>
                </a:solidFill>
                <a:latin typeface="Lato"/>
                <a:ea typeface="Lato"/>
                <a:cs typeface="Lato"/>
              </a:rPr>
              <a:t> sentiment.</a:t>
            </a:r>
          </a:p>
          <a:p>
            <a:pPr>
              <a:defRPr sz="1275">
                <a:solidFill>
                  <a:srgbClr val="666666"/>
                </a:solidFill>
                <a:latin typeface="Lato"/>
                <a:ea typeface="Lato"/>
                <a:cs typeface="Lato"/>
              </a:defRPr>
            </a:pPr>
            <a:endParaRPr lang="en-US" sz="1300">
              <a:solidFill>
                <a:srgbClr val="666666"/>
              </a:solidFill>
              <a:latin typeface="Lato"/>
              <a:ea typeface="Lato"/>
              <a:cs typeface="Lato"/>
            </a:endParaRPr>
          </a:p>
          <a:p>
            <a:pPr>
              <a:defRPr sz="1275">
                <a:solidFill>
                  <a:srgbClr val="666666"/>
                </a:solidFill>
                <a:latin typeface="Lato"/>
                <a:ea typeface="Lato"/>
                <a:cs typeface="Lato"/>
              </a:defRPr>
            </a:pPr>
            <a:r>
              <a:rPr lang="en-US" sz="1300">
                <a:solidFill>
                  <a:srgbClr val="666666"/>
                </a:solidFill>
                <a:latin typeface="Lato"/>
                <a:ea typeface="Lato"/>
                <a:cs typeface="Lato"/>
              </a:rPr>
              <a:t>Logic </a:t>
            </a:r>
            <a:r>
              <a:rPr lang="en-US" sz="1300" err="1">
                <a:solidFill>
                  <a:srgbClr val="666666"/>
                </a:solidFill>
                <a:latin typeface="Lato"/>
                <a:ea typeface="Lato"/>
                <a:cs typeface="Lato"/>
              </a:rPr>
              <a:t>chạy</a:t>
            </a:r>
            <a:r>
              <a:rPr lang="en-US" sz="1300">
                <a:solidFill>
                  <a:srgbClr val="666666"/>
                </a:solidFill>
                <a:latin typeface="Lato"/>
                <a:ea typeface="Lato"/>
                <a:cs typeface="Lato"/>
              </a:rPr>
              <a:t> CPU, </a:t>
            </a:r>
            <a:r>
              <a:rPr lang="en-US" sz="1300" err="1">
                <a:solidFill>
                  <a:srgbClr val="666666"/>
                </a:solidFill>
                <a:latin typeface="Lato"/>
                <a:ea typeface="Lato"/>
                <a:cs typeface="Lato"/>
              </a:rPr>
              <a:t>được</a:t>
            </a:r>
            <a:r>
              <a:rPr lang="en-US" sz="1300">
                <a:solidFill>
                  <a:srgbClr val="666666"/>
                </a:solidFill>
                <a:latin typeface="Lato"/>
                <a:ea typeface="Lato"/>
                <a:cs typeface="Lato"/>
              </a:rPr>
              <a:t> </a:t>
            </a:r>
            <a:r>
              <a:rPr lang="en-US" sz="1300" err="1">
                <a:solidFill>
                  <a:srgbClr val="666666"/>
                </a:solidFill>
                <a:latin typeface="Lato"/>
                <a:ea typeface="Lato"/>
                <a:cs typeface="Lato"/>
              </a:rPr>
              <a:t>tách</a:t>
            </a:r>
            <a:r>
              <a:rPr lang="en-US" sz="1300">
                <a:solidFill>
                  <a:srgbClr val="666666"/>
                </a:solidFill>
                <a:latin typeface="Lato"/>
                <a:ea typeface="Lato"/>
                <a:cs typeface="Lato"/>
              </a:rPr>
              <a:t> </a:t>
            </a:r>
            <a:r>
              <a:rPr lang="en-US" sz="1300" err="1">
                <a:solidFill>
                  <a:srgbClr val="666666"/>
                </a:solidFill>
                <a:latin typeface="Lato"/>
                <a:ea typeface="Lato"/>
                <a:cs typeface="Lato"/>
              </a:rPr>
              <a:t>thành</a:t>
            </a:r>
            <a:r>
              <a:rPr lang="en-US" sz="1300">
                <a:solidFill>
                  <a:srgbClr val="666666"/>
                </a:solidFill>
                <a:latin typeface="Lato"/>
                <a:ea typeface="Lato"/>
                <a:cs typeface="Lato"/>
              </a:rPr>
              <a:t> module </a:t>
            </a:r>
            <a:r>
              <a:rPr lang="en-US" sz="1300" err="1">
                <a:solidFill>
                  <a:srgbClr val="666666"/>
                </a:solidFill>
                <a:latin typeface="Lato"/>
                <a:ea typeface="Lato"/>
                <a:cs typeface="Lato"/>
              </a:rPr>
              <a:t>có</a:t>
            </a:r>
            <a:r>
              <a:rPr lang="en-US" sz="1300">
                <a:solidFill>
                  <a:srgbClr val="666666"/>
                </a:solidFill>
                <a:latin typeface="Lato"/>
                <a:ea typeface="Lato"/>
                <a:cs typeface="Lato"/>
              </a:rPr>
              <a:t> </a:t>
            </a:r>
            <a:r>
              <a:rPr lang="en-US" sz="1300" err="1">
                <a:solidFill>
                  <a:srgbClr val="666666"/>
                </a:solidFill>
                <a:latin typeface="Lato"/>
                <a:ea typeface="Lato"/>
                <a:cs typeface="Lato"/>
              </a:rPr>
              <a:t>kiểm</a:t>
            </a:r>
            <a:r>
              <a:rPr lang="en-US" sz="1300">
                <a:solidFill>
                  <a:srgbClr val="666666"/>
                </a:solidFill>
                <a:latin typeface="Lato"/>
                <a:ea typeface="Lato"/>
                <a:cs typeface="Lato"/>
              </a:rPr>
              <a:t> </a:t>
            </a:r>
            <a:r>
              <a:rPr lang="en-US" sz="1300" err="1">
                <a:solidFill>
                  <a:srgbClr val="666666"/>
                </a:solidFill>
                <a:latin typeface="Lato"/>
                <a:ea typeface="Lato"/>
                <a:cs typeface="Lato"/>
              </a:rPr>
              <a:t>thử</a:t>
            </a:r>
            <a:r>
              <a:rPr lang="en-US" sz="1300">
                <a:solidFill>
                  <a:srgbClr val="666666"/>
                </a:solidFill>
                <a:latin typeface="Lato"/>
                <a:ea typeface="Lato"/>
                <a:cs typeface="Lato"/>
              </a:rPr>
              <a:t>; </a:t>
            </a:r>
            <a:r>
              <a:rPr lang="en-US" sz="1300" err="1">
                <a:solidFill>
                  <a:srgbClr val="666666"/>
                </a:solidFill>
                <a:latin typeface="Lato"/>
                <a:ea typeface="Lato"/>
                <a:cs typeface="Lato"/>
              </a:rPr>
              <a:t>cùng</a:t>
            </a:r>
            <a:r>
              <a:rPr lang="en-US" sz="1300">
                <a:solidFill>
                  <a:srgbClr val="666666"/>
                </a:solidFill>
                <a:latin typeface="Lato"/>
                <a:ea typeface="Lato"/>
                <a:cs typeface="Lato"/>
              </a:rPr>
              <a:t> </a:t>
            </a:r>
            <a:r>
              <a:rPr lang="en-US" sz="1300" err="1">
                <a:solidFill>
                  <a:srgbClr val="666666"/>
                </a:solidFill>
                <a:latin typeface="Lato"/>
                <a:ea typeface="Lato"/>
                <a:cs typeface="Lato"/>
              </a:rPr>
              <a:t>một</a:t>
            </a:r>
            <a:r>
              <a:rPr lang="en-US" sz="1300">
                <a:solidFill>
                  <a:srgbClr val="666666"/>
                </a:solidFill>
                <a:latin typeface="Lato"/>
                <a:ea typeface="Lato"/>
                <a:cs typeface="Lato"/>
              </a:rPr>
              <a:t> </a:t>
            </a:r>
            <a:r>
              <a:rPr lang="en-US" sz="1300" err="1">
                <a:solidFill>
                  <a:srgbClr val="666666"/>
                </a:solidFill>
                <a:latin typeface="Lato"/>
                <a:ea typeface="Lato"/>
                <a:cs typeface="Lato"/>
              </a:rPr>
              <a:t>bảng</a:t>
            </a:r>
            <a:r>
              <a:rPr lang="en-US" sz="1300">
                <a:solidFill>
                  <a:srgbClr val="666666"/>
                </a:solidFill>
                <a:latin typeface="Lato"/>
                <a:ea typeface="Lato"/>
                <a:cs typeface="Lato"/>
              </a:rPr>
              <a:t> </a:t>
            </a:r>
            <a:r>
              <a:rPr lang="en-US" sz="1300" err="1">
                <a:solidFill>
                  <a:srgbClr val="666666"/>
                </a:solidFill>
                <a:latin typeface="Lato"/>
                <a:ea typeface="Lato"/>
                <a:cs typeface="Lato"/>
              </a:rPr>
              <a:t>vừa</a:t>
            </a:r>
            <a:r>
              <a:rPr lang="en-US" sz="1300">
                <a:solidFill>
                  <a:srgbClr val="666666"/>
                </a:solidFill>
                <a:latin typeface="Lato"/>
                <a:ea typeface="Lato"/>
                <a:cs typeface="Lato"/>
              </a:rPr>
              <a:t> </a:t>
            </a:r>
            <a:r>
              <a:rPr lang="en-US" sz="1300" err="1">
                <a:solidFill>
                  <a:srgbClr val="666666"/>
                </a:solidFill>
                <a:latin typeface="Lato"/>
                <a:ea typeface="Lato"/>
                <a:cs typeface="Lato"/>
              </a:rPr>
              <a:t>cấp</a:t>
            </a:r>
            <a:r>
              <a:rPr lang="en-US" sz="1300">
                <a:solidFill>
                  <a:srgbClr val="666666"/>
                </a:solidFill>
                <a:latin typeface="Lato"/>
                <a:ea typeface="Lato"/>
                <a:cs typeface="Lato"/>
              </a:rPr>
              <a:t> </a:t>
            </a:r>
            <a:r>
              <a:rPr lang="en-US" sz="1300" err="1">
                <a:solidFill>
                  <a:srgbClr val="666666"/>
                </a:solidFill>
                <a:latin typeface="Lato"/>
                <a:ea typeface="Lato"/>
                <a:cs typeface="Lato"/>
              </a:rPr>
              <a:t>dữ</a:t>
            </a:r>
            <a:r>
              <a:rPr lang="en-US" sz="1300">
                <a:solidFill>
                  <a:srgbClr val="666666"/>
                </a:solidFill>
                <a:latin typeface="Lato"/>
                <a:ea typeface="Lato"/>
                <a:cs typeface="Lato"/>
              </a:rPr>
              <a:t> </a:t>
            </a:r>
            <a:r>
              <a:rPr lang="en-US" sz="1300" err="1">
                <a:solidFill>
                  <a:srgbClr val="666666"/>
                </a:solidFill>
                <a:latin typeface="Lato"/>
                <a:ea typeface="Lato"/>
                <a:cs typeface="Lato"/>
              </a:rPr>
              <a:t>liệu</a:t>
            </a:r>
            <a:r>
              <a:rPr lang="en-US" sz="1300">
                <a:solidFill>
                  <a:srgbClr val="666666"/>
                </a:solidFill>
                <a:latin typeface="Lato"/>
                <a:ea typeface="Lato"/>
                <a:cs typeface="Lato"/>
              </a:rPr>
              <a:t> </a:t>
            </a:r>
            <a:r>
              <a:rPr lang="en-US" sz="1300" err="1">
                <a:solidFill>
                  <a:srgbClr val="666666"/>
                </a:solidFill>
                <a:latin typeface="Lato"/>
                <a:ea typeface="Lato"/>
                <a:cs typeface="Lato"/>
              </a:rPr>
              <a:t>cho</a:t>
            </a:r>
            <a:r>
              <a:rPr lang="en-US" sz="1300">
                <a:solidFill>
                  <a:srgbClr val="666666"/>
                </a:solidFill>
                <a:latin typeface="Lato"/>
                <a:ea typeface="Lato"/>
                <a:cs typeface="Lato"/>
              </a:rPr>
              <a:t> FLAN-T5, </a:t>
            </a:r>
            <a:r>
              <a:rPr lang="en-US" sz="1300" err="1">
                <a:solidFill>
                  <a:srgbClr val="666666"/>
                </a:solidFill>
                <a:latin typeface="Lato"/>
                <a:ea typeface="Lato"/>
                <a:cs typeface="Lato"/>
              </a:rPr>
              <a:t>vừa</a:t>
            </a:r>
            <a:r>
              <a:rPr lang="en-US" sz="1300">
                <a:solidFill>
                  <a:srgbClr val="666666"/>
                </a:solidFill>
                <a:latin typeface="Lato"/>
                <a:ea typeface="Lato"/>
                <a:cs typeface="Lato"/>
              </a:rPr>
              <a:t> </a:t>
            </a:r>
            <a:r>
              <a:rPr lang="en-US" sz="1300" err="1">
                <a:solidFill>
                  <a:srgbClr val="666666"/>
                </a:solidFill>
                <a:latin typeface="Lato"/>
                <a:ea typeface="Lato"/>
                <a:cs typeface="Lato"/>
              </a:rPr>
              <a:t>là</a:t>
            </a:r>
            <a:r>
              <a:rPr lang="en-US" sz="1300">
                <a:solidFill>
                  <a:srgbClr val="666666"/>
                </a:solidFill>
                <a:latin typeface="Lato"/>
                <a:ea typeface="Lato"/>
                <a:cs typeface="Lato"/>
              </a:rPr>
              <a:t> </a:t>
            </a:r>
            <a:r>
              <a:rPr lang="en-US" sz="1300" err="1">
                <a:solidFill>
                  <a:srgbClr val="666666"/>
                </a:solidFill>
                <a:latin typeface="Lato"/>
                <a:ea typeface="Lato"/>
                <a:cs typeface="Lato"/>
              </a:rPr>
              <a:t>nguồn</a:t>
            </a:r>
            <a:r>
              <a:rPr lang="en-US" sz="1300">
                <a:solidFill>
                  <a:srgbClr val="666666"/>
                </a:solidFill>
                <a:latin typeface="Lato"/>
                <a:ea typeface="Lato"/>
                <a:cs typeface="Lato"/>
              </a:rPr>
              <a:t> </a:t>
            </a:r>
            <a:r>
              <a:rPr lang="en-US" sz="1300" err="1">
                <a:solidFill>
                  <a:srgbClr val="666666"/>
                </a:solidFill>
                <a:latin typeface="Lato"/>
                <a:ea typeface="Lato"/>
                <a:cs typeface="Lato"/>
              </a:rPr>
              <a:t>gốc</a:t>
            </a:r>
            <a:r>
              <a:rPr lang="en-US" sz="1300">
                <a:solidFill>
                  <a:srgbClr val="666666"/>
                </a:solidFill>
                <a:latin typeface="Lato"/>
                <a:ea typeface="Lato"/>
                <a:cs typeface="Lato"/>
              </a:rPr>
              <a:t> </a:t>
            </a:r>
            <a:r>
              <a:rPr lang="en-US" sz="1300" err="1">
                <a:solidFill>
                  <a:srgbClr val="666666"/>
                </a:solidFill>
                <a:latin typeface="Lato"/>
                <a:ea typeface="Lato"/>
                <a:cs typeface="Lato"/>
              </a:rPr>
              <a:t>để</a:t>
            </a:r>
            <a:r>
              <a:rPr lang="en-US" sz="1300">
                <a:solidFill>
                  <a:srgbClr val="666666"/>
                </a:solidFill>
                <a:latin typeface="Lato"/>
                <a:ea typeface="Lato"/>
                <a:cs typeface="Lato"/>
              </a:rPr>
              <a:t> factual checker </a:t>
            </a:r>
            <a:r>
              <a:rPr lang="en-US" sz="1300" err="1">
                <a:solidFill>
                  <a:srgbClr val="666666"/>
                </a:solidFill>
                <a:latin typeface="Lato"/>
                <a:ea typeface="Lato"/>
                <a:cs typeface="Lato"/>
              </a:rPr>
              <a:t>đối</a:t>
            </a:r>
            <a:r>
              <a:rPr lang="en-US" sz="1300">
                <a:solidFill>
                  <a:srgbClr val="666666"/>
                </a:solidFill>
                <a:latin typeface="Lato"/>
                <a:ea typeface="Lato"/>
                <a:cs typeface="Lato"/>
              </a:rPr>
              <a:t> </a:t>
            </a:r>
            <a:r>
              <a:rPr lang="en-US" sz="1300" err="1">
                <a:solidFill>
                  <a:srgbClr val="666666"/>
                </a:solidFill>
                <a:latin typeface="Lato"/>
                <a:ea typeface="Lato"/>
                <a:cs typeface="Lato"/>
              </a:rPr>
              <a:t>chiếu</a:t>
            </a:r>
            <a:r>
              <a:rPr lang="en-US" sz="1300">
                <a:solidFill>
                  <a:srgbClr val="666666"/>
                </a:solidFill>
                <a:latin typeface="Lato"/>
                <a:ea typeface="Lato"/>
                <a:cs typeface="Lato"/>
              </a:rPr>
              <a:t>.</a:t>
            </a:r>
          </a:p>
          <a:p>
            <a:endParaRPr lang="en-US" sz="1300">
              <a:solidFill>
                <a:srgbClr val="666666"/>
              </a:solidFill>
              <a:latin typeface="Lato"/>
              <a:ea typeface="Lato"/>
              <a:cs typeface="Lato"/>
            </a:endParaRPr>
          </a:p>
          <a:p>
            <a:pPr>
              <a:defRPr sz="1275">
                <a:solidFill>
                  <a:srgbClr val="666666"/>
                </a:solidFill>
                <a:latin typeface="Lato"/>
                <a:ea typeface="Lato"/>
                <a:cs typeface="Lato"/>
              </a:defRPr>
            </a:pPr>
            <a:r>
              <a:rPr lang="en-US" sz="1300">
                <a:solidFill>
                  <a:srgbClr val="666666"/>
                </a:solidFill>
                <a:latin typeface="Lato"/>
                <a:ea typeface="Lato"/>
                <a:cs typeface="Lato"/>
              </a:rPr>
              <a:t>531/546 aspect </a:t>
            </a:r>
            <a:r>
              <a:rPr lang="en-US" sz="1300" err="1">
                <a:solidFill>
                  <a:srgbClr val="666666"/>
                </a:solidFill>
                <a:latin typeface="Lato"/>
                <a:ea typeface="Lato"/>
                <a:cs typeface="Lato"/>
              </a:rPr>
              <a:t>có</a:t>
            </a:r>
            <a:r>
              <a:rPr lang="en-US" sz="1300">
                <a:solidFill>
                  <a:srgbClr val="666666"/>
                </a:solidFill>
                <a:latin typeface="Lato"/>
                <a:ea typeface="Lato"/>
                <a:cs typeface="Lato"/>
              </a:rPr>
              <a:t> sentiment </a:t>
            </a:r>
            <a:r>
              <a:rPr lang="en-US" sz="1300" err="1">
                <a:solidFill>
                  <a:srgbClr val="666666"/>
                </a:solidFill>
                <a:latin typeface="Lato"/>
                <a:ea typeface="Lato"/>
                <a:cs typeface="Lato"/>
              </a:rPr>
              <a:t>chủ</a:t>
            </a:r>
            <a:r>
              <a:rPr lang="en-US" sz="1300">
                <a:solidFill>
                  <a:srgbClr val="666666"/>
                </a:solidFill>
                <a:latin typeface="Lato"/>
                <a:ea typeface="Lato"/>
                <a:cs typeface="Lato"/>
              </a:rPr>
              <a:t> </a:t>
            </a:r>
            <a:r>
              <a:rPr lang="en-US" sz="1300" err="1">
                <a:solidFill>
                  <a:srgbClr val="666666"/>
                </a:solidFill>
                <a:latin typeface="Lato"/>
                <a:ea typeface="Lato"/>
                <a:cs typeface="Lato"/>
              </a:rPr>
              <a:t>đạo</a:t>
            </a:r>
            <a:r>
              <a:rPr lang="en-US" sz="1300">
                <a:solidFill>
                  <a:srgbClr val="666666"/>
                </a:solidFill>
                <a:latin typeface="Lato"/>
                <a:ea typeface="Lato"/>
                <a:cs typeface="Lato"/>
              </a:rPr>
              <a:t> </a:t>
            </a:r>
            <a:r>
              <a:rPr lang="en-US" sz="1300" err="1">
                <a:solidFill>
                  <a:srgbClr val="666666"/>
                </a:solidFill>
                <a:latin typeface="Lato"/>
                <a:ea typeface="Lato"/>
                <a:cs typeface="Lato"/>
              </a:rPr>
              <a:t>trùng</a:t>
            </a:r>
            <a:r>
              <a:rPr lang="en-US" sz="1300">
                <a:solidFill>
                  <a:srgbClr val="666666"/>
                </a:solidFill>
                <a:latin typeface="Lato"/>
                <a:ea typeface="Lato"/>
                <a:cs typeface="Lato"/>
              </a:rPr>
              <a:t> </a:t>
            </a:r>
            <a:r>
              <a:rPr lang="en-US" sz="1300" err="1">
                <a:solidFill>
                  <a:srgbClr val="666666"/>
                </a:solidFill>
                <a:latin typeface="Lato"/>
                <a:ea typeface="Lato"/>
                <a:cs typeface="Lato"/>
              </a:rPr>
              <a:t>với</a:t>
            </a:r>
            <a:r>
              <a:rPr lang="en-US" sz="1300">
                <a:solidFill>
                  <a:srgbClr val="666666"/>
                </a:solidFill>
                <a:latin typeface="Lato"/>
                <a:ea typeface="Lato"/>
                <a:cs typeface="Lato"/>
              </a:rPr>
              <a:t> </a:t>
            </a:r>
            <a:r>
              <a:rPr lang="en-US" sz="1300" err="1">
                <a:solidFill>
                  <a:srgbClr val="666666"/>
                </a:solidFill>
                <a:latin typeface="Lato"/>
                <a:ea typeface="Lato"/>
                <a:cs typeface="Lato"/>
              </a:rPr>
              <a:t>bảng</a:t>
            </a:r>
            <a:r>
              <a:rPr lang="en-US" sz="1300">
                <a:solidFill>
                  <a:srgbClr val="666666"/>
                </a:solidFill>
                <a:latin typeface="Lato"/>
                <a:ea typeface="Lato"/>
                <a:cs typeface="Lato"/>
              </a:rPr>
              <a:t> gold.</a:t>
            </a:r>
          </a:p>
          <a:p>
            <a:pPr>
              <a:defRPr sz="1275">
                <a:solidFill>
                  <a:srgbClr val="666666"/>
                </a:solidFill>
                <a:latin typeface="Lato"/>
                <a:ea typeface="Lato"/>
                <a:cs typeface="Lato"/>
              </a:defRPr>
            </a:pPr>
            <a:endParaRPr sz="1250">
              <a:solidFill>
                <a:srgbClr val="666666"/>
              </a:solidFill>
              <a:latin typeface="Lato"/>
              <a:ea typeface="Lato"/>
              <a:cs typeface="Lato"/>
            </a:endParaRPr>
          </a:p>
        </p:txBody>
      </p:sp>
    </p:spTree>
    <p:extLst>
      <p:ext uri="{BB962C8B-B14F-4D97-AF65-F5344CB8AC3E}">
        <p14:creationId xmlns:p14="http://schemas.microsoft.com/office/powerpoint/2010/main" val="3651498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BA5FD9F-F079-E7CB-275B-4B407F7320C6}"/>
              </a:ext>
            </a:extLst>
          </p:cNvPr>
          <p:cNvSpPr>
            <a:spLocks noGrp="1"/>
          </p:cNvSpPr>
          <p:nvPr>
            <p:ph type="sldNum" idx="12"/>
          </p:nvPr>
        </p:nvSpPr>
        <p:spPr>
          <a:xfrm>
            <a:off x="6867430" y="6491288"/>
            <a:ext cx="2057400" cy="361950"/>
          </a:xfrm>
        </p:spPr>
        <p:txBody>
          <a:bodyPr/>
          <a:lstStyle/>
          <a:p>
            <a:fld id="{388657AE-30A1-5A7A-6A7F-315D84436430}" type="slidenum">
              <a:rPr/>
              <a:t>12</a:t>
            </a:fld>
            <a:endParaRPr/>
          </a:p>
        </p:txBody>
      </p:sp>
      <p:sp>
        <p:nvSpPr>
          <p:cNvPr id="3" name="Title 2">
            <a:extLst>
              <a:ext uri="{FF2B5EF4-FFF2-40B4-BE49-F238E27FC236}">
                <a16:creationId xmlns:a16="http://schemas.microsoft.com/office/drawing/2014/main" id="{CE73DABA-0E07-DDEE-86EE-B4224D9C9822}"/>
              </a:ext>
            </a:extLst>
          </p:cNvPr>
          <p:cNvSpPr>
            <a:spLocks noGrp="1"/>
          </p:cNvSpPr>
          <p:nvPr>
            <p:ph type="title"/>
          </p:nvPr>
        </p:nvSpPr>
        <p:spPr/>
        <p:txBody>
          <a:bodyPr lIns="91440" tIns="45720" rIns="91440" bIns="45720" anchor="t"/>
          <a:lstStyle/>
          <a:p>
            <a:r>
              <a:rPr lang="vi-VN"/>
              <a:t>8</a:t>
            </a:r>
            <a:r>
              <a:t>. Sinh </a:t>
            </a:r>
            <a:r>
              <a:rPr err="1"/>
              <a:t>báo</a:t>
            </a:r>
            <a:r>
              <a:t> </a:t>
            </a:r>
            <a:r>
              <a:rPr err="1"/>
              <a:t>cáo</a:t>
            </a:r>
            <a:r>
              <a:t> </a:t>
            </a:r>
            <a:r>
              <a:rPr err="1"/>
              <a:t>bằng</a:t>
            </a:r>
            <a:r>
              <a:t> FLAN-T5</a:t>
            </a:r>
          </a:p>
        </p:txBody>
      </p:sp>
      <p:sp>
        <p:nvSpPr>
          <p:cNvPr id="4" name="input-label">
            <a:extLst>
              <a:ext uri="{FF2B5EF4-FFF2-40B4-BE49-F238E27FC236}">
                <a16:creationId xmlns:a16="http://schemas.microsoft.com/office/drawing/2014/main" id="{095053F9-FEE6-4BC0-81BE-5351481CE163}"/>
              </a:ext>
            </a:extLst>
          </p:cNvPr>
          <p:cNvSpPr>
            <a:spLocks noGrp="1"/>
          </p:cNvSpPr>
          <p:nvPr/>
        </p:nvSpPr>
        <p:spPr>
          <a:xfrm>
            <a:off x="571500" y="1409700"/>
            <a:ext cx="3238500" cy="2667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INPUT • COUNTS + TOP REASONS</a:t>
            </a:r>
          </a:p>
        </p:txBody>
      </p:sp>
      <p:sp>
        <p:nvSpPr>
          <p:cNvPr id="5" name="input-box">
            <a:extLst>
              <a:ext uri="{FF2B5EF4-FFF2-40B4-BE49-F238E27FC236}">
                <a16:creationId xmlns:a16="http://schemas.microsoft.com/office/drawing/2014/main" id="{A565A02E-9951-418A-9C0E-1CEBCC057BB0}"/>
              </a:ext>
            </a:extLst>
          </p:cNvPr>
          <p:cNvSpPr>
            <a:spLocks noGrp="1"/>
          </p:cNvSpPr>
          <p:nvPr/>
        </p:nvSpPr>
        <p:spPr>
          <a:xfrm>
            <a:off x="523875" y="1762125"/>
            <a:ext cx="3333750" cy="3333750"/>
          </a:xfrm>
          <a:prstGeom prst="roundRect">
            <a:avLst>
              <a:gd name="adj" fmla="val 4000"/>
            </a:avLst>
          </a:prstGeom>
          <a:noFill/>
          <a:ln w="11430">
            <a:solidFill>
              <a:srgbClr val="E1D5D5"/>
            </a:solidFill>
            <a:prstDash val="solid"/>
          </a:ln>
        </p:spPr>
        <p:txBody>
          <a:bodyPr/>
          <a:lstStyle/>
          <a:p>
            <a:endParaRPr lang="en-VN"/>
          </a:p>
        </p:txBody>
      </p:sp>
      <p:sp>
        <p:nvSpPr>
          <p:cNvPr id="6" name="input-copy">
            <a:extLst>
              <a:ext uri="{FF2B5EF4-FFF2-40B4-BE49-F238E27FC236}">
                <a16:creationId xmlns:a16="http://schemas.microsoft.com/office/drawing/2014/main" id="{5E4E8D0A-1B4B-4ECD-8929-0F2BD5EC36BD}"/>
              </a:ext>
            </a:extLst>
          </p:cNvPr>
          <p:cNvSpPr>
            <a:spLocks noGrp="1"/>
          </p:cNvSpPr>
          <p:nvPr/>
        </p:nvSpPr>
        <p:spPr>
          <a:xfrm>
            <a:off x="742950" y="1962150"/>
            <a:ext cx="2905125" cy="2895600"/>
          </a:xfrm>
          <a:prstGeom prst="rect">
            <a:avLst/>
          </a:prstGeom>
          <a:noFill/>
          <a:ln w="0">
            <a:noFill/>
            <a:prstDash val="solid"/>
          </a:ln>
        </p:spPr>
        <p:txBody>
          <a:bodyPr anchor="t"/>
          <a:lstStyle/>
          <a:p>
            <a:pPr>
              <a:defRPr sz="1350">
                <a:solidFill>
                  <a:srgbClr val="242424"/>
                </a:solidFill>
                <a:latin typeface="Lato"/>
                <a:ea typeface="Lato"/>
                <a:cs typeface="Lato"/>
              </a:defRPr>
            </a:pPr>
            <a:r>
              <a:rPr sz="1350">
                <a:solidFill>
                  <a:srgbClr val="242424"/>
                </a:solidFill>
                <a:latin typeface="Lato"/>
                <a:ea typeface="Lato"/>
                <a:cs typeface="Lato"/>
              </a:rPr>
              <a:t>Indian food</a:t>
            </a:r>
          </a:p>
          <a:p>
            <a:pPr>
              <a:defRPr sz="1350">
                <a:solidFill>
                  <a:srgbClr val="242424"/>
                </a:solidFill>
                <a:latin typeface="Lato"/>
                <a:ea typeface="Lato"/>
                <a:cs typeface="Lato"/>
              </a:defRPr>
            </a:pPr>
            <a:r>
              <a:rPr sz="1350">
                <a:solidFill>
                  <a:srgbClr val="242424"/>
                </a:solidFill>
                <a:latin typeface="Lato"/>
                <a:ea typeface="Lato"/>
                <a:cs typeface="Lato"/>
              </a:rPr>
              <a:t>22 mentions • 21 positive</a:t>
            </a:r>
          </a:p>
          <a:p>
            <a:pPr>
              <a:defRPr sz="1350">
                <a:solidFill>
                  <a:srgbClr val="242424"/>
                </a:solidFill>
                <a:latin typeface="Lato"/>
                <a:ea typeface="Lato"/>
                <a:cs typeface="Lato"/>
              </a:defRPr>
            </a:pPr>
            <a:r>
              <a:rPr sz="1350">
                <a:solidFill>
                  <a:srgbClr val="242424"/>
                </a:solidFill>
                <a:latin typeface="Lato"/>
                <a:ea typeface="Lato"/>
                <a:cs typeface="Lato"/>
              </a:rPr>
              <a:t>reason: great</a:t>
            </a:r>
          </a:p>
          <a:p>
            <a:endParaRPr sz="1350">
              <a:solidFill>
                <a:srgbClr val="242424"/>
              </a:solidFill>
              <a:latin typeface="Lato"/>
              <a:ea typeface="Lato"/>
              <a:cs typeface="Lato"/>
            </a:endParaRPr>
          </a:p>
          <a:p>
            <a:pPr>
              <a:defRPr sz="1350">
                <a:solidFill>
                  <a:srgbClr val="242424"/>
                </a:solidFill>
                <a:latin typeface="Lato"/>
                <a:ea typeface="Lato"/>
                <a:cs typeface="Lato"/>
              </a:defRPr>
            </a:pPr>
            <a:r>
              <a:rPr sz="1350">
                <a:solidFill>
                  <a:srgbClr val="242424"/>
                </a:solidFill>
                <a:latin typeface="Lato"/>
                <a:ea typeface="Lato"/>
                <a:cs typeface="Lato"/>
              </a:rPr>
              <a:t>Dessert</a:t>
            </a:r>
          </a:p>
          <a:p>
            <a:pPr>
              <a:defRPr sz="1350">
                <a:solidFill>
                  <a:srgbClr val="242424"/>
                </a:solidFill>
                <a:latin typeface="Lato"/>
                <a:ea typeface="Lato"/>
                <a:cs typeface="Lato"/>
              </a:defRPr>
            </a:pPr>
            <a:r>
              <a:rPr sz="1350">
                <a:solidFill>
                  <a:srgbClr val="242424"/>
                </a:solidFill>
                <a:latin typeface="Lato"/>
                <a:ea typeface="Lato"/>
                <a:cs typeface="Lato"/>
              </a:rPr>
              <a:t>26 mentions • 16 negative</a:t>
            </a:r>
          </a:p>
          <a:p>
            <a:pPr>
              <a:defRPr sz="1350">
                <a:solidFill>
                  <a:srgbClr val="242424"/>
                </a:solidFill>
                <a:latin typeface="Lato"/>
                <a:ea typeface="Lato"/>
                <a:cs typeface="Lato"/>
              </a:defRPr>
            </a:pPr>
            <a:r>
              <a:rPr sz="1350">
                <a:solidFill>
                  <a:srgbClr val="242424"/>
                </a:solidFill>
                <a:latin typeface="Lato"/>
                <a:ea typeface="Lato"/>
                <a:cs typeface="Lato"/>
              </a:rPr>
              <a:t>reason: not inspired</a:t>
            </a:r>
          </a:p>
          <a:p>
            <a:endParaRPr sz="1350">
              <a:solidFill>
                <a:srgbClr val="242424"/>
              </a:solidFill>
              <a:latin typeface="Lato"/>
              <a:ea typeface="Lato"/>
              <a:cs typeface="Lato"/>
            </a:endParaRPr>
          </a:p>
          <a:p>
            <a:pPr>
              <a:defRPr sz="1350">
                <a:solidFill>
                  <a:srgbClr val="242424"/>
                </a:solidFill>
                <a:latin typeface="Lato"/>
                <a:ea typeface="Lato"/>
                <a:cs typeface="Lato"/>
              </a:defRPr>
            </a:pPr>
            <a:r>
              <a:rPr sz="1350">
                <a:solidFill>
                  <a:srgbClr val="242424"/>
                </a:solidFill>
                <a:latin typeface="Lato"/>
                <a:ea typeface="Lato"/>
                <a:cs typeface="Lato"/>
              </a:rPr>
              <a:t>Food</a:t>
            </a:r>
          </a:p>
          <a:p>
            <a:pPr>
              <a:defRPr sz="1350">
                <a:solidFill>
                  <a:srgbClr val="242424"/>
                </a:solidFill>
                <a:latin typeface="Lato"/>
                <a:ea typeface="Lato"/>
                <a:cs typeface="Lato"/>
              </a:defRPr>
            </a:pPr>
            <a:r>
              <a:rPr sz="1350">
                <a:solidFill>
                  <a:srgbClr val="242424"/>
                </a:solidFill>
                <a:latin typeface="Lato"/>
                <a:ea typeface="Lato"/>
                <a:cs typeface="Lato"/>
              </a:rPr>
              <a:t>827 mentions • 621 positive</a:t>
            </a:r>
          </a:p>
          <a:p>
            <a:pPr>
              <a:defRPr sz="1350">
                <a:solidFill>
                  <a:srgbClr val="242424"/>
                </a:solidFill>
                <a:latin typeface="Lato"/>
                <a:ea typeface="Lato"/>
                <a:cs typeface="Lato"/>
              </a:defRPr>
            </a:pPr>
            <a:r>
              <a:rPr sz="1350">
                <a:solidFill>
                  <a:srgbClr val="242424"/>
                </a:solidFill>
                <a:latin typeface="Lato"/>
                <a:ea typeface="Lato"/>
                <a:cs typeface="Lato"/>
              </a:rPr>
              <a:t>reason: great</a:t>
            </a:r>
          </a:p>
        </p:txBody>
      </p:sp>
      <p:sp>
        <p:nvSpPr>
          <p:cNvPr id="7" name="arrow">
            <a:extLst>
              <a:ext uri="{FF2B5EF4-FFF2-40B4-BE49-F238E27FC236}">
                <a16:creationId xmlns:a16="http://schemas.microsoft.com/office/drawing/2014/main" id="{3D28E097-5878-490A-B3DF-DC01DFE4F53F}"/>
              </a:ext>
            </a:extLst>
          </p:cNvPr>
          <p:cNvSpPr>
            <a:spLocks noGrp="1"/>
          </p:cNvSpPr>
          <p:nvPr/>
        </p:nvSpPr>
        <p:spPr>
          <a:xfrm>
            <a:off x="4000500" y="2952750"/>
            <a:ext cx="666750" cy="666750"/>
          </a:xfrm>
          <a:prstGeom prst="rect">
            <a:avLst/>
          </a:prstGeom>
          <a:noFill/>
          <a:ln w="0">
            <a:noFill/>
            <a:prstDash val="solid"/>
          </a:ln>
        </p:spPr>
        <p:txBody>
          <a:bodyPr anchor="ctr"/>
          <a:lstStyle/>
          <a:p>
            <a:pPr algn="ctr">
              <a:defRPr sz="3600" b="1">
                <a:solidFill>
                  <a:srgbClr val="E8A000"/>
                </a:solidFill>
                <a:latin typeface="Lato"/>
                <a:ea typeface="Lato"/>
                <a:cs typeface="Lato"/>
              </a:defRPr>
            </a:pPr>
            <a:r>
              <a:rPr sz="3600" b="1">
                <a:solidFill>
                  <a:srgbClr val="E8A000"/>
                </a:solidFill>
                <a:latin typeface="Lato"/>
                <a:ea typeface="Lato"/>
                <a:cs typeface="Lato"/>
              </a:rPr>
              <a:t>→</a:t>
            </a:r>
          </a:p>
        </p:txBody>
      </p:sp>
      <p:sp>
        <p:nvSpPr>
          <p:cNvPr id="8" name="output-label">
            <a:extLst>
              <a:ext uri="{FF2B5EF4-FFF2-40B4-BE49-F238E27FC236}">
                <a16:creationId xmlns:a16="http://schemas.microsoft.com/office/drawing/2014/main" id="{C9616677-D986-4E40-9A63-3E4406318BD9}"/>
              </a:ext>
            </a:extLst>
          </p:cNvPr>
          <p:cNvSpPr>
            <a:spLocks noGrp="1"/>
          </p:cNvSpPr>
          <p:nvPr/>
        </p:nvSpPr>
        <p:spPr>
          <a:xfrm>
            <a:off x="4810125" y="1409700"/>
            <a:ext cx="3619500" cy="2667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OUTPUT • ANALYTICAL PARAGRAPH</a:t>
            </a:r>
          </a:p>
        </p:txBody>
      </p:sp>
      <p:sp>
        <p:nvSpPr>
          <p:cNvPr id="9" name="output-box">
            <a:extLst>
              <a:ext uri="{FF2B5EF4-FFF2-40B4-BE49-F238E27FC236}">
                <a16:creationId xmlns:a16="http://schemas.microsoft.com/office/drawing/2014/main" id="{9BCD9A16-6A3A-4BFB-BDE1-85FBBA71C786}"/>
              </a:ext>
            </a:extLst>
          </p:cNvPr>
          <p:cNvSpPr>
            <a:spLocks noGrp="1"/>
          </p:cNvSpPr>
          <p:nvPr/>
        </p:nvSpPr>
        <p:spPr>
          <a:xfrm>
            <a:off x="4714875" y="1762125"/>
            <a:ext cx="3905250" cy="3333750"/>
          </a:xfrm>
          <a:prstGeom prst="roundRect">
            <a:avLst>
              <a:gd name="adj" fmla="val 4000"/>
            </a:avLst>
          </a:prstGeom>
          <a:noFill/>
          <a:ln w="11430">
            <a:solidFill>
              <a:srgbClr val="D8CACA"/>
            </a:solidFill>
            <a:prstDash val="solid"/>
          </a:ln>
        </p:spPr>
        <p:txBody>
          <a:bodyPr/>
          <a:lstStyle/>
          <a:p>
            <a:endParaRPr lang="en-VN"/>
          </a:p>
        </p:txBody>
      </p:sp>
      <p:sp>
        <p:nvSpPr>
          <p:cNvPr id="10" name="output-copy">
            <a:extLst>
              <a:ext uri="{FF2B5EF4-FFF2-40B4-BE49-F238E27FC236}">
                <a16:creationId xmlns:a16="http://schemas.microsoft.com/office/drawing/2014/main" id="{2A7705F1-17E4-4DB3-AE85-723D502BBE25}"/>
              </a:ext>
            </a:extLst>
          </p:cNvPr>
          <p:cNvSpPr>
            <a:spLocks noGrp="1"/>
          </p:cNvSpPr>
          <p:nvPr/>
        </p:nvSpPr>
        <p:spPr>
          <a:xfrm>
            <a:off x="4972050" y="2019300"/>
            <a:ext cx="3390900" cy="2800350"/>
          </a:xfrm>
          <a:prstGeom prst="rect">
            <a:avLst/>
          </a:prstGeom>
          <a:noFill/>
          <a:ln w="0">
            <a:noFill/>
            <a:prstDash val="solid"/>
          </a:ln>
        </p:spPr>
        <p:txBody>
          <a:bodyPr anchor="t"/>
          <a:lstStyle/>
          <a:p>
            <a:pPr>
              <a:defRPr sz="1275">
                <a:solidFill>
                  <a:srgbClr val="242424"/>
                </a:solidFill>
                <a:latin typeface="Lato"/>
                <a:ea typeface="Lato"/>
                <a:cs typeface="Lato"/>
              </a:defRPr>
            </a:pPr>
            <a:r>
              <a:rPr sz="1275">
                <a:solidFill>
                  <a:srgbClr val="242424"/>
                </a:solidFill>
                <a:latin typeface="Lato"/>
                <a:ea typeface="Lato"/>
                <a:cs typeface="Lato"/>
              </a:rPr>
              <a:t>The strongest takeaway is the contrast between Indian food and dessert. Indian food was praised in 21 of 22 mentions, especially for being great, whereas dessert received 16 negative comments out of 26, largely citing not inspired. At the same time, food remained the most visible topic, appearing 827 times with 621 positive mentions and great as a recurring reason.</a:t>
            </a:r>
          </a:p>
        </p:txBody>
      </p:sp>
    </p:spTree>
    <p:extLst>
      <p:ext uri="{BB962C8B-B14F-4D97-AF65-F5344CB8AC3E}">
        <p14:creationId xmlns:p14="http://schemas.microsoft.com/office/powerpoint/2010/main" val="6447286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DB7BEEEC-A170-5376-2B6E-CB54687B0CB1}" type="slidenum">
              <a:rPr/>
              <a:t>13</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lIns="91440" tIns="45720" rIns="91440" bIns="45720" anchor="t"/>
          <a:lstStyle/>
          <a:p>
            <a:r>
              <a:rPr lang="vi-VN"/>
              <a:t>9</a:t>
            </a:r>
            <a:r>
              <a:t>. Kiểm chứng factual</a:t>
            </a:r>
          </a:p>
        </p:txBody>
      </p:sp>
      <p:sp>
        <p:nvSpPr>
          <p:cNvPr id="6" name="card-Factual passed">
            <a:extLst>
              <a:ext uri="{FF2B5EF4-FFF2-40B4-BE49-F238E27FC236}">
                <a16:creationId xmlns:a16="http://schemas.microsoft.com/office/drawing/2014/main" id="{87C7ABF8-3851-4510-81B2-3932484AE21D}"/>
              </a:ext>
            </a:extLst>
          </p:cNvPr>
          <p:cNvSpPr>
            <a:spLocks noGrp="1"/>
          </p:cNvSpPr>
          <p:nvPr/>
        </p:nvSpPr>
        <p:spPr>
          <a:xfrm>
            <a:off x="5334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7" name="eyebrow-Factual passed">
            <a:extLst>
              <a:ext uri="{FF2B5EF4-FFF2-40B4-BE49-F238E27FC236}">
                <a16:creationId xmlns:a16="http://schemas.microsoft.com/office/drawing/2014/main" id="{545E09B6-C485-42C1-8EF0-33217D1A86FC}"/>
              </a:ext>
            </a:extLst>
          </p:cNvPr>
          <p:cNvSpPr>
            <a:spLocks noGrp="1"/>
          </p:cNvSpPr>
          <p:nvPr/>
        </p:nvSpPr>
        <p:spPr>
          <a:xfrm>
            <a:off x="723900" y="1581150"/>
            <a:ext cx="3505200" cy="228600"/>
          </a:xfrm>
          <a:prstGeom prst="rect">
            <a:avLst/>
          </a:prstGeom>
          <a:noFill/>
          <a:ln w="0">
            <a:noFill/>
            <a:prstDash val="solid"/>
          </a:ln>
        </p:spPr>
        <p:txBody>
          <a:bodyPr anchor="ctr"/>
          <a:lstStyle/>
          <a:p>
            <a:pPr>
              <a:defRPr sz="975" b="1">
                <a:solidFill>
                  <a:srgbClr val="1B7F4B"/>
                </a:solidFill>
                <a:latin typeface="Lato"/>
                <a:ea typeface="Lato"/>
                <a:cs typeface="Lato"/>
              </a:defRPr>
            </a:pPr>
            <a:r>
              <a:rPr sz="975" b="1">
                <a:solidFill>
                  <a:srgbClr val="1B7F4B"/>
                </a:solidFill>
                <a:latin typeface="Lato"/>
                <a:ea typeface="Lato"/>
                <a:cs typeface="Lato"/>
              </a:rPr>
              <a:t>FACTUAL PASSED</a:t>
            </a:r>
          </a:p>
        </p:txBody>
      </p:sp>
      <p:sp>
        <p:nvSpPr>
          <p:cNvPr id="8" name="headline-Factual passed">
            <a:extLst>
              <a:ext uri="{FF2B5EF4-FFF2-40B4-BE49-F238E27FC236}">
                <a16:creationId xmlns:a16="http://schemas.microsoft.com/office/drawing/2014/main" id="{A9BBD2AF-600F-43D2-9732-2EBC2DA38A78}"/>
              </a:ext>
            </a:extLst>
          </p:cNvPr>
          <p:cNvSpPr>
            <a:spLocks noGrp="1"/>
          </p:cNvSpPr>
          <p:nvPr/>
        </p:nvSpPr>
        <p:spPr>
          <a:xfrm>
            <a:off x="7239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Mọi claim đã nêu phải khớp dữ liệu gốc</a:t>
            </a:r>
          </a:p>
        </p:txBody>
      </p:sp>
      <p:sp>
        <p:nvSpPr>
          <p:cNvPr id="9" name="body-Factual passed">
            <a:extLst>
              <a:ext uri="{FF2B5EF4-FFF2-40B4-BE49-F238E27FC236}">
                <a16:creationId xmlns:a16="http://schemas.microsoft.com/office/drawing/2014/main" id="{53253EC9-593D-4EAE-A5E1-1177FABFC51E}"/>
              </a:ext>
            </a:extLst>
          </p:cNvPr>
          <p:cNvSpPr>
            <a:spLocks noGrp="1"/>
          </p:cNvSpPr>
          <p:nvPr/>
        </p:nvSpPr>
        <p:spPr>
          <a:xfrm>
            <a:off x="723900" y="2609850"/>
            <a:ext cx="3505200" cy="2981325"/>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Checker tách mệnh đề, nhận diện aspect, số liệu sentiment và reason; sau đó đối chiếu từng claim.</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Restaurant: 4/4 claim hợp lệ → TRUE.</a:t>
            </a:r>
          </a:p>
        </p:txBody>
      </p:sp>
      <p:sp>
        <p:nvSpPr>
          <p:cNvPr id="10" name="card-Coverage passed">
            <a:extLst>
              <a:ext uri="{FF2B5EF4-FFF2-40B4-BE49-F238E27FC236}">
                <a16:creationId xmlns:a16="http://schemas.microsoft.com/office/drawing/2014/main" id="{93886762-E3B9-46DA-A9B4-8455BA680E97}"/>
              </a:ext>
            </a:extLst>
          </p:cNvPr>
          <p:cNvSpPr>
            <a:spLocks noGrp="1"/>
          </p:cNvSpPr>
          <p:nvPr/>
        </p:nvSpPr>
        <p:spPr>
          <a:xfrm>
            <a:off x="45720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11" name="eyebrow-Coverage passed">
            <a:extLst>
              <a:ext uri="{FF2B5EF4-FFF2-40B4-BE49-F238E27FC236}">
                <a16:creationId xmlns:a16="http://schemas.microsoft.com/office/drawing/2014/main" id="{C997FA4B-BCA8-40F8-97BE-FEEBB125F8F4}"/>
              </a:ext>
            </a:extLst>
          </p:cNvPr>
          <p:cNvSpPr>
            <a:spLocks noGrp="1"/>
          </p:cNvSpPr>
          <p:nvPr/>
        </p:nvSpPr>
        <p:spPr>
          <a:xfrm>
            <a:off x="4762500" y="1581150"/>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COVERAGE PASSED</a:t>
            </a:r>
          </a:p>
        </p:txBody>
      </p:sp>
      <p:sp>
        <p:nvSpPr>
          <p:cNvPr id="12" name="headline-Coverage passed">
            <a:extLst>
              <a:ext uri="{FF2B5EF4-FFF2-40B4-BE49-F238E27FC236}">
                <a16:creationId xmlns:a16="http://schemas.microsoft.com/office/drawing/2014/main" id="{D173686C-80E6-465D-BB92-70F9242EA144}"/>
              </a:ext>
            </a:extLst>
          </p:cNvPr>
          <p:cNvSpPr>
            <a:spLocks noGrp="1"/>
          </p:cNvSpPr>
          <p:nvPr/>
        </p:nvSpPr>
        <p:spPr>
          <a:xfrm>
            <a:off x="47625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Các aspect được chọn có được nhắc đủ?</a:t>
            </a:r>
          </a:p>
        </p:txBody>
      </p:sp>
      <p:sp>
        <p:nvSpPr>
          <p:cNvPr id="13" name="body-Coverage passed">
            <a:extLst>
              <a:ext uri="{FF2B5EF4-FFF2-40B4-BE49-F238E27FC236}">
                <a16:creationId xmlns:a16="http://schemas.microsoft.com/office/drawing/2014/main" id="{E0ABB4CB-CD4D-489A-87A1-C8F223B074C0}"/>
              </a:ext>
            </a:extLst>
          </p:cNvPr>
          <p:cNvSpPr>
            <a:spLocks noGrp="1"/>
          </p:cNvSpPr>
          <p:nvPr/>
        </p:nvSpPr>
        <p:spPr>
          <a:xfrm>
            <a:off x="4762500" y="2609850"/>
            <a:ext cx="3505200" cy="2981325"/>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Coverage là tín hiệu riêng, không biến một báo cáo ngắn nhưng đúng thành “sai factual”.</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Yelp: 3/3 claim đúng nhưng thiếu aspect → accepted_with_warnings.</a:t>
            </a:r>
          </a:p>
        </p:txBody>
      </p:sp>
    </p:spTree>
    <p:extLst>
      <p:ext uri="{BB962C8B-B14F-4D97-AF65-F5344CB8AC3E}">
        <p14:creationId xmlns:p14="http://schemas.microsoft.com/office/powerpoint/2010/main" val="13418406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lIns="91440" tIns="45720" rIns="91440" bIns="45720" anchor="t"/>
          <a:lstStyle/>
          <a:p>
            <a:r>
              <a:rPr lang="vi-VN"/>
              <a:t>10</a:t>
            </a:r>
            <a:r>
              <a:t>. </a:t>
            </a:r>
            <a:r>
              <a:rPr err="1"/>
              <a:t>Thử</a:t>
            </a:r>
            <a:r>
              <a:t> </a:t>
            </a:r>
            <a:r>
              <a:rPr err="1"/>
              <a:t>nghiệm</a:t>
            </a:r>
            <a:r>
              <a:t> </a:t>
            </a:r>
            <a:r>
              <a:rPr err="1"/>
              <a:t>mở</a:t>
            </a:r>
            <a:r>
              <a:t> </a:t>
            </a:r>
            <a:r>
              <a:rPr err="1"/>
              <a:t>rộng</a:t>
            </a:r>
            <a:r>
              <a:t> Yelp</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idx="12"/>
          </p:nvPr>
        </p:nvSpPr>
        <p:spPr>
          <a:xfrm>
            <a:off x="6867430" y="6491288"/>
            <a:ext cx="2057400" cy="361950"/>
          </a:xfrm>
        </p:spPr>
        <p:txBody>
          <a:bodyPr/>
          <a:lstStyle/>
          <a:p>
            <a:fld id="{30394428-F1DC-E5F6-DB0C-7DE31F3D8A23}" type="slidenum">
              <a:rPr/>
              <a:t>14</a:t>
            </a:fld>
            <a:endParaRPr/>
          </a:p>
        </p:txBody>
      </p:sp>
      <p:sp>
        <p:nvSpPr>
          <p:cNvPr id="6" name="metric-review được lấy mẫu">
            <a:extLst>
              <a:ext uri="{FF2B5EF4-FFF2-40B4-BE49-F238E27FC236}">
                <a16:creationId xmlns:a16="http://schemas.microsoft.com/office/drawing/2014/main" id="{4D633429-F78A-4E7C-93B6-922AC4F4CF8E}"/>
              </a:ext>
            </a:extLst>
          </p:cNvPr>
          <p:cNvSpPr>
            <a:spLocks noGrp="1"/>
          </p:cNvSpPr>
          <p:nvPr/>
        </p:nvSpPr>
        <p:spPr>
          <a:xfrm>
            <a:off x="619125" y="1524000"/>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7" name="metric-value-review được lấy mẫu">
            <a:extLst>
              <a:ext uri="{FF2B5EF4-FFF2-40B4-BE49-F238E27FC236}">
                <a16:creationId xmlns:a16="http://schemas.microsoft.com/office/drawing/2014/main" id="{2B2741D2-74A0-4BAB-BAA8-6213481CB041}"/>
              </a:ext>
            </a:extLst>
          </p:cNvPr>
          <p:cNvSpPr>
            <a:spLocks noGrp="1"/>
          </p:cNvSpPr>
          <p:nvPr/>
        </p:nvSpPr>
        <p:spPr>
          <a:xfrm>
            <a:off x="714375" y="1638300"/>
            <a:ext cx="2143125" cy="495300"/>
          </a:xfrm>
          <a:prstGeom prst="rect">
            <a:avLst/>
          </a:prstGeom>
          <a:noFill/>
          <a:ln w="0">
            <a:noFill/>
            <a:prstDash val="solid"/>
          </a:ln>
        </p:spPr>
        <p:txBody>
          <a:bodyPr anchor="ctr"/>
          <a:lstStyle/>
          <a:p>
            <a:pPr algn="ctr">
              <a:defRPr sz="2700" b="1">
                <a:solidFill>
                  <a:srgbClr val="C00000"/>
                </a:solidFill>
                <a:latin typeface="Lato"/>
                <a:ea typeface="Lato"/>
                <a:cs typeface="Lato"/>
              </a:defRPr>
            </a:pPr>
            <a:r>
              <a:rPr sz="2700" b="1">
                <a:solidFill>
                  <a:srgbClr val="C00000"/>
                </a:solidFill>
                <a:latin typeface="Lato"/>
                <a:ea typeface="Lato"/>
                <a:cs typeface="Lato"/>
              </a:rPr>
              <a:t>2.000</a:t>
            </a:r>
          </a:p>
        </p:txBody>
      </p:sp>
      <p:sp>
        <p:nvSpPr>
          <p:cNvPr id="8" name="metric-label-review được lấy mẫu">
            <a:extLst>
              <a:ext uri="{FF2B5EF4-FFF2-40B4-BE49-F238E27FC236}">
                <a16:creationId xmlns:a16="http://schemas.microsoft.com/office/drawing/2014/main" id="{9CF9CABE-D679-4DCA-98C3-7377975C1A31}"/>
              </a:ext>
            </a:extLst>
          </p:cNvPr>
          <p:cNvSpPr>
            <a:spLocks noGrp="1"/>
          </p:cNvSpPr>
          <p:nvPr/>
        </p:nvSpPr>
        <p:spPr>
          <a:xfrm>
            <a:off x="752475" y="2162175"/>
            <a:ext cx="206692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review được lấy mẫu</a:t>
            </a:r>
          </a:p>
        </p:txBody>
      </p:sp>
      <p:sp>
        <p:nvSpPr>
          <p:cNvPr id="9" name="metric-triplet được trích xuất">
            <a:extLst>
              <a:ext uri="{FF2B5EF4-FFF2-40B4-BE49-F238E27FC236}">
                <a16:creationId xmlns:a16="http://schemas.microsoft.com/office/drawing/2014/main" id="{0FDD87E8-6E6A-4E47-BFDF-9334B534731B}"/>
              </a:ext>
            </a:extLst>
          </p:cNvPr>
          <p:cNvSpPr>
            <a:spLocks noGrp="1"/>
          </p:cNvSpPr>
          <p:nvPr/>
        </p:nvSpPr>
        <p:spPr>
          <a:xfrm>
            <a:off x="3381375" y="1524000"/>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10" name="metric-value-triplet được trích xuất">
            <a:extLst>
              <a:ext uri="{FF2B5EF4-FFF2-40B4-BE49-F238E27FC236}">
                <a16:creationId xmlns:a16="http://schemas.microsoft.com/office/drawing/2014/main" id="{D14966B7-80E5-4701-B345-284DBB3BBC44}"/>
              </a:ext>
            </a:extLst>
          </p:cNvPr>
          <p:cNvSpPr>
            <a:spLocks noGrp="1"/>
          </p:cNvSpPr>
          <p:nvPr/>
        </p:nvSpPr>
        <p:spPr>
          <a:xfrm>
            <a:off x="3476625" y="1638300"/>
            <a:ext cx="2143125" cy="495300"/>
          </a:xfrm>
          <a:prstGeom prst="rect">
            <a:avLst/>
          </a:prstGeom>
          <a:noFill/>
          <a:ln w="0">
            <a:noFill/>
            <a:prstDash val="solid"/>
          </a:ln>
        </p:spPr>
        <p:txBody>
          <a:bodyPr anchor="ctr"/>
          <a:lstStyle/>
          <a:p>
            <a:pPr algn="ctr">
              <a:defRPr sz="2700" b="1">
                <a:solidFill>
                  <a:srgbClr val="E8A000"/>
                </a:solidFill>
                <a:latin typeface="Lato"/>
                <a:ea typeface="Lato"/>
                <a:cs typeface="Lato"/>
              </a:defRPr>
            </a:pPr>
            <a:r>
              <a:rPr sz="2700" b="1">
                <a:solidFill>
                  <a:srgbClr val="E8A000"/>
                </a:solidFill>
                <a:latin typeface="Lato"/>
                <a:ea typeface="Lato"/>
                <a:cs typeface="Lato"/>
              </a:rPr>
              <a:t>14.700</a:t>
            </a:r>
          </a:p>
        </p:txBody>
      </p:sp>
      <p:sp>
        <p:nvSpPr>
          <p:cNvPr id="11" name="metric-label-triplet được trích xuất">
            <a:extLst>
              <a:ext uri="{FF2B5EF4-FFF2-40B4-BE49-F238E27FC236}">
                <a16:creationId xmlns:a16="http://schemas.microsoft.com/office/drawing/2014/main" id="{9D3AC606-2492-4F6D-B463-2F7F7A79A3C1}"/>
              </a:ext>
            </a:extLst>
          </p:cNvPr>
          <p:cNvSpPr>
            <a:spLocks noGrp="1"/>
          </p:cNvSpPr>
          <p:nvPr/>
        </p:nvSpPr>
        <p:spPr>
          <a:xfrm>
            <a:off x="3514725" y="2162175"/>
            <a:ext cx="206692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triplet được trích xuất</a:t>
            </a:r>
          </a:p>
        </p:txBody>
      </p:sp>
      <p:sp>
        <p:nvSpPr>
          <p:cNvPr id="12" name="metric-aspect có ≥2 lượt nhắc">
            <a:extLst>
              <a:ext uri="{FF2B5EF4-FFF2-40B4-BE49-F238E27FC236}">
                <a16:creationId xmlns:a16="http://schemas.microsoft.com/office/drawing/2014/main" id="{43F7E9A5-3042-47B1-98A7-74FC1243C468}"/>
              </a:ext>
            </a:extLst>
          </p:cNvPr>
          <p:cNvSpPr>
            <a:spLocks noGrp="1"/>
          </p:cNvSpPr>
          <p:nvPr/>
        </p:nvSpPr>
        <p:spPr>
          <a:xfrm>
            <a:off x="6143625" y="1524000"/>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13" name="metric-value-aspect có ≥2 lượt nhắc">
            <a:extLst>
              <a:ext uri="{FF2B5EF4-FFF2-40B4-BE49-F238E27FC236}">
                <a16:creationId xmlns:a16="http://schemas.microsoft.com/office/drawing/2014/main" id="{85F2CCF1-E8DA-4986-AF36-17AF6A670EAC}"/>
              </a:ext>
            </a:extLst>
          </p:cNvPr>
          <p:cNvSpPr>
            <a:spLocks noGrp="1"/>
          </p:cNvSpPr>
          <p:nvPr/>
        </p:nvSpPr>
        <p:spPr>
          <a:xfrm>
            <a:off x="6238875" y="1638300"/>
            <a:ext cx="2143125" cy="495300"/>
          </a:xfrm>
          <a:prstGeom prst="rect">
            <a:avLst/>
          </a:prstGeom>
          <a:noFill/>
          <a:ln w="0">
            <a:noFill/>
            <a:prstDash val="solid"/>
          </a:ln>
        </p:spPr>
        <p:txBody>
          <a:bodyPr anchor="ctr"/>
          <a:lstStyle/>
          <a:p>
            <a:pPr algn="ctr">
              <a:defRPr sz="2700" b="1">
                <a:solidFill>
                  <a:srgbClr val="2455D6"/>
                </a:solidFill>
                <a:latin typeface="Lato"/>
                <a:ea typeface="Lato"/>
                <a:cs typeface="Lato"/>
              </a:defRPr>
            </a:pPr>
            <a:r>
              <a:rPr sz="2700" b="1">
                <a:solidFill>
                  <a:srgbClr val="2455D6"/>
                </a:solidFill>
                <a:latin typeface="Lato"/>
                <a:ea typeface="Lato"/>
                <a:cs typeface="Lato"/>
              </a:rPr>
              <a:t>1.224</a:t>
            </a:r>
          </a:p>
        </p:txBody>
      </p:sp>
      <p:sp>
        <p:nvSpPr>
          <p:cNvPr id="14" name="metric-label-aspect có ≥2 lượt nhắc">
            <a:extLst>
              <a:ext uri="{FF2B5EF4-FFF2-40B4-BE49-F238E27FC236}">
                <a16:creationId xmlns:a16="http://schemas.microsoft.com/office/drawing/2014/main" id="{FA8AB1ED-0406-4508-BA44-AF00E805DC6F}"/>
              </a:ext>
            </a:extLst>
          </p:cNvPr>
          <p:cNvSpPr>
            <a:spLocks noGrp="1"/>
          </p:cNvSpPr>
          <p:nvPr/>
        </p:nvSpPr>
        <p:spPr>
          <a:xfrm>
            <a:off x="6276975" y="2162175"/>
            <a:ext cx="206692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aspect có ≥2 lượt nhắc</a:t>
            </a:r>
          </a:p>
        </p:txBody>
      </p:sp>
      <p:sp>
        <p:nvSpPr>
          <p:cNvPr id="15" name="card-Quy mô">
            <a:extLst>
              <a:ext uri="{FF2B5EF4-FFF2-40B4-BE49-F238E27FC236}">
                <a16:creationId xmlns:a16="http://schemas.microsoft.com/office/drawing/2014/main" id="{5564CA6A-3DC2-4009-88EA-A554E6B20844}"/>
              </a:ext>
            </a:extLst>
          </p:cNvPr>
          <p:cNvSpPr>
            <a:spLocks noGrp="1"/>
          </p:cNvSpPr>
          <p:nvPr/>
        </p:nvSpPr>
        <p:spPr>
          <a:xfrm>
            <a:off x="533400" y="3048000"/>
            <a:ext cx="3886200" cy="2476500"/>
          </a:xfrm>
          <a:prstGeom prst="roundRect">
            <a:avLst>
              <a:gd name="adj" fmla="val 5385"/>
            </a:avLst>
          </a:prstGeom>
          <a:noFill/>
          <a:ln w="11430">
            <a:solidFill>
              <a:srgbClr val="E2D6D6"/>
            </a:solidFill>
            <a:prstDash val="solid"/>
          </a:ln>
        </p:spPr>
        <p:txBody>
          <a:bodyPr/>
          <a:lstStyle/>
          <a:p>
            <a:endParaRPr lang="en-VN"/>
          </a:p>
        </p:txBody>
      </p:sp>
      <p:sp>
        <p:nvSpPr>
          <p:cNvPr id="16" name="eyebrow-Quy mô">
            <a:extLst>
              <a:ext uri="{FF2B5EF4-FFF2-40B4-BE49-F238E27FC236}">
                <a16:creationId xmlns:a16="http://schemas.microsoft.com/office/drawing/2014/main" id="{FE8AAE41-DB44-42CB-A5E2-95EFBE0D3D19}"/>
              </a:ext>
            </a:extLst>
          </p:cNvPr>
          <p:cNvSpPr>
            <a:spLocks noGrp="1"/>
          </p:cNvSpPr>
          <p:nvPr/>
        </p:nvSpPr>
        <p:spPr>
          <a:xfrm>
            <a:off x="723900" y="3200400"/>
            <a:ext cx="350520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QUY MÔ</a:t>
            </a:r>
          </a:p>
        </p:txBody>
      </p:sp>
      <p:sp>
        <p:nvSpPr>
          <p:cNvPr id="17" name="headline-Quy mô">
            <a:extLst>
              <a:ext uri="{FF2B5EF4-FFF2-40B4-BE49-F238E27FC236}">
                <a16:creationId xmlns:a16="http://schemas.microsoft.com/office/drawing/2014/main" id="{20C2E965-7D11-497D-ADA8-C3FA3D28BCAD}"/>
              </a:ext>
            </a:extLst>
          </p:cNvPr>
          <p:cNvSpPr>
            <a:spLocks noGrp="1"/>
          </p:cNvSpPr>
          <p:nvPr/>
        </p:nvSpPr>
        <p:spPr>
          <a:xfrm>
            <a:off x="723900" y="350520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14.285 câu từ 2.000 review</a:t>
            </a:r>
          </a:p>
        </p:txBody>
      </p:sp>
      <p:sp>
        <p:nvSpPr>
          <p:cNvPr id="18" name="body-Quy mô">
            <a:extLst>
              <a:ext uri="{FF2B5EF4-FFF2-40B4-BE49-F238E27FC236}">
                <a16:creationId xmlns:a16="http://schemas.microsoft.com/office/drawing/2014/main" id="{DFF820F7-EF41-42C9-B201-09E10E609695}"/>
              </a:ext>
            </a:extLst>
          </p:cNvPr>
          <p:cNvSpPr>
            <a:spLocks noGrp="1"/>
          </p:cNvSpPr>
          <p:nvPr/>
        </p:nvSpPr>
        <p:spPr>
          <a:xfrm>
            <a:off x="723900" y="4229100"/>
            <a:ext cx="3505200" cy="11239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Các aspect phổ biến gồm ice cream (765), place (633) và flavors (237). Pipeline tạo bảng reason-aware trên dữ liệu chưa dùng để huấn luyện.</a:t>
            </a:r>
          </a:p>
        </p:txBody>
      </p:sp>
      <p:sp>
        <p:nvSpPr>
          <p:cNvPr id="19" name="card-Kết quả checker">
            <a:extLst>
              <a:ext uri="{FF2B5EF4-FFF2-40B4-BE49-F238E27FC236}">
                <a16:creationId xmlns:a16="http://schemas.microsoft.com/office/drawing/2014/main" id="{B391951B-3D17-475A-BACE-F1491B64C0D5}"/>
              </a:ext>
            </a:extLst>
          </p:cNvPr>
          <p:cNvSpPr>
            <a:spLocks noGrp="1"/>
          </p:cNvSpPr>
          <p:nvPr/>
        </p:nvSpPr>
        <p:spPr>
          <a:xfrm>
            <a:off x="4572000" y="3048000"/>
            <a:ext cx="3886200" cy="2476500"/>
          </a:xfrm>
          <a:prstGeom prst="roundRect">
            <a:avLst>
              <a:gd name="adj" fmla="val 5385"/>
            </a:avLst>
          </a:prstGeom>
          <a:noFill/>
          <a:ln w="11430">
            <a:solidFill>
              <a:srgbClr val="E2D6D6"/>
            </a:solidFill>
            <a:prstDash val="solid"/>
          </a:ln>
        </p:spPr>
        <p:txBody>
          <a:bodyPr/>
          <a:lstStyle/>
          <a:p>
            <a:endParaRPr lang="en-VN"/>
          </a:p>
        </p:txBody>
      </p:sp>
      <p:sp>
        <p:nvSpPr>
          <p:cNvPr id="20" name="eyebrow-Kết quả checker">
            <a:extLst>
              <a:ext uri="{FF2B5EF4-FFF2-40B4-BE49-F238E27FC236}">
                <a16:creationId xmlns:a16="http://schemas.microsoft.com/office/drawing/2014/main" id="{FA521085-BC3B-411B-A992-9484B1CDFA7E}"/>
              </a:ext>
            </a:extLst>
          </p:cNvPr>
          <p:cNvSpPr>
            <a:spLocks noGrp="1"/>
          </p:cNvSpPr>
          <p:nvPr/>
        </p:nvSpPr>
        <p:spPr>
          <a:xfrm>
            <a:off x="4762500" y="3200400"/>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KẾT QUẢ CHECKER</a:t>
            </a:r>
          </a:p>
        </p:txBody>
      </p:sp>
      <p:sp>
        <p:nvSpPr>
          <p:cNvPr id="21" name="headline-Kết quả checker">
            <a:extLst>
              <a:ext uri="{FF2B5EF4-FFF2-40B4-BE49-F238E27FC236}">
                <a16:creationId xmlns:a16="http://schemas.microsoft.com/office/drawing/2014/main" id="{6C7907C0-1C80-4FFC-BA08-699801174F2C}"/>
              </a:ext>
            </a:extLst>
          </p:cNvPr>
          <p:cNvSpPr>
            <a:spLocks noGrp="1"/>
          </p:cNvSpPr>
          <p:nvPr/>
        </p:nvSpPr>
        <p:spPr>
          <a:xfrm>
            <a:off x="4762500" y="350520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Đúng factual nhưng chưa đủ coverage</a:t>
            </a:r>
          </a:p>
        </p:txBody>
      </p:sp>
      <p:sp>
        <p:nvSpPr>
          <p:cNvPr id="22" name="body-Kết quả checker">
            <a:extLst>
              <a:ext uri="{FF2B5EF4-FFF2-40B4-BE49-F238E27FC236}">
                <a16:creationId xmlns:a16="http://schemas.microsoft.com/office/drawing/2014/main" id="{F560B71A-0EDC-4552-A3F3-C04555B79EF1}"/>
              </a:ext>
            </a:extLst>
          </p:cNvPr>
          <p:cNvSpPr>
            <a:spLocks noGrp="1"/>
          </p:cNvSpPr>
          <p:nvPr/>
        </p:nvSpPr>
        <p:spPr>
          <a:xfrm>
            <a:off x="4762500" y="4229100"/>
            <a:ext cx="3505200" cy="11239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3/3 claim đã nêu khớp dữ liệu. Một aspect bị bỏ sót và parking lặp lại, vì vậy hệ thống trả accepted_with_warnings thay vì bác bỏ toàn bộ báo cáo.</a:t>
            </a:r>
          </a:p>
        </p:txBody>
      </p:sp>
    </p:spTree>
    <p:extLst>
      <p:ext uri="{BB962C8B-B14F-4D97-AF65-F5344CB8AC3E}">
        <p14:creationId xmlns:p14="http://schemas.microsoft.com/office/powerpoint/2010/main" val="36514988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F331FF-7367-F4F4-10DC-9F4CB4892036}"/>
              </a:ext>
            </a:extLst>
          </p:cNvPr>
          <p:cNvSpPr>
            <a:spLocks noGrp="1"/>
          </p:cNvSpPr>
          <p:nvPr>
            <p:ph type="sldNum" idx="12"/>
          </p:nvPr>
        </p:nvSpPr>
        <p:spPr>
          <a:xfrm>
            <a:off x="6867430" y="6491288"/>
            <a:ext cx="2057400" cy="361950"/>
          </a:xfrm>
        </p:spPr>
        <p:txBody>
          <a:bodyPr/>
          <a:lstStyle/>
          <a:p>
            <a:fld id="{4DB16885-0D3F-A391-B669-3211DB3B26E8}" type="slidenum">
              <a:rPr/>
              <a:t>15</a:t>
            </a:fld>
            <a:endParaRPr/>
          </a:p>
        </p:txBody>
      </p:sp>
      <p:sp>
        <p:nvSpPr>
          <p:cNvPr id="3" name="Title 2">
            <a:extLst>
              <a:ext uri="{FF2B5EF4-FFF2-40B4-BE49-F238E27FC236}">
                <a16:creationId xmlns:a16="http://schemas.microsoft.com/office/drawing/2014/main" id="{CA942A98-C171-982E-551D-E59FBFEFF92E}"/>
              </a:ext>
            </a:extLst>
          </p:cNvPr>
          <p:cNvSpPr>
            <a:spLocks noGrp="1"/>
          </p:cNvSpPr>
          <p:nvPr>
            <p:ph type="title"/>
          </p:nvPr>
        </p:nvSpPr>
        <p:spPr/>
        <p:txBody>
          <a:bodyPr lIns="91440" tIns="45720" rIns="91440" bIns="45720" anchor="t"/>
          <a:lstStyle/>
          <a:p>
            <a:r>
              <a:rPr lang="vi-VN"/>
              <a:t>11</a:t>
            </a:r>
            <a:r>
              <a:t>. </a:t>
            </a:r>
            <a:r>
              <a:rPr err="1"/>
              <a:t>Hạn</a:t>
            </a:r>
            <a:r>
              <a:t> </a:t>
            </a:r>
            <a:r>
              <a:rPr err="1"/>
              <a:t>chế</a:t>
            </a:r>
            <a:r>
              <a:t> &amp; </a:t>
            </a:r>
            <a:r>
              <a:rPr err="1"/>
              <a:t>hướng</a:t>
            </a:r>
            <a:r>
              <a:t> </a:t>
            </a:r>
            <a:r>
              <a:rPr err="1"/>
              <a:t>phát</a:t>
            </a:r>
            <a:r>
              <a:t> </a:t>
            </a:r>
            <a:r>
              <a:rPr err="1"/>
              <a:t>triển</a:t>
            </a:r>
            <a:endParaRPr lang="vi-VN" err="1"/>
          </a:p>
        </p:txBody>
      </p:sp>
      <p:sp>
        <p:nvSpPr>
          <p:cNvPr id="4" name="card-01 • Checker">
            <a:extLst>
              <a:ext uri="{FF2B5EF4-FFF2-40B4-BE49-F238E27FC236}">
                <a16:creationId xmlns:a16="http://schemas.microsoft.com/office/drawing/2014/main" id="{5EE689B3-66CD-4252-9421-CA6668DFC7A2}"/>
              </a:ext>
            </a:extLst>
          </p:cNvPr>
          <p:cNvSpPr>
            <a:spLocks noGrp="1"/>
          </p:cNvSpPr>
          <p:nvPr/>
        </p:nvSpPr>
        <p:spPr>
          <a:xfrm>
            <a:off x="523875" y="1381125"/>
            <a:ext cx="2571750" cy="4191000"/>
          </a:xfrm>
          <a:prstGeom prst="roundRect">
            <a:avLst>
              <a:gd name="adj" fmla="val 5185"/>
            </a:avLst>
          </a:prstGeom>
          <a:noFill/>
          <a:ln w="11430">
            <a:solidFill>
              <a:srgbClr val="E2D6D6"/>
            </a:solidFill>
            <a:prstDash val="solid"/>
          </a:ln>
        </p:spPr>
        <p:txBody>
          <a:bodyPr/>
          <a:lstStyle/>
          <a:p>
            <a:endParaRPr lang="en-VN"/>
          </a:p>
        </p:txBody>
      </p:sp>
      <p:sp>
        <p:nvSpPr>
          <p:cNvPr id="5" name="eyebrow-01 • Checker">
            <a:extLst>
              <a:ext uri="{FF2B5EF4-FFF2-40B4-BE49-F238E27FC236}">
                <a16:creationId xmlns:a16="http://schemas.microsoft.com/office/drawing/2014/main" id="{E5F39570-AF52-4394-92A5-250A726D41B4}"/>
              </a:ext>
            </a:extLst>
          </p:cNvPr>
          <p:cNvSpPr>
            <a:spLocks noGrp="1"/>
          </p:cNvSpPr>
          <p:nvPr/>
        </p:nvSpPr>
        <p:spPr>
          <a:xfrm>
            <a:off x="714375" y="1533525"/>
            <a:ext cx="219075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01 • CHECKER</a:t>
            </a:r>
          </a:p>
        </p:txBody>
      </p:sp>
      <p:sp>
        <p:nvSpPr>
          <p:cNvPr id="6" name="headline-01 • Checker">
            <a:extLst>
              <a:ext uri="{FF2B5EF4-FFF2-40B4-BE49-F238E27FC236}">
                <a16:creationId xmlns:a16="http://schemas.microsoft.com/office/drawing/2014/main" id="{9389FAC7-3885-4915-A3FF-CE245506C2E9}"/>
              </a:ext>
            </a:extLst>
          </p:cNvPr>
          <p:cNvSpPr>
            <a:spLocks noGrp="1"/>
          </p:cNvSpPr>
          <p:nvPr/>
        </p:nvSpPr>
        <p:spPr>
          <a:xfrm>
            <a:off x="714375" y="1838325"/>
            <a:ext cx="219075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Reason matching còn dựa trên luật</a:t>
            </a:r>
          </a:p>
        </p:txBody>
      </p:sp>
      <p:sp>
        <p:nvSpPr>
          <p:cNvPr id="7" name="body-01 • Checker">
            <a:extLst>
              <a:ext uri="{FF2B5EF4-FFF2-40B4-BE49-F238E27FC236}">
                <a16:creationId xmlns:a16="http://schemas.microsoft.com/office/drawing/2014/main" id="{BD244CF7-8C0A-497D-B226-B3EE739290A2}"/>
              </a:ext>
            </a:extLst>
          </p:cNvPr>
          <p:cNvSpPr>
            <a:spLocks noGrp="1"/>
          </p:cNvSpPr>
          <p:nvPr/>
        </p:nvSpPr>
        <p:spPr>
          <a:xfrm>
            <a:off x="714375" y="2562225"/>
            <a:ext cx="2190750" cy="28384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Khó xử lý đồng nghĩa, phủ định phức tạp và diễn đạt gián tiếp.</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Tiếp theo: benchmark claim-level có nhãn và mở rộng semantic matching.</a:t>
            </a:r>
          </a:p>
        </p:txBody>
      </p:sp>
      <p:sp>
        <p:nvSpPr>
          <p:cNvPr id="8" name="card-02 • Generator">
            <a:extLst>
              <a:ext uri="{FF2B5EF4-FFF2-40B4-BE49-F238E27FC236}">
                <a16:creationId xmlns:a16="http://schemas.microsoft.com/office/drawing/2014/main" id="{B160C082-0457-456E-8497-50491A281DBF}"/>
              </a:ext>
            </a:extLst>
          </p:cNvPr>
          <p:cNvSpPr>
            <a:spLocks noGrp="1"/>
          </p:cNvSpPr>
          <p:nvPr/>
        </p:nvSpPr>
        <p:spPr>
          <a:xfrm>
            <a:off x="3286125" y="1381125"/>
            <a:ext cx="2571750" cy="4191000"/>
          </a:xfrm>
          <a:prstGeom prst="roundRect">
            <a:avLst>
              <a:gd name="adj" fmla="val 5185"/>
            </a:avLst>
          </a:prstGeom>
          <a:noFill/>
          <a:ln w="11430">
            <a:solidFill>
              <a:srgbClr val="E2D6D6"/>
            </a:solidFill>
            <a:prstDash val="solid"/>
          </a:ln>
        </p:spPr>
        <p:txBody>
          <a:bodyPr/>
          <a:lstStyle/>
          <a:p>
            <a:endParaRPr lang="en-VN"/>
          </a:p>
        </p:txBody>
      </p:sp>
      <p:sp>
        <p:nvSpPr>
          <p:cNvPr id="9" name="eyebrow-02 • Generator">
            <a:extLst>
              <a:ext uri="{FF2B5EF4-FFF2-40B4-BE49-F238E27FC236}">
                <a16:creationId xmlns:a16="http://schemas.microsoft.com/office/drawing/2014/main" id="{E7A0A846-A223-4281-A100-48E63ECE19D2}"/>
              </a:ext>
            </a:extLst>
          </p:cNvPr>
          <p:cNvSpPr>
            <a:spLocks noGrp="1"/>
          </p:cNvSpPr>
          <p:nvPr/>
        </p:nvSpPr>
        <p:spPr>
          <a:xfrm>
            <a:off x="3476625" y="1533525"/>
            <a:ext cx="219075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02 • GENERATOR</a:t>
            </a:r>
          </a:p>
        </p:txBody>
      </p:sp>
      <p:sp>
        <p:nvSpPr>
          <p:cNvPr id="10" name="headline-02 • Generator">
            <a:extLst>
              <a:ext uri="{FF2B5EF4-FFF2-40B4-BE49-F238E27FC236}">
                <a16:creationId xmlns:a16="http://schemas.microsoft.com/office/drawing/2014/main" id="{12B1BAFC-9208-4C66-8747-65BFE146657E}"/>
              </a:ext>
            </a:extLst>
          </p:cNvPr>
          <p:cNvSpPr>
            <a:spLocks noGrp="1"/>
          </p:cNvSpPr>
          <p:nvPr/>
        </p:nvSpPr>
        <p:spPr>
          <a:xfrm>
            <a:off x="3476625" y="1838325"/>
            <a:ext cx="219075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Synthetic data chưa thay thế báo cáo thật</a:t>
            </a:r>
          </a:p>
        </p:txBody>
      </p:sp>
      <p:sp>
        <p:nvSpPr>
          <p:cNvPr id="11" name="body-02 • Generator">
            <a:extLst>
              <a:ext uri="{FF2B5EF4-FFF2-40B4-BE49-F238E27FC236}">
                <a16:creationId xmlns:a16="http://schemas.microsoft.com/office/drawing/2014/main" id="{E75FCB53-65AA-4636-80C1-063156327E1D}"/>
              </a:ext>
            </a:extLst>
          </p:cNvPr>
          <p:cNvSpPr>
            <a:spLocks noGrp="1"/>
          </p:cNvSpPr>
          <p:nvPr/>
        </p:nvSpPr>
        <p:spPr>
          <a:xfrm>
            <a:off x="3476625" y="2562225"/>
            <a:ext cx="2190750" cy="28384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Mô hình học tốt cấu trúc nhưng độ đa dạng insight còn phụ thuộc dữ liệu mẫu.</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Tiếp theo: fine-tune bằng báo cáo do con người biên soạn.</a:t>
            </a:r>
          </a:p>
        </p:txBody>
      </p:sp>
      <p:sp>
        <p:nvSpPr>
          <p:cNvPr id="12" name="card-03 • Đánh giá">
            <a:extLst>
              <a:ext uri="{FF2B5EF4-FFF2-40B4-BE49-F238E27FC236}">
                <a16:creationId xmlns:a16="http://schemas.microsoft.com/office/drawing/2014/main" id="{CB12D232-CA3C-4D05-9E4E-F5BD4F3B7CF8}"/>
              </a:ext>
            </a:extLst>
          </p:cNvPr>
          <p:cNvSpPr>
            <a:spLocks noGrp="1"/>
          </p:cNvSpPr>
          <p:nvPr/>
        </p:nvSpPr>
        <p:spPr>
          <a:xfrm>
            <a:off x="6048375" y="1381125"/>
            <a:ext cx="2571750" cy="4191000"/>
          </a:xfrm>
          <a:prstGeom prst="roundRect">
            <a:avLst>
              <a:gd name="adj" fmla="val 5185"/>
            </a:avLst>
          </a:prstGeom>
          <a:noFill/>
          <a:ln w="11430">
            <a:solidFill>
              <a:srgbClr val="E2D6D6"/>
            </a:solidFill>
            <a:prstDash val="solid"/>
          </a:ln>
        </p:spPr>
        <p:txBody>
          <a:bodyPr/>
          <a:lstStyle/>
          <a:p>
            <a:endParaRPr lang="en-VN"/>
          </a:p>
        </p:txBody>
      </p:sp>
      <p:sp>
        <p:nvSpPr>
          <p:cNvPr id="13" name="eyebrow-03 • Đánh giá">
            <a:extLst>
              <a:ext uri="{FF2B5EF4-FFF2-40B4-BE49-F238E27FC236}">
                <a16:creationId xmlns:a16="http://schemas.microsoft.com/office/drawing/2014/main" id="{C3D64204-D33E-4B42-8A2D-DE3902BB1BBC}"/>
              </a:ext>
            </a:extLst>
          </p:cNvPr>
          <p:cNvSpPr>
            <a:spLocks noGrp="1"/>
          </p:cNvSpPr>
          <p:nvPr/>
        </p:nvSpPr>
        <p:spPr>
          <a:xfrm>
            <a:off x="6238875" y="1533525"/>
            <a:ext cx="2190750" cy="228600"/>
          </a:xfrm>
          <a:prstGeom prst="rect">
            <a:avLst/>
          </a:prstGeom>
          <a:noFill/>
          <a:ln w="0">
            <a:noFill/>
            <a:prstDash val="solid"/>
          </a:ln>
        </p:spPr>
        <p:txBody>
          <a:bodyPr anchor="ctr"/>
          <a:lstStyle/>
          <a:p>
            <a:pPr>
              <a:defRPr sz="975" b="1">
                <a:solidFill>
                  <a:srgbClr val="2455D6"/>
                </a:solidFill>
                <a:latin typeface="Lato"/>
                <a:ea typeface="Lato"/>
                <a:cs typeface="Lato"/>
              </a:defRPr>
            </a:pPr>
            <a:r>
              <a:rPr sz="975" b="1">
                <a:solidFill>
                  <a:srgbClr val="2455D6"/>
                </a:solidFill>
                <a:latin typeface="Lato"/>
                <a:ea typeface="Lato"/>
                <a:cs typeface="Lato"/>
              </a:rPr>
              <a:t>03 • ĐÁNH GIÁ</a:t>
            </a:r>
          </a:p>
        </p:txBody>
      </p:sp>
      <p:sp>
        <p:nvSpPr>
          <p:cNvPr id="14" name="headline-03 • Đánh giá">
            <a:extLst>
              <a:ext uri="{FF2B5EF4-FFF2-40B4-BE49-F238E27FC236}">
                <a16:creationId xmlns:a16="http://schemas.microsoft.com/office/drawing/2014/main" id="{32F1C481-C949-4C23-8E9C-4AA12A692DB8}"/>
              </a:ext>
            </a:extLst>
          </p:cNvPr>
          <p:cNvSpPr>
            <a:spLocks noGrp="1"/>
          </p:cNvSpPr>
          <p:nvPr/>
        </p:nvSpPr>
        <p:spPr>
          <a:xfrm>
            <a:off x="6238875" y="1838325"/>
            <a:ext cx="219075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Yelp mới là pilot</a:t>
            </a:r>
          </a:p>
        </p:txBody>
      </p:sp>
      <p:sp>
        <p:nvSpPr>
          <p:cNvPr id="15" name="body-03 • Đánh giá">
            <a:extLst>
              <a:ext uri="{FF2B5EF4-FFF2-40B4-BE49-F238E27FC236}">
                <a16:creationId xmlns:a16="http://schemas.microsoft.com/office/drawing/2014/main" id="{E4F40149-25C3-4DEA-B99E-C65B4711C8AE}"/>
              </a:ext>
            </a:extLst>
          </p:cNvPr>
          <p:cNvSpPr>
            <a:spLocks noGrp="1"/>
          </p:cNvSpPr>
          <p:nvPr/>
        </p:nvSpPr>
        <p:spPr>
          <a:xfrm>
            <a:off x="6238875" y="2562225"/>
            <a:ext cx="2190750" cy="28384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Kết quả minh họa khả năng chạy end-to-end, chưa phải benchmark tổng quát.</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Tiếp theo: đánh giá factuality, coverage và chất lượng ngôn ngữ trên tập độc lập.</a:t>
            </a:r>
          </a:p>
        </p:txBody>
      </p:sp>
    </p:spTree>
    <p:extLst>
      <p:ext uri="{BB962C8B-B14F-4D97-AF65-F5344CB8AC3E}">
        <p14:creationId xmlns:p14="http://schemas.microsoft.com/office/powerpoint/2010/main" val="11309574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0">
            <a:extLst>
              <a:ext uri="{FF2B5EF4-FFF2-40B4-BE49-F238E27FC236}">
                <a16:creationId xmlns:a16="http://schemas.microsoft.com/office/drawing/2014/main" id="{F78B3876-6ECC-4098-BDD1-C48CE4B42721}"/>
              </a:ext>
            </a:extLst>
          </p:cNvPr>
          <p:cNvSpPr>
            <a:spLocks noGrp="1"/>
          </p:cNvSpPr>
          <p:nvPr/>
        </p:nvSpPr>
        <p:spPr>
          <a:xfrm>
            <a:off x="4181094" y="3021991"/>
            <a:ext cx="4197975" cy="814017"/>
          </a:xfrm>
          <a:prstGeom prst="rect">
            <a:avLst/>
          </a:prstGeom>
        </p:spPr>
        <p:txBody>
          <a:bodyPr/>
          <a:lstStyle>
            <a:lvl1pPr algn="l" defTabSz="914400">
              <a:lnSpc>
                <a:spcPct val="90000"/>
              </a:lnSpc>
              <a:spcBef>
                <a:spcPct val="0"/>
              </a:spcBef>
              <a:buNone/>
              <a:defRPr sz="6000" b="1" kern="1200">
                <a:solidFill>
                  <a:srgbClr val="C00000"/>
                </a:solidFill>
                <a:latin typeface="Lato"/>
                <a:ea typeface="Lato"/>
                <a:cs typeface="Lato"/>
              </a:defRPr>
            </a:lvl1pPr>
          </a:lstStyle>
          <a:p>
            <a:r>
              <a:rPr sz="4800"/>
              <a:t>XIN CẢM ƠN!</a:t>
            </a:r>
          </a:p>
        </p:txBody>
      </p:sp>
    </p:spTree>
    <p:extLst>
      <p:ext uri="{BB962C8B-B14F-4D97-AF65-F5344CB8AC3E}">
        <p14:creationId xmlns:p14="http://schemas.microsoft.com/office/powerpoint/2010/main" val="283053568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1411</TotalTime>
  <Words>2015</Words>
  <Application>Microsoft Macintosh PowerPoint</Application>
  <PresentationFormat>On-screen Show (4:3)</PresentationFormat>
  <Paragraphs>249</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Lato</vt:lpstr>
      <vt:lpstr>Office Theme</vt:lpstr>
      <vt:lpstr>PowerPoint Presentation</vt:lpstr>
      <vt:lpstr>Nội dung trình bày</vt:lpstr>
      <vt:lpstr>1. Bài toán &amp; mục tiêu</vt:lpstr>
      <vt:lpstr>1. Bài toán &amp; mục tiêu</vt:lpstr>
      <vt:lpstr>2. Kiến trúc hệ thống</vt:lpstr>
      <vt:lpstr>3. Vai trò của T5 và FLAN-T5</vt:lpstr>
      <vt:lpstr>4. Dữ liệu cho bài toán ASTE </vt:lpstr>
      <vt:lpstr>5. Fine-tune &amp; đánh giá ASTE</vt:lpstr>
      <vt:lpstr>6. Kết quả ASTE — So sánh mô hình</vt:lpstr>
      <vt:lpstr>6. Kết quả ASTE — Quá trình huấn luyện</vt:lpstr>
      <vt:lpstr>7. Tổng hợp aspect &amp; reason</vt:lpstr>
      <vt:lpstr>8. Sinh báo cáo bằng FLAN-T5</vt:lpstr>
      <vt:lpstr>9. Kiểm chứng factual</vt:lpstr>
      <vt:lpstr>10. Thử nghiệm mở rộng Yelp</vt:lpstr>
      <vt:lpstr>11. Hạn chế &amp; hướng phát triển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Trần Đạt</cp:lastModifiedBy>
  <cp:revision>20</cp:revision>
  <dcterms:created xsi:type="dcterms:W3CDTF">2026-07-26T12:24:08Z</dcterms:created>
  <dcterms:modified xsi:type="dcterms:W3CDTF">2026-08-02T18:17:18Z</dcterms:modified>
</cp:coreProperties>
</file>