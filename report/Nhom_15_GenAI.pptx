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72" r:id="rId5"/>
    <p:sldId id="259" r:id="rId6"/>
    <p:sldId id="269" r:id="rId7"/>
    <p:sldId id="273" r:id="rId8"/>
    <p:sldId id="274" r:id="rId9"/>
    <p:sldId id="270" r:id="rId10"/>
    <p:sldId id="276" r:id="rId11"/>
    <p:sldId id="263" r:id="rId12"/>
    <p:sldId id="264" r:id="rId13"/>
    <p:sldId id="265" r:id="rId14"/>
    <p:sldId id="266" r:id="rId15"/>
    <p:sldId id="267" r:id="rId16"/>
    <p:sldId id="275" r:id="rId17"/>
    <p:sldId id="268" r:id="rId18"/>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CC3AF0-3199-1BF0-4536-72350D2BA287}" name="Tran Manh Dat 20252607M" initials="T2" userId="S::dat.tm252607m@sis.hust.edu.vn::1b4dca00-5b14-420b-90c1-3324f04e1d7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F014A8-8FEE-8BAD-DDF3-06061F4402DB}" v="17" dt="2026-07-26T14:36:15.536"/>
    <p1510:client id="{58C0CBE6-33FD-40CD-F101-0FEFD854F201}" v="14" dt="2026-07-26T15:13:14.813"/>
    <p1510:client id="{CECACC48-74EC-BB42-E87D-83C0D414C292}" v="223" dt="2026-07-26T15:11:48.3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45"/>
    <p:restoredTop sz="84458"/>
  </p:normalViewPr>
  <p:slideViewPr>
    <p:cSldViewPr snapToGrid="0">
      <p:cViewPr varScale="1">
        <p:scale>
          <a:sx n="117" d="100"/>
          <a:sy n="117" d="100"/>
        </p:scale>
        <p:origin x="23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main.docx — báo cáo sơ bộ của nhóm, số liệu và mô tả pipeline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a:t>
            </a:r>
          </a:p>
          <a:p>
            <a:r>
              <a:rPr dirty="0"/>
              <a:t>- </a:t>
            </a:r>
            <a:r>
              <a:rPr dirty="0" err="1"/>
              <a:t>main.docx</a:t>
            </a:r>
            <a:r>
              <a:rPr dirty="0"/>
              <a:t> — </a:t>
            </a:r>
            <a:r>
              <a:rPr dirty="0" err="1"/>
              <a:t>báo</a:t>
            </a:r>
            <a:r>
              <a:rPr dirty="0"/>
              <a:t> </a:t>
            </a:r>
            <a:r>
              <a:rPr dirty="0" err="1"/>
              <a:t>cáo</a:t>
            </a:r>
            <a:r>
              <a:rPr dirty="0"/>
              <a:t> </a:t>
            </a:r>
            <a:r>
              <a:rPr dirty="0" err="1"/>
              <a:t>sơ</a:t>
            </a:r>
            <a:r>
              <a:rPr dirty="0"/>
              <a:t> </a:t>
            </a:r>
            <a:r>
              <a:rPr dirty="0" err="1"/>
              <a:t>bộ</a:t>
            </a:r>
            <a:r>
              <a:rPr dirty="0"/>
              <a:t> </a:t>
            </a:r>
            <a:r>
              <a:rPr dirty="0" err="1"/>
              <a:t>của</a:t>
            </a:r>
            <a:r>
              <a:rPr dirty="0"/>
              <a:t> </a:t>
            </a:r>
            <a:r>
              <a:rPr dirty="0" err="1"/>
              <a:t>nhóm</a:t>
            </a:r>
            <a:r>
              <a:rPr dirty="0"/>
              <a:t>, </a:t>
            </a:r>
            <a:r>
              <a:rPr dirty="0" err="1"/>
              <a:t>số</a:t>
            </a:r>
            <a:r>
              <a:rPr dirty="0"/>
              <a:t> </a:t>
            </a:r>
            <a:r>
              <a:rPr dirty="0" err="1"/>
              <a:t>liệu</a:t>
            </a:r>
            <a:r>
              <a:rPr dirty="0"/>
              <a:t> </a:t>
            </a:r>
            <a:r>
              <a:rPr dirty="0" err="1"/>
              <a:t>và</a:t>
            </a:r>
            <a:r>
              <a:rPr dirty="0"/>
              <a:t> </a:t>
            </a:r>
            <a:r>
              <a:rPr dirty="0" err="1"/>
              <a:t>mô</a:t>
            </a:r>
            <a:r>
              <a:rPr dirty="0"/>
              <a:t> </a:t>
            </a:r>
            <a:r>
              <a:rPr dirty="0" err="1"/>
              <a:t>tả</a:t>
            </a:r>
            <a:r>
              <a:rPr dirty="0"/>
              <a:t> pipeline</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Cụ</a:t>
            </a:r>
            <a:r>
              <a:rPr lang="en-US" dirty="0"/>
              <a:t> </a:t>
            </a:r>
            <a:r>
              <a:rPr lang="en-US" dirty="0" err="1"/>
              <a:t>thể</a:t>
            </a:r>
            <a:r>
              <a:rPr lang="en-US" dirty="0"/>
              <a:t>, </a:t>
            </a:r>
            <a:r>
              <a:rPr lang="en-US" dirty="0" err="1"/>
              <a:t>nhóm</a:t>
            </a:r>
            <a:r>
              <a:rPr lang="en-US" dirty="0"/>
              <a:t> </a:t>
            </a:r>
            <a:r>
              <a:rPr lang="en-US" dirty="0" err="1"/>
              <a:t>lựa</a:t>
            </a:r>
            <a:r>
              <a:rPr lang="en-US" dirty="0"/>
              <a:t> </a:t>
            </a:r>
            <a:r>
              <a:rPr lang="en-US" dirty="0" err="1"/>
              <a:t>chọn</a:t>
            </a:r>
            <a:r>
              <a:rPr lang="en-US" dirty="0"/>
              <a:t> </a:t>
            </a:r>
            <a:r>
              <a:rPr lang="en-US" dirty="0" err="1"/>
              <a:t>giải</a:t>
            </a:r>
            <a:r>
              <a:rPr lang="en-US" dirty="0"/>
              <a:t> </a:t>
            </a:r>
            <a:r>
              <a:rPr lang="en-US" dirty="0" err="1"/>
              <a:t>quyết</a:t>
            </a:r>
            <a:r>
              <a:rPr lang="en-US" dirty="0"/>
              <a:t> </a:t>
            </a:r>
            <a:r>
              <a:rPr lang="en-US" dirty="0" err="1"/>
              <a:t>phản</a:t>
            </a:r>
            <a:r>
              <a:rPr lang="en-US" dirty="0"/>
              <a:t> </a:t>
            </a:r>
            <a:r>
              <a:rPr lang="en-US" dirty="0" err="1"/>
              <a:t>hồi</a:t>
            </a:r>
            <a:r>
              <a:rPr lang="en-US" dirty="0"/>
              <a:t> </a:t>
            </a:r>
            <a:r>
              <a:rPr lang="en-US" dirty="0" err="1"/>
              <a:t>với</a:t>
            </a:r>
            <a:r>
              <a:rPr lang="en-US" dirty="0"/>
              <a:t> </a:t>
            </a:r>
            <a:r>
              <a:rPr lang="en-VN" sz="1200" kern="1200" dirty="0">
                <a:effectLst/>
              </a:rPr>
              <a:t>một review thực tế thường đề cập nhiều khía cạnh khác nhau với sentiment khác nhau.</a:t>
            </a:r>
          </a:p>
          <a:p>
            <a:r>
              <a:rPr lang="en-VN" sz="1200" kern="1200" dirty="0">
                <a:effectLst/>
              </a:rPr>
              <a:t>Tức là không chỉ có một nhãn tích cực/ hay tiêu cực cho toàn bộ một review</a:t>
            </a:r>
          </a:p>
          <a:p>
            <a:endParaRPr lang="en-VN" sz="1200" kern="1200" dirty="0">
              <a:effectLst/>
            </a:endParaRPr>
          </a:p>
          <a:p>
            <a:r>
              <a:rPr lang="en-VN" sz="1200" kern="1200" dirty="0">
                <a:effectLst/>
              </a:rPr>
              <a:t>Mà cần phải phân tích được từng khía cạnh xem là tích cực hay tiêu cực và vì lí do gì</a:t>
            </a:r>
          </a:p>
          <a:p>
            <a:endParaRPr lang="en-VN" sz="1200" kern="1200" dirty="0">
              <a:effectLst/>
            </a:endParaRPr>
          </a:p>
          <a:p>
            <a:r>
              <a:rPr lang="vi-VN" sz="1200" kern="1200" dirty="0">
                <a:effectLst/>
              </a:rPr>
              <a:t>Khi có hàng trăm, hàng nghìn review như vậy, việc đọc thủ công từng câu là không khả thi. Nhóm hướng tới một hệ thống tự động hoá toàn bộ quy trình: từ review thô, tự tổng hợp và</a:t>
            </a:r>
          </a:p>
          <a:p>
            <a:r>
              <a:rPr lang="vi-VN" sz="1200" kern="1200" dirty="0">
                <a:effectLst/>
              </a:rPr>
              <a:t>sinh ra một đoạn báo cáo dạng</a:t>
            </a:r>
          </a:p>
          <a:p>
            <a:r>
              <a:rPr lang="vi-VN" sz="1200" kern="1200" dirty="0">
                <a:effectLst/>
              </a:rPr>
              <a:t>Một rủi ro lớn khi dùng mô hình sinh văn bản (generative model) cho bước cuối là hiện tượng hallucination – mô hình có thể bịa ra số liệu hoặc nhận định không khớp với dữ liệu gốc.</a:t>
            </a:r>
            <a:endParaRPr lang="en-V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1243B-F224-C6C7-9928-4F1FC970F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494D9-8DD0-A34C-B88F-D8791045D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57C98-0F6D-7C72-82DA-C020D72362A8}"/>
              </a:ext>
            </a:extLst>
          </p:cNvPr>
          <p:cNvSpPr>
            <a:spLocks noGrp="1"/>
          </p:cNvSpPr>
          <p:nvPr>
            <p:ph type="body" idx="1"/>
          </p:nvPr>
        </p:nvSpPr>
        <p:spPr/>
        <p:txBody>
          <a:bodyPr/>
          <a:lstStyle/>
          <a:p>
            <a:pPr marL="228600" indent="-228600">
              <a:buAutoNum type="arabicPeriod"/>
            </a:pPr>
            <a:r>
              <a:rPr lang="en-US" dirty="0" err="1"/>
              <a:t>Về</a:t>
            </a:r>
            <a:r>
              <a:rPr lang="en-US" dirty="0"/>
              <a:t> </a:t>
            </a:r>
            <a:r>
              <a:rPr lang="en-US" dirty="0" err="1"/>
              <a:t>trích</a:t>
            </a:r>
            <a:r>
              <a:rPr lang="en-US" dirty="0"/>
              <a:t> </a:t>
            </a:r>
            <a:r>
              <a:rPr lang="en-US" dirty="0" err="1"/>
              <a:t>xuất</a:t>
            </a:r>
            <a:r>
              <a:rPr lang="en-US" dirty="0"/>
              <a:t> </a:t>
            </a:r>
            <a:r>
              <a:rPr lang="en-US" dirty="0" err="1"/>
              <a:t>thì</a:t>
            </a:r>
            <a:r>
              <a:rPr lang="en-US" dirty="0"/>
              <a:t> </a:t>
            </a:r>
            <a:r>
              <a:rPr lang="en-US" dirty="0" err="1"/>
              <a:t>nhóm</a:t>
            </a:r>
            <a:r>
              <a:rPr lang="en-US" dirty="0"/>
              <a:t> </a:t>
            </a:r>
            <a:r>
              <a:rPr lang="en-US" dirty="0" err="1"/>
              <a:t>sử</a:t>
            </a:r>
            <a:r>
              <a:rPr lang="en-US" dirty="0"/>
              <a:t> </a:t>
            </a:r>
            <a:r>
              <a:rPr lang="en-US" dirty="0" err="1"/>
              <a:t>dụng</a:t>
            </a:r>
            <a:r>
              <a:rPr lang="en-US" dirty="0"/>
              <a:t> </a:t>
            </a:r>
            <a:r>
              <a:rPr lang="en-US" dirty="0" err="1"/>
              <a:t>giải</a:t>
            </a:r>
            <a:r>
              <a:rPr lang="en-US" dirty="0"/>
              <a:t> </a:t>
            </a:r>
            <a:r>
              <a:rPr lang="en-US" dirty="0" err="1"/>
              <a:t>pháp</a:t>
            </a:r>
            <a:r>
              <a:rPr lang="en-US" dirty="0"/>
              <a:t>  (Generative Aspect-based Sentiment analysis)  </a:t>
            </a:r>
            <a:r>
              <a:rPr lang="en-US" dirty="0" err="1"/>
              <a:t>để</a:t>
            </a:r>
            <a:r>
              <a:rPr lang="en-US" dirty="0"/>
              <a:t> </a:t>
            </a:r>
            <a:r>
              <a:rPr lang="en-US" dirty="0" err="1"/>
              <a:t>trích</a:t>
            </a:r>
            <a:r>
              <a:rPr lang="en-US" dirty="0"/>
              <a:t> </a:t>
            </a:r>
            <a:r>
              <a:rPr lang="en-US" sz="1200" b="1" dirty="0" err="1">
                <a:solidFill>
                  <a:srgbClr val="242424"/>
                </a:solidFill>
                <a:latin typeface="Lato"/>
                <a:ea typeface="Lato"/>
                <a:cs typeface="Lato"/>
              </a:rPr>
              <a:t>trực</a:t>
            </a:r>
            <a:r>
              <a:rPr lang="en-US" sz="1200" b="1" dirty="0">
                <a:solidFill>
                  <a:srgbClr val="242424"/>
                </a:solidFill>
                <a:latin typeface="Lato"/>
                <a:ea typeface="Lato"/>
                <a:cs typeface="Lato"/>
              </a:rPr>
              <a:t> </a:t>
            </a:r>
            <a:r>
              <a:rPr lang="en-US" sz="1200" b="1" dirty="0" err="1">
                <a:solidFill>
                  <a:srgbClr val="242424"/>
                </a:solidFill>
                <a:latin typeface="Lato"/>
                <a:ea typeface="Lato"/>
                <a:cs typeface="Lato"/>
              </a:rPr>
              <a:t>tiếp</a:t>
            </a:r>
            <a:r>
              <a:rPr lang="en-US" sz="1200" b="1" dirty="0">
                <a:solidFill>
                  <a:srgbClr val="242424"/>
                </a:solidFill>
                <a:latin typeface="Lato"/>
                <a:ea typeface="Lato"/>
                <a:cs typeface="Lato"/>
              </a:rPr>
              <a:t> </a:t>
            </a:r>
            <a:r>
              <a:rPr lang="en-US" sz="1200" b="1" dirty="0" err="1">
                <a:solidFill>
                  <a:srgbClr val="242424"/>
                </a:solidFill>
                <a:latin typeface="Lato"/>
                <a:ea typeface="Lato"/>
                <a:cs typeface="Lato"/>
              </a:rPr>
              <a:t>từ</a:t>
            </a:r>
            <a:r>
              <a:rPr lang="en-US" sz="1200" b="1" dirty="0">
                <a:solidFill>
                  <a:srgbClr val="242424"/>
                </a:solidFill>
                <a:latin typeface="Lato"/>
                <a:ea typeface="Lato"/>
                <a:cs typeface="Lato"/>
              </a:rPr>
              <a:t> </a:t>
            </a:r>
            <a:r>
              <a:rPr lang="en-US" sz="1200" b="1" dirty="0" err="1">
                <a:solidFill>
                  <a:srgbClr val="242424"/>
                </a:solidFill>
                <a:latin typeface="Lato"/>
                <a:ea typeface="Lato"/>
                <a:cs typeface="Lato"/>
              </a:rPr>
              <a:t>câu</a:t>
            </a:r>
            <a:r>
              <a:rPr lang="en-US" sz="1200" b="1" dirty="0">
                <a:solidFill>
                  <a:srgbClr val="242424"/>
                </a:solidFill>
                <a:latin typeface="Lato"/>
                <a:ea typeface="Lato"/>
                <a:cs typeface="Lato"/>
              </a:rPr>
              <a:t> </a:t>
            </a:r>
            <a:r>
              <a:rPr lang="en-US" sz="1200" b="1" dirty="0" err="1">
                <a:solidFill>
                  <a:srgbClr val="242424"/>
                </a:solidFill>
                <a:latin typeface="Lato"/>
                <a:ea typeface="Lato"/>
                <a:cs typeface="Lato"/>
              </a:rPr>
              <a:t>thô</a:t>
            </a:r>
            <a:r>
              <a:rPr lang="en-US" sz="1200" b="1" dirty="0">
                <a:solidFill>
                  <a:srgbClr val="242424"/>
                </a:solidFill>
                <a:latin typeface="Lato"/>
                <a:ea typeface="Lato"/>
                <a:cs typeface="Lato"/>
              </a:rPr>
              <a:t>. Thay </a:t>
            </a:r>
            <a:r>
              <a:rPr lang="en-US" sz="1200" b="1" dirty="0" err="1">
                <a:solidFill>
                  <a:srgbClr val="242424"/>
                </a:solidFill>
                <a:latin typeface="Lato"/>
                <a:ea typeface="Lato"/>
                <a:cs typeface="Lato"/>
              </a:rPr>
              <a:t>vì</a:t>
            </a:r>
            <a:r>
              <a:rPr lang="en-US" sz="1200" b="1" dirty="0">
                <a:solidFill>
                  <a:srgbClr val="242424"/>
                </a:solidFill>
                <a:latin typeface="Lato"/>
                <a:ea typeface="Lato"/>
                <a:cs typeface="Lato"/>
              </a:rPr>
              <a:t> </a:t>
            </a:r>
            <a:r>
              <a:rPr lang="en-US" sz="1200" b="1" dirty="0" err="1">
                <a:solidFill>
                  <a:srgbClr val="242424"/>
                </a:solidFill>
                <a:latin typeface="Lato"/>
                <a:ea typeface="Lato"/>
                <a:cs typeface="Lato"/>
              </a:rPr>
              <a:t>sử</a:t>
            </a:r>
            <a:r>
              <a:rPr lang="en-US" sz="1200" b="1" dirty="0">
                <a:solidFill>
                  <a:srgbClr val="242424"/>
                </a:solidFill>
                <a:latin typeface="Lato"/>
                <a:ea typeface="Lato"/>
                <a:cs typeface="Lato"/>
              </a:rPr>
              <a:t> dung </a:t>
            </a:r>
            <a:r>
              <a:rPr lang="en-US" sz="1200" b="1" dirty="0" err="1">
                <a:solidFill>
                  <a:srgbClr val="242424"/>
                </a:solidFill>
                <a:latin typeface="Lato"/>
                <a:ea typeface="Lato"/>
                <a:cs typeface="Lato"/>
              </a:rPr>
              <a:t>hướng</a:t>
            </a:r>
            <a:r>
              <a:rPr lang="en-US" sz="1200" b="1" dirty="0">
                <a:solidFill>
                  <a:srgbClr val="242424"/>
                </a:solidFill>
                <a:latin typeface="Lato"/>
                <a:ea typeface="Lato"/>
                <a:cs typeface="Lato"/>
              </a:rPr>
              <a:t> 3 </a:t>
            </a:r>
            <a:r>
              <a:rPr lang="en-US" sz="1200" b="1" dirty="0" err="1">
                <a:solidFill>
                  <a:srgbClr val="242424"/>
                </a:solidFill>
                <a:latin typeface="Lato"/>
                <a:ea typeface="Lato"/>
                <a:cs typeface="Lato"/>
              </a:rPr>
              <a:t>cái</a:t>
            </a:r>
            <a:r>
              <a:rPr lang="en-US" sz="1200" b="1" dirty="0">
                <a:solidFill>
                  <a:srgbClr val="242424"/>
                </a:solidFill>
                <a:latin typeface="Lato"/>
                <a:ea typeface="Lato"/>
                <a:cs typeface="Lato"/>
              </a:rPr>
              <a:t> classifier </a:t>
            </a:r>
            <a:r>
              <a:rPr lang="en-US" sz="1200" b="1" dirty="0" err="1">
                <a:solidFill>
                  <a:srgbClr val="242424"/>
                </a:solidFill>
                <a:latin typeface="Lato"/>
                <a:ea typeface="Lato"/>
                <a:cs typeface="Lato"/>
              </a:rPr>
              <a:t>rời</a:t>
            </a:r>
            <a:r>
              <a:rPr lang="en-US" sz="1200" b="1" dirty="0">
                <a:solidFill>
                  <a:srgbClr val="242424"/>
                </a:solidFill>
                <a:latin typeface="Lato"/>
                <a:ea typeface="Lato"/>
                <a:cs typeface="Lato"/>
              </a:rPr>
              <a:t> </a:t>
            </a:r>
            <a:r>
              <a:rPr lang="en-US" sz="1200" b="1" dirty="0" err="1">
                <a:solidFill>
                  <a:srgbClr val="242424"/>
                </a:solidFill>
                <a:latin typeface="Lato"/>
                <a:ea typeface="Lato"/>
                <a:cs typeface="Lato"/>
              </a:rPr>
              <a:t>rạc</a:t>
            </a:r>
            <a:r>
              <a:rPr lang="en-US" sz="1200" b="1" dirty="0">
                <a:solidFill>
                  <a:srgbClr val="242424"/>
                </a:solidFill>
                <a:latin typeface="Lato"/>
                <a:ea typeface="Lato"/>
                <a:cs typeface="Lato"/>
              </a:rPr>
              <a:t>: </a:t>
            </a:r>
          </a:p>
          <a:p>
            <a:pPr marL="228600" indent="-228600">
              <a:buAutoNum type="arabicPeriod"/>
            </a:pPr>
            <a:endParaRPr lang="en-US" sz="1200" b="1" dirty="0">
              <a:solidFill>
                <a:srgbClr val="242424"/>
              </a:solidFill>
              <a:latin typeface="Lato"/>
              <a:ea typeface="Lato"/>
              <a:cs typeface="Lato"/>
            </a:endParaRPr>
          </a:p>
          <a:p>
            <a:r>
              <a:rPr lang="en-VN" sz="1200" kern="1200" dirty="0">
                <a:effectLst/>
              </a:rPr>
              <a:t>Classifier 1: aspect extractor</a:t>
            </a:r>
          </a:p>
          <a:p>
            <a:r>
              <a:rPr lang="en-VN" sz="1200" kern="1200" dirty="0">
                <a:effectLst/>
              </a:rPr>
              <a:t>Classifier 2: opnion extractor</a:t>
            </a:r>
          </a:p>
          <a:p>
            <a:r>
              <a:rPr lang="en-VN" sz="1200" kern="1200" dirty="0">
                <a:effectLst/>
              </a:rPr>
              <a:t>Classifier 3: polarity classifier</a:t>
            </a:r>
          </a:p>
          <a:p>
            <a:endParaRPr lang="en-VN" sz="1200" kern="1200">
              <a:effectLst/>
            </a:endParaRPr>
          </a:p>
          <a:p>
            <a:endParaRPr lang="en-VN" sz="1200" kern="1200">
              <a:effectLst/>
            </a:endParaRPr>
          </a:p>
        </p:txBody>
      </p:sp>
      <p:sp>
        <p:nvSpPr>
          <p:cNvPr id="4" name="Slide Number Placeholder 3">
            <a:extLst>
              <a:ext uri="{FF2B5EF4-FFF2-40B4-BE49-F238E27FC236}">
                <a16:creationId xmlns:a16="http://schemas.microsoft.com/office/drawing/2014/main" id="{3C1905CE-F160-02FE-B4C0-A78F22DC60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91348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a:t>
            </a:r>
          </a:p>
          <a:p>
            <a:r>
              <a:rPr dirty="0"/>
              <a:t>- </a:t>
            </a:r>
            <a:r>
              <a:rPr dirty="0" err="1"/>
              <a:t>main.docx</a:t>
            </a:r>
            <a:r>
              <a:rPr dirty="0"/>
              <a:t> — </a:t>
            </a:r>
            <a:r>
              <a:rPr dirty="0" err="1"/>
              <a:t>báo</a:t>
            </a:r>
            <a:r>
              <a:rPr dirty="0"/>
              <a:t> </a:t>
            </a:r>
            <a:r>
              <a:rPr dirty="0" err="1"/>
              <a:t>cáo</a:t>
            </a:r>
            <a:r>
              <a:rPr dirty="0"/>
              <a:t> </a:t>
            </a:r>
            <a:r>
              <a:rPr dirty="0" err="1"/>
              <a:t>sơ</a:t>
            </a:r>
            <a:r>
              <a:rPr dirty="0"/>
              <a:t> </a:t>
            </a:r>
            <a:r>
              <a:rPr dirty="0" err="1"/>
              <a:t>bộ</a:t>
            </a:r>
            <a:r>
              <a:rPr dirty="0"/>
              <a:t> </a:t>
            </a:r>
            <a:r>
              <a:rPr dirty="0" err="1"/>
              <a:t>của</a:t>
            </a:r>
            <a:r>
              <a:rPr dirty="0"/>
              <a:t> </a:t>
            </a:r>
            <a:r>
              <a:rPr dirty="0" err="1"/>
              <a:t>nhóm</a:t>
            </a:r>
            <a:r>
              <a:rPr dirty="0"/>
              <a:t>, </a:t>
            </a:r>
            <a:r>
              <a:rPr dirty="0" err="1"/>
              <a:t>số</a:t>
            </a:r>
            <a:r>
              <a:rPr dirty="0"/>
              <a:t> </a:t>
            </a:r>
            <a:r>
              <a:rPr dirty="0" err="1"/>
              <a:t>liệu</a:t>
            </a:r>
            <a:r>
              <a:rPr dirty="0"/>
              <a:t> </a:t>
            </a:r>
            <a:r>
              <a:rPr dirty="0" err="1"/>
              <a:t>và</a:t>
            </a:r>
            <a:r>
              <a:rPr dirty="0"/>
              <a:t> </a:t>
            </a:r>
            <a:r>
              <a:rPr dirty="0" err="1"/>
              <a:t>mô</a:t>
            </a:r>
            <a:r>
              <a:rPr dirty="0"/>
              <a:t> </a:t>
            </a:r>
            <a:r>
              <a:rPr dirty="0" err="1"/>
              <a:t>tả</a:t>
            </a:r>
            <a:r>
              <a:rPr dirty="0"/>
              <a:t> pipeline</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VN" dirty="0"/>
          </a:p>
          <a:p>
            <a:pPr rtl="0"/>
            <a:r>
              <a:rPr lang="en-VN" b="1" dirty="0"/>
              <a:t>"Exploring the Limits of Transfer Learning with a Unified Text-to-Text Transformer"</a:t>
            </a:r>
            <a:r>
              <a:rPr lang="en-VN" dirty="0"/>
              <a:t> — Colin Raffel, Noam Shazeer, Adam Roberts, Katherine Lee, Sharan Narang, Michael Matena, Yanqi Zhou, Wei Li, Peter J. Liu (Google, JMLR 2020).</a:t>
            </a:r>
          </a:p>
          <a:p>
            <a:pPr rtl="0"/>
            <a:endParaRPr lang="en-VN" dirty="0"/>
          </a:p>
          <a:p>
            <a:pPr rtl="0"/>
            <a:r>
              <a:rPr lang="en-VN" dirty="0"/>
              <a:t>Giải thích các cột:</a:t>
            </a:r>
          </a:p>
          <a:p>
            <a:pPr lvl="0" rtl="0"/>
            <a:r>
              <a:rPr lang="en-VN" b="1" dirty="0"/>
              <a:t>Layers</a:t>
            </a:r>
            <a:r>
              <a:rPr lang="en-VN" dirty="0"/>
              <a:t>: số block encoder = số block decoder (mỗi block = self-attention + FFN, decoder có thêm cross-attention)</a:t>
            </a:r>
          </a:p>
          <a:p>
            <a:pPr lvl="0" rtl="0"/>
            <a:r>
              <a:rPr lang="en-VN" b="1" dirty="0"/>
              <a:t>d_model</a:t>
            </a:r>
            <a:r>
              <a:rPr lang="en-VN" dirty="0"/>
              <a:t>: chiều embedding / hidden state xuyên suốt model</a:t>
            </a:r>
          </a:p>
          <a:p>
            <a:pPr lvl="0" rtl="0"/>
            <a:r>
              <a:rPr lang="en-VN" b="1" dirty="0"/>
              <a:t>d_ff</a:t>
            </a:r>
            <a:r>
              <a:rPr lang="en-VN" dirty="0"/>
              <a:t>: chiều ẩn của feed-forward layer bên trong mỗi block (thường = 4×d_model, trừ 3B/11B)</a:t>
            </a:r>
          </a:p>
          <a:p>
            <a:pPr lvl="0" rtl="0"/>
            <a:r>
              <a:rPr lang="en-VN" b="1" dirty="0"/>
              <a:t>Heads</a:t>
            </a:r>
            <a:r>
              <a:rPr lang="en-VN" dirty="0"/>
              <a:t>: số attention head</a:t>
            </a:r>
          </a:p>
          <a:p>
            <a:pPr lvl="0" rtl="0"/>
            <a:r>
              <a:rPr lang="en-VN" b="1" dirty="0"/>
              <a:t>d_kv</a:t>
            </a:r>
            <a:r>
              <a:rPr lang="en-VN" dirty="0"/>
              <a:t>: chiều của mỗi head (= d_model / heads với Small/Base/Large, nhưng 3B/11B tách riêng)</a:t>
            </a:r>
          </a:p>
          <a:p>
            <a:br>
              <a:rPr lang="en-US" dirty="0"/>
            </a:br>
            <a:r>
              <a:rPr lang="en-US" dirty="0"/>
              <a:t>text to text : </a:t>
            </a:r>
            <a:r>
              <a:rPr lang="en-US" dirty="0" err="1"/>
              <a:t>biến</a:t>
            </a:r>
            <a:r>
              <a:rPr lang="en-US" dirty="0"/>
              <a:t> </a:t>
            </a:r>
            <a:r>
              <a:rPr lang="en-US" dirty="0" err="1"/>
              <a:t>mọi</a:t>
            </a:r>
            <a:r>
              <a:rPr lang="en-US" dirty="0"/>
              <a:t> </a:t>
            </a:r>
            <a:r>
              <a:rPr lang="en-US" dirty="0" err="1"/>
              <a:t>bài</a:t>
            </a:r>
            <a:r>
              <a:rPr lang="en-US" dirty="0"/>
              <a:t> </a:t>
            </a:r>
            <a:r>
              <a:rPr lang="en-US" dirty="0" err="1"/>
              <a:t>toán</a:t>
            </a:r>
            <a:r>
              <a:rPr lang="en-US" dirty="0"/>
              <a:t> NLP </a:t>
            </a:r>
            <a:r>
              <a:rPr lang="en-US" dirty="0" err="1"/>
              <a:t>thành</a:t>
            </a:r>
            <a:r>
              <a:rPr lang="en-US" dirty="0"/>
              <a:t> </a:t>
            </a:r>
            <a:r>
              <a:rPr lang="en-US" dirty="0" err="1"/>
              <a:t>dạng</a:t>
            </a:r>
            <a:r>
              <a:rPr lang="en-US" dirty="0"/>
              <a:t> text-to-text: </a:t>
            </a:r>
            <a:r>
              <a:rPr lang="en-US" dirty="0" err="1"/>
              <a:t>đầu</a:t>
            </a:r>
            <a:r>
              <a:rPr lang="en-US" dirty="0"/>
              <a:t> </a:t>
            </a:r>
            <a:r>
              <a:rPr lang="en-US" dirty="0" err="1"/>
              <a:t>vào</a:t>
            </a:r>
            <a:r>
              <a:rPr lang="en-US" dirty="0"/>
              <a:t> </a:t>
            </a:r>
            <a:r>
              <a:rPr lang="en-US" dirty="0" err="1"/>
              <a:t>là</a:t>
            </a:r>
            <a:r>
              <a:rPr lang="en-US" dirty="0"/>
              <a:t> text, </a:t>
            </a:r>
            <a:r>
              <a:rPr lang="en-US" dirty="0" err="1"/>
              <a:t>đầu</a:t>
            </a:r>
            <a:r>
              <a:rPr lang="en-US" dirty="0"/>
              <a:t> </a:t>
            </a:r>
            <a:r>
              <a:rPr lang="en-US" dirty="0" err="1"/>
              <a:t>ra</a:t>
            </a:r>
            <a:r>
              <a:rPr lang="en-US" dirty="0"/>
              <a:t> </a:t>
            </a:r>
            <a:r>
              <a:rPr lang="en-US" dirty="0" err="1"/>
              <a:t>cũng</a:t>
            </a:r>
            <a:r>
              <a:rPr lang="en-US" dirty="0"/>
              <a:t> </a:t>
            </a:r>
            <a:r>
              <a:rPr lang="en-US" dirty="0" err="1"/>
              <a:t>là</a:t>
            </a:r>
            <a:r>
              <a:rPr lang="en-US" dirty="0"/>
              <a:t> text, </a:t>
            </a:r>
            <a:r>
              <a:rPr lang="en-US" dirty="0" err="1"/>
              <a:t>bất</a:t>
            </a:r>
            <a:r>
              <a:rPr lang="en-US" dirty="0"/>
              <a:t> </a:t>
            </a:r>
            <a:r>
              <a:rPr lang="en-US" dirty="0" err="1"/>
              <a:t>kể</a:t>
            </a:r>
            <a:r>
              <a:rPr lang="en-US" dirty="0"/>
              <a:t> </a:t>
            </a:r>
            <a:r>
              <a:rPr lang="en-US" dirty="0" err="1"/>
              <a:t>đó</a:t>
            </a:r>
            <a:r>
              <a:rPr lang="en-US" dirty="0"/>
              <a:t> </a:t>
            </a:r>
            <a:r>
              <a:rPr lang="en-US" dirty="0" err="1"/>
              <a:t>là</a:t>
            </a:r>
            <a:r>
              <a:rPr lang="en-US" dirty="0"/>
              <a:t> </a:t>
            </a:r>
            <a:r>
              <a:rPr lang="en-US" dirty="0" err="1"/>
              <a:t>dịch</a:t>
            </a:r>
            <a:r>
              <a:rPr lang="en-US" dirty="0"/>
              <a:t> </a:t>
            </a:r>
            <a:r>
              <a:rPr lang="en-US" dirty="0" err="1"/>
              <a:t>máy</a:t>
            </a:r>
            <a:r>
              <a:rPr lang="en-US" dirty="0"/>
              <a:t>, </a:t>
            </a:r>
            <a:r>
              <a:rPr lang="en-US" dirty="0" err="1"/>
              <a:t>tóm</a:t>
            </a:r>
            <a:r>
              <a:rPr lang="en-US" dirty="0"/>
              <a:t> </a:t>
            </a:r>
            <a:r>
              <a:rPr lang="en-US" dirty="0" err="1"/>
              <a:t>tắt</a:t>
            </a:r>
            <a:r>
              <a:rPr lang="en-US" dirty="0"/>
              <a:t>, </a:t>
            </a:r>
            <a:r>
              <a:rPr lang="en-US" dirty="0" err="1"/>
              <a:t>phân</a:t>
            </a:r>
            <a:r>
              <a:rPr lang="en-US" dirty="0"/>
              <a:t> </a:t>
            </a:r>
            <a:r>
              <a:rPr lang="en-US" dirty="0" err="1"/>
              <a:t>loại</a:t>
            </a:r>
            <a:r>
              <a:rPr lang="en-US" dirty="0"/>
              <a:t>, hay </a:t>
            </a:r>
            <a:r>
              <a:rPr lang="en-US" dirty="0" err="1"/>
              <a:t>hỏi</a:t>
            </a:r>
            <a:r>
              <a:rPr lang="en-US" dirty="0"/>
              <a:t> </a:t>
            </a:r>
            <a:r>
              <a:rPr lang="en-US" dirty="0" err="1"/>
              <a:t>đáp</a:t>
            </a:r>
            <a:r>
              <a:rPr lang="en-US" dirty="0"/>
              <a:t>. (</a:t>
            </a:r>
            <a:r>
              <a:rPr lang="en-US" dirty="0" err="1"/>
              <a:t>các</a:t>
            </a:r>
            <a:r>
              <a:rPr lang="en-US" dirty="0"/>
              <a:t> </a:t>
            </a:r>
            <a:r>
              <a:rPr lang="en-US" dirty="0" err="1"/>
              <a:t>loại</a:t>
            </a:r>
            <a:r>
              <a:rPr lang="en-US" dirty="0"/>
              <a:t> </a:t>
            </a:r>
            <a:r>
              <a:rPr lang="en-US" dirty="0" err="1"/>
              <a:t>ngôn</a:t>
            </a:r>
            <a:r>
              <a:rPr lang="en-US" dirty="0"/>
              <a:t> </a:t>
            </a:r>
            <a:r>
              <a:rPr lang="en-US" dirty="0" err="1"/>
              <a:t>ngữ</a:t>
            </a:r>
            <a:r>
              <a:rPr lang="en-US" dirty="0"/>
              <a:t> </a:t>
            </a:r>
            <a:r>
              <a:rPr lang="en-US" dirty="0" err="1"/>
              <a:t>khác</a:t>
            </a:r>
            <a:r>
              <a:rPr lang="en-US" dirty="0"/>
              <a:t> </a:t>
            </a:r>
            <a:r>
              <a:rPr lang="en-US" dirty="0" err="1"/>
              <a:t>nhau</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Scaling Instruction-Finetuned Language Models" (2022). </a:t>
            </a:r>
          </a:p>
        </p:txBody>
      </p:sp>
      <p:sp>
        <p:nvSpPr>
          <p:cNvPr id="4" name="Slide Number Placeholder 3"/>
          <p:cNvSpPr>
            <a:spLocks noGrp="1"/>
          </p:cNvSpPr>
          <p:nvPr>
            <p:ph type="sldNum" sz="quarter" idx="5"/>
          </p:nvPr>
        </p:nvSpPr>
        <p:spPr/>
        <p:txBody>
          <a:bodyPr/>
          <a:lstStyle/>
          <a:p>
            <a:endParaRPr lang="en-VN"/>
          </a:p>
        </p:txBody>
      </p:sp>
    </p:spTree>
    <p:extLst>
      <p:ext uri="{BB962C8B-B14F-4D97-AF65-F5344CB8AC3E}">
        <p14:creationId xmlns:p14="http://schemas.microsoft.com/office/powerpoint/2010/main" val="530999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Triplet-F1 sử dụng exact set overlap sau chuẩn hóa.</a:t>
            </a:r>
          </a:p>
          <a:p>
            <a:r>
              <a:t>[Sources]</a:t>
            </a:r>
          </a:p>
          <a:p>
            <a:r>
              <a:t>- main2.docx — báo cáo cập nhật của nhóm, định nghĩa ASTE, phương pháp sinh chuỗi và logic tổng hợp</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Precision = TP / (TP + FP dự đoán), Recall = TP / (TP + FN groundtruth bị bỏ sót)</a:t>
            </a:r>
          </a:p>
          <a:p>
            <a:r>
              <a:rPr lang="en-VN" dirty="0"/>
              <a:t>f1 = </a:t>
            </a:r>
            <a:r>
              <a:rPr lang="en-VN" sz="1200" kern="1200" dirty="0">
                <a:effectLst/>
              </a:rPr>
              <a:t>2</a:t>
            </a:r>
            <a:r>
              <a:rPr lang="en-VN" dirty="0"/>
              <a:t> * precision * recall / </a:t>
            </a:r>
            <a:r>
              <a:rPr lang="en-VN" sz="1200" kern="1200" dirty="0">
                <a:effectLst/>
              </a:rPr>
              <a:t>(</a:t>
            </a:r>
            <a:r>
              <a:rPr lang="en-VN" dirty="0"/>
              <a:t>precision + recall</a:t>
            </a:r>
            <a:r>
              <a:rPr lang="en-VN" sz="1200" kern="1200" dirty="0">
                <a:effectLst/>
              </a:rPr>
              <a:t>)</a:t>
            </a:r>
            <a:r>
              <a:rPr lang="en-VN" dirty="0"/>
              <a:t> </a:t>
            </a:r>
            <a:r>
              <a:rPr lang="en-VN" sz="1200" kern="1200" dirty="0">
                <a:effectLst/>
              </a:rPr>
              <a:t>if</a:t>
            </a:r>
            <a:r>
              <a:rPr lang="en-VN" dirty="0"/>
              <a:t> </a:t>
            </a:r>
            <a:r>
              <a:rPr lang="en-VN" sz="1200" kern="1200" dirty="0">
                <a:effectLst/>
              </a:rPr>
              <a:t>(</a:t>
            </a:r>
            <a:r>
              <a:rPr lang="en-VN" dirty="0"/>
              <a:t>precision + recall</a:t>
            </a:r>
            <a:r>
              <a:rPr lang="en-VN" sz="1200" kern="1200" dirty="0">
                <a:effectLst/>
              </a:rPr>
              <a:t>)</a:t>
            </a:r>
            <a:r>
              <a:rPr lang="en-VN" dirty="0"/>
              <a:t> </a:t>
            </a:r>
            <a:r>
              <a:rPr lang="en-VN" sz="1200" kern="1200" dirty="0">
                <a:effectLst/>
              </a:rPr>
              <a:t>else</a:t>
            </a:r>
            <a:r>
              <a:rPr lang="en-VN" dirty="0"/>
              <a:t> </a:t>
            </a:r>
            <a:r>
              <a:rPr lang="en-VN" sz="1200" kern="1200" dirty="0">
                <a:effectLst/>
              </a:rPr>
              <a:t>0</a:t>
            </a:r>
            <a:endParaRPr lang="en-VN" dirty="0"/>
          </a:p>
        </p:txBody>
      </p:sp>
      <p:sp>
        <p:nvSpPr>
          <p:cNvPr id="4" name="Slide Number Placeholder 3"/>
          <p:cNvSpPr>
            <a:spLocks noGrp="1"/>
          </p:cNvSpPr>
          <p:nvPr>
            <p:ph type="sldNum" sz="quarter" idx="5"/>
          </p:nvPr>
        </p:nvSpPr>
        <p:spPr/>
        <p:txBody>
          <a:bodyPr/>
          <a:lstStyle/>
          <a:p>
            <a:endParaRPr lang="en-VN"/>
          </a:p>
        </p:txBody>
      </p:sp>
    </p:spTree>
    <p:extLst>
      <p:ext uri="{BB962C8B-B14F-4D97-AF65-F5344CB8AC3E}">
        <p14:creationId xmlns:p14="http://schemas.microsoft.com/office/powerpoint/2010/main" val="2695800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275">
                <a:solidFill>
                  <a:srgbClr val="666666"/>
                </a:solidFill>
                <a:latin typeface="Lato"/>
                <a:ea typeface="Lato"/>
                <a:cs typeface="Lato"/>
              </a:defRPr>
            </a:pPr>
            <a:r>
              <a:rPr lang="en-US" sz="1200" dirty="0">
                <a:solidFill>
                  <a:srgbClr val="666666"/>
                </a:solidFill>
                <a:latin typeface="Lato"/>
                <a:ea typeface="Lato"/>
                <a:cs typeface="Lato"/>
              </a:rPr>
              <a:t>Logic </a:t>
            </a:r>
            <a:r>
              <a:rPr lang="en-US" sz="1200" dirty="0" err="1">
                <a:solidFill>
                  <a:srgbClr val="666666"/>
                </a:solidFill>
                <a:latin typeface="Lato"/>
                <a:ea typeface="Lato"/>
                <a:cs typeface="Lato"/>
              </a:rPr>
              <a:t>chạy</a:t>
            </a:r>
            <a:r>
              <a:rPr lang="en-US" sz="1200" dirty="0">
                <a:solidFill>
                  <a:srgbClr val="666666"/>
                </a:solidFill>
                <a:latin typeface="Lato"/>
                <a:ea typeface="Lato"/>
                <a:cs typeface="Lato"/>
              </a:rPr>
              <a:t> CPU, </a:t>
            </a:r>
            <a:r>
              <a:rPr lang="en-US" sz="1200" dirty="0" err="1">
                <a:solidFill>
                  <a:srgbClr val="666666"/>
                </a:solidFill>
                <a:latin typeface="Lato"/>
                <a:ea typeface="Lato"/>
                <a:cs typeface="Lato"/>
              </a:rPr>
              <a:t>được</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tách</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thành</a:t>
            </a:r>
            <a:r>
              <a:rPr lang="en-US" sz="1200" dirty="0">
                <a:solidFill>
                  <a:srgbClr val="666666"/>
                </a:solidFill>
                <a:latin typeface="Lato"/>
                <a:ea typeface="Lato"/>
                <a:cs typeface="Lato"/>
              </a:rPr>
              <a:t> module </a:t>
            </a:r>
            <a:r>
              <a:rPr lang="en-US" sz="1200" dirty="0" err="1">
                <a:solidFill>
                  <a:srgbClr val="666666"/>
                </a:solidFill>
                <a:latin typeface="Lato"/>
                <a:ea typeface="Lato"/>
                <a:cs typeface="Lato"/>
              </a:rPr>
              <a:t>có</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kiểm</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thử</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cùng</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một</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bảng</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vừa</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cấp</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dữ</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liệu</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cho</a:t>
            </a:r>
            <a:r>
              <a:rPr lang="en-US" sz="1200" dirty="0">
                <a:solidFill>
                  <a:srgbClr val="666666"/>
                </a:solidFill>
                <a:latin typeface="Lato"/>
                <a:ea typeface="Lato"/>
                <a:cs typeface="Lato"/>
              </a:rPr>
              <a:t> FLAN-T5, </a:t>
            </a:r>
            <a:r>
              <a:rPr lang="en-US" sz="1200" dirty="0" err="1">
                <a:solidFill>
                  <a:srgbClr val="666666"/>
                </a:solidFill>
                <a:latin typeface="Lato"/>
                <a:ea typeface="Lato"/>
                <a:cs typeface="Lato"/>
              </a:rPr>
              <a:t>vừa</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là</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nguồn</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gốc</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để</a:t>
            </a:r>
            <a:r>
              <a:rPr lang="en-US" sz="1200" dirty="0">
                <a:solidFill>
                  <a:srgbClr val="666666"/>
                </a:solidFill>
                <a:latin typeface="Lato"/>
                <a:ea typeface="Lato"/>
                <a:cs typeface="Lato"/>
              </a:rPr>
              <a:t> factual checker </a:t>
            </a:r>
            <a:r>
              <a:rPr lang="en-US" sz="1200" dirty="0" err="1">
                <a:solidFill>
                  <a:srgbClr val="666666"/>
                </a:solidFill>
                <a:latin typeface="Lato"/>
                <a:ea typeface="Lato"/>
                <a:cs typeface="Lato"/>
              </a:rPr>
              <a:t>đối</a:t>
            </a:r>
            <a:r>
              <a:rPr lang="en-US" sz="1200" dirty="0">
                <a:solidFill>
                  <a:srgbClr val="666666"/>
                </a:solidFill>
                <a:latin typeface="Lato"/>
                <a:ea typeface="Lato"/>
                <a:cs typeface="Lato"/>
              </a:rPr>
              <a:t> </a:t>
            </a:r>
            <a:r>
              <a:rPr lang="en-US" sz="1200" dirty="0" err="1">
                <a:solidFill>
                  <a:srgbClr val="666666"/>
                </a:solidFill>
                <a:latin typeface="Lato"/>
                <a:ea typeface="Lato"/>
                <a:cs typeface="Lato"/>
              </a:rPr>
              <a:t>chiếu</a:t>
            </a:r>
            <a:r>
              <a:rPr lang="en-US" sz="1200" dirty="0">
                <a:solidFill>
                  <a:srgbClr val="666666"/>
                </a:solidFill>
                <a:latin typeface="Lato"/>
                <a:ea typeface="Lato"/>
                <a:cs typeface="Lato"/>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main.docx — báo cáo sơ bộ của nhóm, số liệu và mô tả pipeline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main.docx — báo cáo sơ bộ của nhóm, số liệu và mô tả pipeline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main.docx — báo cáo sơ bộ của nhóm, số liệu và mô tả pipeline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main.docx — báo cáo sơ bộ của nhóm, số liệu và mô tả pipeline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b="1" dirty="0"/>
              <a:t>"Exploring the Limits of Transfer Learning with a Unified Text-to-Text Transformer"</a:t>
            </a:r>
            <a:r>
              <a:rPr lang="en-VN" dirty="0"/>
              <a:t> — Colin Raffel, Noam Shazeer, Adam Roberts, Katherine Lee, Sharan Narang, Michael Matena, Yanqi Zhou, Wei Li, Peter J. Liu (Google, JMLR 2020).</a:t>
            </a:r>
          </a:p>
          <a:p>
            <a:pPr marL="0" marR="0" lvl="0" indent="0" algn="l" defTabSz="914400" rtl="0" eaLnBrk="1" fontAlgn="auto" latinLnBrk="0" hangingPunct="1">
              <a:lnSpc>
                <a:spcPct val="100000"/>
              </a:lnSpc>
              <a:spcBef>
                <a:spcPts val="0"/>
              </a:spcBef>
              <a:spcAft>
                <a:spcPts val="0"/>
              </a:spcAft>
              <a:buClrTx/>
              <a:buSzTx/>
              <a:buFontTx/>
              <a:buNone/>
              <a:tabLst/>
              <a:defRPr/>
            </a:pPr>
            <a:r>
              <a:rPr lang="en-VN" dirty="0"/>
              <a:t>Scaling Instruction-Finetuned Language Models" (2022). </a:t>
            </a:r>
          </a:p>
          <a:p>
            <a:endParaRPr lang="en-VN" dirty="0"/>
          </a:p>
          <a:p>
            <a:endParaRPr lang="en-VN" dirty="0"/>
          </a:p>
          <a:p>
            <a:r>
              <a:rPr lang="en-US" dirty="0"/>
              <a:t>https://</a:t>
            </a:r>
            <a:r>
              <a:rPr lang="en-US" dirty="0" err="1"/>
              <a:t>github.com</a:t>
            </a:r>
            <a:r>
              <a:rPr lang="en-US" dirty="0"/>
              <a:t>/</a:t>
            </a:r>
            <a:r>
              <a:rPr lang="en-US" dirty="0" err="1"/>
              <a:t>xuuuluuu</a:t>
            </a:r>
            <a:r>
              <a:rPr lang="en-US" dirty="0"/>
              <a:t>/SemEval-Triplet-data</a:t>
            </a:r>
            <a:endParaRPr lang="en-VN" dirty="0"/>
          </a:p>
        </p:txBody>
      </p:sp>
      <p:sp>
        <p:nvSpPr>
          <p:cNvPr id="4" name="Slide Number Placeholder 3"/>
          <p:cNvSpPr>
            <a:spLocks noGrp="1"/>
          </p:cNvSpPr>
          <p:nvPr>
            <p:ph type="sldNum" sz="quarter" idx="5"/>
          </p:nvPr>
        </p:nvSpPr>
        <p:spPr/>
        <p:txBody>
          <a:bodyPr/>
          <a:lstStyle/>
          <a:p>
            <a:endParaRPr lang="en-VN"/>
          </a:p>
        </p:txBody>
      </p:sp>
    </p:spTree>
    <p:extLst>
      <p:ext uri="{BB962C8B-B14F-4D97-AF65-F5344CB8AC3E}">
        <p14:creationId xmlns:p14="http://schemas.microsoft.com/office/powerpoint/2010/main" val="803529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main.docx — báo cáo sơ bộ của nhóm, số liệu và mô tả pipeline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buNone/>
              <a:defRPr sz="4800" b="1">
                <a:solidFill>
                  <a:schemeClr val="bg1"/>
                </a:solidFill>
                <a:latin typeface="Lato"/>
                <a:ea typeface="Lato"/>
                <a:cs typeface="Lato"/>
              </a:defRPr>
            </a:lvl1p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13/8/26</a:t>
            </a:fld>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idx="13"/>
          </p:nvPr>
        </p:nvSpPr>
        <p:spPr>
          <a:xfrm>
            <a:off x="235077" y="841247"/>
            <a:ext cx="8674100" cy="5303393"/>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13/8/26</a:t>
            </a:fld>
            <a:endParaRPr/>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idx="1"/>
          </p:nvPr>
        </p:nvSpPr>
        <p:spPr>
          <a:xfrm>
            <a:off x="528828" y="1423289"/>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idx="2"/>
          </p:nvPr>
        </p:nvSpPr>
        <p:spPr>
          <a:xfrm>
            <a:off x="4572000" y="1423289"/>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2: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13/8/26</a:t>
            </a:fld>
            <a:endParaRPr/>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idx="13"/>
          </p:nvPr>
        </p:nvSpPr>
        <p:spPr>
          <a:xfrm>
            <a:off x="234950" y="963168"/>
            <a:ext cx="8674100" cy="5132832"/>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13/8/26</a:t>
            </a:fld>
            <a:endParaRPr/>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idx="1"/>
          </p:nvPr>
        </p:nvSpPr>
        <p:spPr>
          <a:xfrm>
            <a:off x="528828" y="1423289"/>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idx="2"/>
          </p:nvPr>
        </p:nvSpPr>
        <p:spPr>
          <a:xfrm>
            <a:off x="4572000" y="1423289"/>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4: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buNone/>
              <a:defRPr sz="2800" b="1">
                <a:solidFill>
                  <a:schemeClr val="tx1"/>
                </a:solidFill>
                <a:latin typeface="Lato"/>
                <a:ea typeface="Lato"/>
                <a:cs typeface="Lato"/>
              </a:defRPr>
            </a:lvl1pPr>
          </a:lstStyle>
          <a:p>
            <a:r>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idx="13"/>
          </p:nvPr>
        </p:nvSpPr>
        <p:spPr>
          <a:xfrm>
            <a:off x="3524251" y="1011238"/>
            <a:ext cx="5384672" cy="5529262"/>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idx="10"/>
          </p:nvPr>
        </p:nvSpPr>
        <p:spPr>
          <a:xfrm>
            <a:off x="628650" y="6565257"/>
            <a:ext cx="2057400" cy="365125"/>
          </a:xfrm>
          <a:prstGeom prst="rect">
            <a:avLst/>
          </a:prstGeom>
        </p:spPr>
        <p:txBody>
          <a:bodyPr/>
          <a:lstStyle>
            <a:lvl1pPr>
              <a:buNone/>
              <a:defRPr sz="1200" b="1">
                <a:solidFill>
                  <a:schemeClr val="bg1">
                    <a:lumMod val="95000"/>
                  </a:schemeClr>
                </a:solidFill>
                <a:latin typeface="Lato"/>
                <a:ea typeface="Lato"/>
                <a:cs typeface="Lato"/>
              </a:defRPr>
            </a:lvl1pPr>
          </a:lstStyle>
          <a:p>
            <a:fld id="{F70EAA40-3A53-4A3D-924A-D38F1059C7D5}" type="datetime1">
              <a:t>13/8/26</a:t>
            </a:fld>
            <a:endParaRPr/>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idx="1"/>
          </p:nvPr>
        </p:nvSpPr>
        <p:spPr>
          <a:xfrm>
            <a:off x="595884" y="1533017"/>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idx="2"/>
          </p:nvPr>
        </p:nvSpPr>
        <p:spPr>
          <a:xfrm>
            <a:off x="4639056" y="1533017"/>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idx="10"/>
          </p:nvPr>
        </p:nvSpPr>
        <p:spPr>
          <a:xfrm>
            <a:off x="628650" y="6565257"/>
            <a:ext cx="2057400" cy="365125"/>
          </a:xfrm>
          <a:prstGeom prst="rect">
            <a:avLst/>
          </a:prstGeom>
        </p:spPr>
        <p:txBody>
          <a:bodyPr/>
          <a:lstStyle>
            <a:lvl1pPr>
              <a:buNone/>
              <a:defRPr sz="1200" b="1">
                <a:solidFill>
                  <a:schemeClr val="accent1">
                    <a:lumMod val="50000"/>
                  </a:schemeClr>
                </a:solidFill>
                <a:latin typeface="Lato"/>
                <a:ea typeface="Lato"/>
                <a:cs typeface="Lato"/>
              </a:defRPr>
            </a:lvl1pPr>
          </a:lstStyle>
          <a:p>
            <a:fld id="{F70EAA40-3A53-4A3D-924A-D38F1059C7D5}" type="datetime1">
              <a:t>13/8/26</a:t>
            </a:fld>
            <a:endParaRPr/>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chemeClr val="accent1">
                    <a:lumMod val="50000"/>
                  </a:schemeClr>
                </a:solidFill>
                <a:latin typeface="Lato"/>
                <a:ea typeface="Lato"/>
                <a:cs typeface="Lato"/>
              </a:defRPr>
            </a:lvl1pPr>
          </a:lstStyle>
          <a:p>
            <a:endParaRPr/>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chemeClr val="accent1">
                    <a:lumMod val="50000"/>
                  </a:schemeClr>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13/8/26</a:t>
            </a:fld>
            <a:endParaRPr/>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idx="13"/>
          </p:nvPr>
        </p:nvSpPr>
        <p:spPr>
          <a:xfrm>
            <a:off x="234950" y="1227550"/>
            <a:ext cx="8674100" cy="4868449"/>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idx="1"/>
          </p:nvPr>
        </p:nvSpPr>
        <p:spPr>
          <a:xfrm>
            <a:off x="595884" y="1533017"/>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idx="2"/>
          </p:nvPr>
        </p:nvSpPr>
        <p:spPr>
          <a:xfrm>
            <a:off x="4639056" y="1533017"/>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13/8/26</a:t>
            </a:fld>
            <a:endParaRPr/>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13/8/26</a:t>
            </a:fld>
            <a:endParaRPr/>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idx="13"/>
          </p:nvPr>
        </p:nvSpPr>
        <p:spPr>
          <a:xfrm>
            <a:off x="234950" y="1164920"/>
            <a:ext cx="8674100" cy="4931079"/>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idx="10"/>
          </p:nvPr>
        </p:nvSpPr>
        <p:spPr>
          <a:xfrm>
            <a:off x="628650" y="6565257"/>
            <a:ext cx="2057400" cy="365125"/>
          </a:xfrm>
          <a:prstGeom prst="rect">
            <a:avLst/>
          </a:prstGeom>
        </p:spPr>
        <p:txBody>
          <a:bodyPr/>
          <a:lstStyle>
            <a:lvl1pPr>
              <a:buNone/>
              <a:defRPr sz="1200" b="1">
                <a:solidFill>
                  <a:schemeClr val="bg1">
                    <a:lumMod val="95000"/>
                  </a:schemeClr>
                </a:solidFill>
                <a:latin typeface="Lato"/>
                <a:ea typeface="Lato"/>
                <a:cs typeface="Lato"/>
              </a:defRPr>
            </a:lvl1pPr>
          </a:lstStyle>
          <a:p>
            <a:fld id="{F70EAA40-3A53-4A3D-924A-D38F1059C7D5}" type="datetime1">
              <a:t>13/8/26</a:t>
            </a:fld>
            <a:endParaRPr/>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5">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3"/>
          <p:cNvPicPr>
            <a:picLocks noChangeAspect="1"/>
          </p:cNvPicPr>
          <p:nvPr/>
        </p:nvPicPr>
        <p:blipFill>
          <a:blip r:embed="rId3"/>
          <a:srcRect/>
          <a:stretch/>
        </p:blipFill>
        <p:spPr>
          <a:xfrm>
            <a:off x="413012" y="398419"/>
            <a:ext cx="2037225" cy="611594"/>
          </a:xfrm>
          <a:prstGeom prst="rect">
            <a:avLst/>
          </a:prstGeom>
        </p:spPr>
      </p:pic>
      <p:sp>
        <p:nvSpPr>
          <p:cNvPr id="12" name="Title 6">
            <a:extLst>
              <a:ext uri="{FF2B5EF4-FFF2-40B4-BE49-F238E27FC236}">
                <a16:creationId xmlns:a16="http://schemas.microsoft.com/office/drawing/2014/main" id="{A4ACF486-B7D8-4A5A-B633-83527A2F99E2}"/>
              </a:ext>
            </a:extLst>
          </p:cNvPr>
          <p:cNvSpPr>
            <a:spLocks noGrp="1"/>
          </p:cNvSpPr>
          <p:nvPr/>
        </p:nvSpPr>
        <p:spPr>
          <a:xfrm>
            <a:off x="413012" y="3212023"/>
            <a:ext cx="7342482" cy="3054963"/>
          </a:xfrm>
          <a:prstGeom prst="rect">
            <a:avLst/>
          </a:prstGeom>
        </p:spPr>
        <p:txBody>
          <a:bodyPr lIns="91440" tIns="45720" rIns="91440" bIns="45720" anchor="t"/>
          <a:lstStyle>
            <a:lvl1pPr algn="l" defTabSz="914400">
              <a:lnSpc>
                <a:spcPct val="90000"/>
              </a:lnSpc>
              <a:spcBef>
                <a:spcPct val="0"/>
              </a:spcBef>
              <a:buNone/>
              <a:defRPr sz="5400" b="1" kern="1200">
                <a:solidFill>
                  <a:srgbClr val="C00000"/>
                </a:solidFill>
                <a:latin typeface="Lato"/>
                <a:ea typeface="Lato"/>
                <a:cs typeface="Lato"/>
              </a:defRPr>
            </a:lvl1pPr>
          </a:lstStyle>
          <a:p>
            <a:endParaRPr lang="vi-VN" sz="2800" b="0" dirty="0">
              <a:solidFill>
                <a:schemeClr val="tx1"/>
              </a:solidFill>
            </a:endParaRPr>
          </a:p>
          <a:p>
            <a:r>
              <a:rPr lang="vi-VN" sz="2000" dirty="0">
                <a:solidFill>
                  <a:schemeClr val="tx1"/>
                </a:solidFill>
              </a:rPr>
              <a:t>Giảng viên HD</a:t>
            </a:r>
            <a:r>
              <a:rPr lang="vi-VN" sz="2000" b="0" dirty="0">
                <a:solidFill>
                  <a:schemeClr val="tx1"/>
                </a:solidFill>
              </a:rPr>
              <a:t>: TS. Dương Quang Huy</a:t>
            </a:r>
          </a:p>
          <a:p>
            <a:r>
              <a:rPr lang="en-US" sz="2000" dirty="0" err="1">
                <a:solidFill>
                  <a:schemeClr val="tx1"/>
                </a:solidFill>
              </a:rPr>
              <a:t>Nhóm</a:t>
            </a:r>
            <a:r>
              <a:rPr lang="en-US" sz="2000" dirty="0">
                <a:solidFill>
                  <a:schemeClr val="tx1"/>
                </a:solidFill>
              </a:rPr>
              <a:t> </a:t>
            </a:r>
            <a:r>
              <a:rPr lang="en-US" sz="2000" dirty="0" err="1">
                <a:solidFill>
                  <a:schemeClr val="tx1"/>
                </a:solidFill>
              </a:rPr>
              <a:t>thực</a:t>
            </a:r>
            <a:r>
              <a:rPr lang="en-US" sz="2000" dirty="0">
                <a:solidFill>
                  <a:schemeClr val="tx1"/>
                </a:solidFill>
              </a:rPr>
              <a:t> </a:t>
            </a:r>
            <a:r>
              <a:rPr lang="en-US" sz="2000" dirty="0" err="1">
                <a:solidFill>
                  <a:schemeClr val="tx1"/>
                </a:solidFill>
              </a:rPr>
              <a:t>hiện</a:t>
            </a:r>
            <a:r>
              <a:rPr lang="en-US" sz="2000" b="0" dirty="0">
                <a:solidFill>
                  <a:schemeClr val="tx1"/>
                </a:solidFill>
              </a:rPr>
              <a:t>: </a:t>
            </a:r>
            <a:r>
              <a:rPr sz="2000" b="0" dirty="0" err="1">
                <a:solidFill>
                  <a:schemeClr val="tx1"/>
                </a:solidFill>
              </a:rPr>
              <a:t>Nhóm</a:t>
            </a:r>
            <a:r>
              <a:rPr sz="2000" b="0" dirty="0">
                <a:solidFill>
                  <a:schemeClr val="tx1"/>
                </a:solidFill>
              </a:rPr>
              <a:t> </a:t>
            </a:r>
            <a:r>
              <a:rPr lang="vi-VN" sz="2000" b="0" dirty="0">
                <a:solidFill>
                  <a:schemeClr val="tx1"/>
                </a:solidFill>
              </a:rPr>
              <a:t>15</a:t>
            </a:r>
            <a:endParaRPr lang="vi-VN" sz="2000" dirty="0">
              <a:solidFill>
                <a:schemeClr val="tx1"/>
              </a:solidFill>
            </a:endParaRPr>
          </a:p>
          <a:p>
            <a:pPr>
              <a:lnSpc>
                <a:spcPct val="100000"/>
              </a:lnSpc>
            </a:pPr>
            <a:endParaRPr lang="vi-VN" sz="1600" b="0" dirty="0">
              <a:solidFill>
                <a:schemeClr val="tx1"/>
              </a:solidFill>
            </a:endParaRPr>
          </a:p>
          <a:p>
            <a:pPr>
              <a:lnSpc>
                <a:spcPct val="100000"/>
              </a:lnSpc>
            </a:pPr>
            <a:r>
              <a:rPr lang="vi-VN" sz="1600" b="0" dirty="0">
                <a:solidFill>
                  <a:schemeClr val="tx1"/>
                </a:solidFill>
              </a:rPr>
              <a:t>Trần Mạnh </a:t>
            </a:r>
            <a:r>
              <a:rPr sz="1600" b="0" dirty="0">
                <a:solidFill>
                  <a:schemeClr val="tx1"/>
                </a:solidFill>
              </a:rPr>
              <a:t>Đạt</a:t>
            </a:r>
            <a:r>
              <a:rPr lang="vi-VN" sz="1600" b="0" dirty="0">
                <a:solidFill>
                  <a:schemeClr val="tx1"/>
                </a:solidFill>
              </a:rPr>
              <a:t> 20252607M</a:t>
            </a:r>
          </a:p>
          <a:p>
            <a:r>
              <a:rPr lang="vi-VN" sz="1600" b="0" dirty="0">
                <a:solidFill>
                  <a:schemeClr val="tx1"/>
                </a:solidFill>
              </a:rPr>
              <a:t>Trần Hoàng </a:t>
            </a:r>
            <a:r>
              <a:rPr sz="1600" b="0" dirty="0">
                <a:solidFill>
                  <a:schemeClr val="tx1"/>
                </a:solidFill>
              </a:rPr>
              <a:t>Sơn </a:t>
            </a:r>
            <a:r>
              <a:rPr lang="vi-VN" sz="1600" b="0" dirty="0">
                <a:solidFill>
                  <a:schemeClr val="tx1"/>
                </a:solidFill>
              </a:rPr>
              <a:t>20252606M</a:t>
            </a:r>
          </a:p>
          <a:p>
            <a:r>
              <a:rPr lang="vi-VN" sz="1600" b="0" dirty="0">
                <a:solidFill>
                  <a:schemeClr val="tx1"/>
                </a:solidFill>
              </a:rPr>
              <a:t>Nguyễn Đức Hoàng</a:t>
            </a:r>
            <a:r>
              <a:rPr sz="1600" b="0" dirty="0">
                <a:solidFill>
                  <a:schemeClr val="tx1"/>
                </a:solidFill>
              </a:rPr>
              <a:t> </a:t>
            </a:r>
            <a:r>
              <a:rPr lang="vi-VN" sz="1600" b="0" dirty="0">
                <a:solidFill>
                  <a:schemeClr val="tx1"/>
                </a:solidFill>
              </a:rPr>
              <a:t> 20252603M</a:t>
            </a:r>
          </a:p>
          <a:p>
            <a:r>
              <a:rPr lang="vi-VN" sz="1600" b="0" dirty="0">
                <a:solidFill>
                  <a:schemeClr val="tx1"/>
                </a:solidFill>
              </a:rPr>
              <a:t>Trần Hữu Vinh</a:t>
            </a:r>
            <a:r>
              <a:rPr sz="1600" b="0" dirty="0">
                <a:solidFill>
                  <a:schemeClr val="tx1"/>
                </a:solidFill>
              </a:rPr>
              <a:t> </a:t>
            </a:r>
            <a:r>
              <a:rPr lang="vi-VN" sz="1600" b="0" dirty="0">
                <a:solidFill>
                  <a:schemeClr val="tx1"/>
                </a:solidFill>
              </a:rPr>
              <a:t>20252027M</a:t>
            </a:r>
          </a:p>
          <a:p>
            <a:r>
              <a:rPr lang="vi-VN" sz="1600" b="0" dirty="0">
                <a:solidFill>
                  <a:schemeClr val="tx1"/>
                </a:solidFill>
              </a:rPr>
              <a:t>Phạm Khánh Hưng 20252249M</a:t>
            </a:r>
            <a:endParaRPr sz="1600" b="0" dirty="0">
              <a:solidFill>
                <a:schemeClr val="tx1"/>
              </a:solidFill>
            </a:endParaRPr>
          </a:p>
        </p:txBody>
      </p:sp>
      <p:sp>
        <p:nvSpPr>
          <p:cNvPr id="2" name="Title 6">
            <a:extLst>
              <a:ext uri="{FF2B5EF4-FFF2-40B4-BE49-F238E27FC236}">
                <a16:creationId xmlns:a16="http://schemas.microsoft.com/office/drawing/2014/main" id="{FF8BDF70-CFA6-4031-86B7-31F910D8115D}"/>
              </a:ext>
            </a:extLst>
          </p:cNvPr>
          <p:cNvSpPr>
            <a:spLocks noGrp="1"/>
          </p:cNvSpPr>
          <p:nvPr/>
        </p:nvSpPr>
        <p:spPr>
          <a:xfrm>
            <a:off x="413012" y="1884260"/>
            <a:ext cx="7342482" cy="1327763"/>
          </a:xfrm>
          <a:prstGeom prst="rect">
            <a:avLst/>
          </a:prstGeom>
        </p:spPr>
        <p:txBody>
          <a:bodyPr lIns="91440" tIns="45720" rIns="91440" bIns="45720" anchor="t"/>
          <a:lstStyle>
            <a:defPPr>
              <a:defRPr lang="vi-VN"/>
            </a:defPPr>
            <a:lvl1pPr marL="0" algn="l" defTabSz="914400" rtl="0" eaLnBrk="1" latinLnBrk="0" hangingPunct="1">
              <a:lnSpc>
                <a:spcPct val="90000"/>
              </a:lnSpc>
              <a:spcBef>
                <a:spcPct val="0"/>
              </a:spcBef>
              <a:buNone/>
              <a:defRPr sz="5400" b="1" kern="1200">
                <a:solidFill>
                  <a:srgbClr val="C00000"/>
                </a:solidFill>
                <a:latin typeface="Lato"/>
                <a:ea typeface="Lato"/>
                <a:cs typeface="La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err="1"/>
              <a:t>Phân</a:t>
            </a:r>
            <a:r>
              <a:rPr lang="en-US" sz="3200" dirty="0"/>
              <a:t> </a:t>
            </a:r>
            <a:r>
              <a:rPr lang="en-US" sz="3200" dirty="0" err="1"/>
              <a:t>tích</a:t>
            </a:r>
            <a:r>
              <a:rPr lang="en-US" sz="3200" dirty="0"/>
              <a:t> </a:t>
            </a:r>
            <a:r>
              <a:rPr lang="en-US" sz="3200" dirty="0" err="1"/>
              <a:t>cảm</a:t>
            </a:r>
            <a:r>
              <a:rPr lang="en-US" sz="3200" dirty="0"/>
              <a:t> </a:t>
            </a:r>
            <a:r>
              <a:rPr lang="en-US" sz="3200" dirty="0" err="1"/>
              <a:t>xúc</a:t>
            </a:r>
            <a:r>
              <a:rPr lang="en-US" sz="3200" dirty="0"/>
              <a:t> </a:t>
            </a:r>
            <a:r>
              <a:rPr lang="en-US" sz="3200" dirty="0" err="1"/>
              <a:t>theo</a:t>
            </a:r>
            <a:r>
              <a:rPr lang="en-US" sz="3200" dirty="0"/>
              <a:t> </a:t>
            </a:r>
            <a:r>
              <a:rPr lang="en-US" sz="3200" dirty="0" err="1"/>
              <a:t>khía</a:t>
            </a:r>
            <a:r>
              <a:rPr lang="en-US" sz="3200" dirty="0"/>
              <a:t> </a:t>
            </a:r>
            <a:r>
              <a:rPr lang="en-US" sz="3200" dirty="0" err="1"/>
              <a:t>cạnh</a:t>
            </a:r>
            <a:r>
              <a:rPr lang="en-US" sz="3200" dirty="0"/>
              <a:t> </a:t>
            </a:r>
            <a:r>
              <a:rPr lang="en-US" sz="3200" dirty="0" err="1"/>
              <a:t>và</a:t>
            </a:r>
            <a:r>
              <a:rPr lang="en-US" sz="3200" dirty="0"/>
              <a:t> </a:t>
            </a:r>
            <a:r>
              <a:rPr lang="en-US" sz="3200" dirty="0" err="1"/>
              <a:t>sinh</a:t>
            </a:r>
            <a:r>
              <a:rPr lang="en-US" sz="3200" dirty="0"/>
              <a:t> </a:t>
            </a:r>
            <a:r>
              <a:rPr lang="en-US" sz="3200" dirty="0" err="1"/>
              <a:t>báo</a:t>
            </a:r>
            <a:r>
              <a:rPr lang="en-US" sz="3200" dirty="0"/>
              <a:t> </a:t>
            </a:r>
            <a:r>
              <a:rPr lang="en-US" sz="3200" dirty="0" err="1"/>
              <a:t>cáo</a:t>
            </a:r>
            <a:r>
              <a:rPr lang="en-US" sz="3200" dirty="0"/>
              <a:t> </a:t>
            </a:r>
            <a:r>
              <a:rPr lang="en-US" sz="3200" dirty="0" err="1"/>
              <a:t>tổng</a:t>
            </a:r>
            <a:r>
              <a:rPr lang="en-US" sz="3200" dirty="0"/>
              <a:t> </a:t>
            </a:r>
            <a:r>
              <a:rPr lang="en-US" sz="3200" dirty="0" err="1"/>
              <a:t>hợp</a:t>
            </a:r>
            <a:r>
              <a:rPr lang="en-US" sz="3200" dirty="0"/>
              <a:t> </a:t>
            </a:r>
            <a:r>
              <a:rPr lang="en-US" sz="3200" dirty="0" err="1"/>
              <a:t>từ</a:t>
            </a:r>
            <a:r>
              <a:rPr lang="en-US" sz="3200" dirty="0"/>
              <a:t> </a:t>
            </a:r>
            <a:r>
              <a:rPr lang="en-US" sz="3200" dirty="0" err="1"/>
              <a:t>phản</a:t>
            </a:r>
            <a:r>
              <a:rPr lang="en-US" sz="3200" dirty="0"/>
              <a:t> </a:t>
            </a:r>
            <a:r>
              <a:rPr lang="en-US" sz="3200" dirty="0" err="1"/>
              <a:t>hồi</a:t>
            </a:r>
            <a:r>
              <a:rPr lang="en-US" sz="3200" dirty="0"/>
              <a:t> </a:t>
            </a:r>
            <a:r>
              <a:rPr lang="en-US" sz="3200" dirty="0" err="1"/>
              <a:t>khách</a:t>
            </a:r>
            <a:r>
              <a:rPr lang="en-US" sz="3200" dirty="0"/>
              <a:t> </a:t>
            </a:r>
            <a:r>
              <a:rPr lang="en-US" sz="3200" dirty="0" err="1"/>
              <a:t>hàng</a:t>
            </a:r>
            <a:r>
              <a:rPr lang="en-US" sz="3200" dirty="0"/>
              <a:t> </a:t>
            </a:r>
            <a:r>
              <a:rPr lang="en-US" sz="3200" dirty="0" err="1"/>
              <a:t>bằng</a:t>
            </a:r>
            <a:r>
              <a:rPr lang="en-US" sz="3200" dirty="0"/>
              <a:t> Generative AI</a:t>
            </a:r>
            <a:endParaRPr lang="vi-VN" sz="3200" dirty="0"/>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idx="12"/>
          </p:nvPr>
        </p:nvSpPr>
        <p:spPr>
          <a:xfrm>
            <a:off x="6867430" y="6491288"/>
            <a:ext cx="2057400" cy="361950"/>
          </a:xfrm>
        </p:spPr>
        <p:txBody>
          <a:bodyPr/>
          <a:lstStyle/>
          <a:p>
            <a:fld id="{E2598689-54C9-18A7-3A19-ED76AA08988F}" type="slidenum">
              <a:rPr/>
              <a:t>2</a:t>
            </a:fld>
            <a:endParaRPr/>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t>Nội dung trình bày</a:t>
            </a:r>
          </a:p>
        </p:txBody>
      </p:sp>
      <p:sp>
        <p:nvSpPr>
          <p:cNvPr id="6" name="agenda-left">
            <a:extLst>
              <a:ext uri="{FF2B5EF4-FFF2-40B4-BE49-F238E27FC236}">
                <a16:creationId xmlns:a16="http://schemas.microsoft.com/office/drawing/2014/main" id="{5F6BB6B6-5301-496F-91C0-1A4586842DD4}"/>
              </a:ext>
            </a:extLst>
          </p:cNvPr>
          <p:cNvSpPr>
            <a:spLocks noGrp="1"/>
          </p:cNvSpPr>
          <p:nvPr/>
        </p:nvSpPr>
        <p:spPr>
          <a:xfrm>
            <a:off x="762000" y="1524000"/>
            <a:ext cx="3571875" cy="4000500"/>
          </a:xfrm>
          <a:prstGeom prst="rect">
            <a:avLst/>
          </a:prstGeom>
          <a:noFill/>
          <a:ln w="0">
            <a:noFill/>
            <a:prstDash val="solid"/>
          </a:ln>
        </p:spPr>
        <p:txBody>
          <a:bodyPr lIns="91440" tIns="45720" rIns="91440" bIns="45720" anchor="t"/>
          <a:lstStyle/>
          <a:p>
            <a:pPr>
              <a:defRPr sz="1725" b="1">
                <a:solidFill>
                  <a:srgbClr val="242424"/>
                </a:solidFill>
                <a:latin typeface="Lato"/>
                <a:ea typeface="Lato"/>
                <a:cs typeface="Lato"/>
              </a:defRPr>
            </a:pPr>
            <a:r>
              <a:rPr lang="en-US" sz="1700" b="1" dirty="0">
                <a:solidFill>
                  <a:srgbClr val="242424"/>
                </a:solidFill>
                <a:latin typeface="Lato"/>
                <a:ea typeface="Lato"/>
                <a:cs typeface="Lato"/>
              </a:rPr>
              <a:t>1. </a:t>
            </a:r>
            <a:r>
              <a:rPr lang="en-US" sz="1700" b="1" dirty="0" err="1">
                <a:solidFill>
                  <a:srgbClr val="242424"/>
                </a:solidFill>
                <a:latin typeface="Lato"/>
                <a:ea typeface="Lato"/>
                <a:cs typeface="Lato"/>
              </a:rPr>
              <a:t>Bài</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toán</a:t>
            </a:r>
            <a:r>
              <a:rPr lang="en-US" sz="1700" b="1" dirty="0">
                <a:solidFill>
                  <a:srgbClr val="242424"/>
                </a:solidFill>
                <a:latin typeface="Lato"/>
                <a:ea typeface="Lato"/>
                <a:cs typeface="Lato"/>
              </a:rPr>
              <a:t> &amp; </a:t>
            </a:r>
            <a:r>
              <a:rPr lang="en-US" sz="1700" b="1" dirty="0" err="1">
                <a:solidFill>
                  <a:srgbClr val="242424"/>
                </a:solidFill>
                <a:latin typeface="Lato"/>
                <a:ea typeface="Lato"/>
                <a:cs typeface="Lato"/>
              </a:rPr>
              <a:t>mục</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tiêu</a:t>
            </a:r>
            <a:endParaRPr lang="en-US" sz="1700" dirty="0">
              <a:solidFill>
                <a:srgbClr val="242424"/>
              </a:solidFill>
              <a:latin typeface="Lato"/>
              <a:ea typeface="Lato"/>
              <a:cs typeface="Lato"/>
            </a:endParaRPr>
          </a:p>
          <a:p>
            <a:endParaRPr lang="en-US" sz="1700" dirty="0">
              <a:solidFill>
                <a:srgbClr val="242424"/>
              </a:solidFill>
              <a:latin typeface="Lato"/>
              <a:ea typeface="Lato"/>
              <a:cs typeface="Lato"/>
            </a:endParaRPr>
          </a:p>
          <a:p>
            <a:pPr>
              <a:defRPr sz="1725" b="1">
                <a:solidFill>
                  <a:srgbClr val="242424"/>
                </a:solidFill>
                <a:latin typeface="Lato"/>
                <a:ea typeface="Lato"/>
                <a:cs typeface="Lato"/>
              </a:defRPr>
            </a:pPr>
            <a:r>
              <a:rPr lang="en-US" sz="1700" b="1" dirty="0">
                <a:solidFill>
                  <a:srgbClr val="242424"/>
                </a:solidFill>
                <a:latin typeface="Lato"/>
                <a:ea typeface="Lato"/>
                <a:cs typeface="Lato"/>
              </a:rPr>
              <a:t>2. </a:t>
            </a:r>
            <a:r>
              <a:rPr lang="en-US" sz="1700" b="1" dirty="0" err="1">
                <a:solidFill>
                  <a:srgbClr val="242424"/>
                </a:solidFill>
                <a:latin typeface="Lato"/>
                <a:ea typeface="Lato"/>
                <a:cs typeface="Lato"/>
              </a:rPr>
              <a:t>Kiến</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trúc</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hệ</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thống</a:t>
            </a:r>
            <a:endParaRPr lang="en-US" sz="1700" dirty="0">
              <a:solidFill>
                <a:srgbClr val="242424"/>
              </a:solidFill>
              <a:latin typeface="Lato"/>
              <a:ea typeface="Lato"/>
              <a:cs typeface="Lato"/>
            </a:endParaRPr>
          </a:p>
          <a:p>
            <a:pPr>
              <a:defRPr sz="1725" b="1">
                <a:solidFill>
                  <a:srgbClr val="242424"/>
                </a:solidFill>
                <a:latin typeface="Lato"/>
                <a:ea typeface="Lato"/>
                <a:cs typeface="Lato"/>
              </a:defRPr>
            </a:pPr>
            <a:endParaRPr lang="en-US" sz="1700" dirty="0">
              <a:solidFill>
                <a:srgbClr val="242424"/>
              </a:solidFill>
              <a:latin typeface="Lato"/>
              <a:ea typeface="Lato"/>
              <a:cs typeface="Lato"/>
            </a:endParaRPr>
          </a:p>
          <a:p>
            <a:pPr>
              <a:defRPr sz="1725" b="1">
                <a:solidFill>
                  <a:srgbClr val="242424"/>
                </a:solidFill>
                <a:latin typeface="Lato"/>
                <a:ea typeface="Lato"/>
                <a:cs typeface="Lato"/>
              </a:defRPr>
            </a:pPr>
            <a:r>
              <a:rPr lang="en-US" sz="1700" b="1" dirty="0">
                <a:solidFill>
                  <a:srgbClr val="242424"/>
                </a:solidFill>
                <a:latin typeface="Lato"/>
                <a:ea typeface="Lato"/>
                <a:cs typeface="Lato"/>
              </a:rPr>
              <a:t>3. </a:t>
            </a:r>
            <a:r>
              <a:rPr lang="en-US" sz="1700" b="1" dirty="0" err="1">
                <a:solidFill>
                  <a:srgbClr val="242424"/>
                </a:solidFill>
                <a:latin typeface="Lato"/>
                <a:ea typeface="Lato"/>
                <a:cs typeface="Lato"/>
              </a:rPr>
              <a:t>Dữ</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liệu</a:t>
            </a:r>
            <a:r>
              <a:rPr lang="en-US" sz="1700" b="1" dirty="0">
                <a:solidFill>
                  <a:srgbClr val="242424"/>
                </a:solidFill>
                <a:latin typeface="Lato"/>
                <a:ea typeface="Lato"/>
                <a:cs typeface="Lato"/>
              </a:rPr>
              <a:t> &amp; </a:t>
            </a:r>
            <a:r>
              <a:rPr lang="en-US" sz="1700" b="1" dirty="0" err="1">
                <a:solidFill>
                  <a:srgbClr val="242424"/>
                </a:solidFill>
                <a:latin typeface="Lato"/>
                <a:ea typeface="Lato"/>
                <a:cs typeface="Lato"/>
              </a:rPr>
              <a:t>huấn</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luyện</a:t>
            </a:r>
            <a:r>
              <a:rPr lang="en-US" sz="1700" b="1" dirty="0">
                <a:solidFill>
                  <a:srgbClr val="242424"/>
                </a:solidFill>
                <a:latin typeface="Lato"/>
                <a:ea typeface="Lato"/>
                <a:cs typeface="Lato"/>
              </a:rPr>
              <a:t> model</a:t>
            </a:r>
            <a:endParaRPr lang="en-US" sz="1700" dirty="0">
              <a:solidFill>
                <a:srgbClr val="242424"/>
              </a:solidFill>
              <a:latin typeface="Lato"/>
              <a:ea typeface="Lato"/>
              <a:cs typeface="Lato"/>
            </a:endParaRPr>
          </a:p>
          <a:p>
            <a:pPr>
              <a:defRPr sz="1725" b="1">
                <a:solidFill>
                  <a:srgbClr val="242424"/>
                </a:solidFill>
                <a:latin typeface="Lato"/>
                <a:ea typeface="Lato"/>
                <a:cs typeface="Lato"/>
              </a:defRPr>
            </a:pPr>
            <a:endParaRPr lang="en-US" sz="1700" dirty="0">
              <a:solidFill>
                <a:srgbClr val="242424"/>
              </a:solidFill>
              <a:latin typeface="Lato"/>
              <a:ea typeface="Lato"/>
              <a:cs typeface="Lato"/>
            </a:endParaRPr>
          </a:p>
          <a:p>
            <a:pPr>
              <a:defRPr sz="1725" b="1">
                <a:solidFill>
                  <a:srgbClr val="242424"/>
                </a:solidFill>
                <a:latin typeface="Lato"/>
                <a:ea typeface="Lato"/>
                <a:cs typeface="Lato"/>
              </a:defRPr>
            </a:pPr>
            <a:r>
              <a:rPr lang="en-US" sz="1700" b="1" dirty="0">
                <a:solidFill>
                  <a:srgbClr val="242424"/>
                </a:solidFill>
                <a:latin typeface="Lato"/>
                <a:ea typeface="Lato"/>
                <a:cs typeface="Lato"/>
              </a:rPr>
              <a:t>4. </a:t>
            </a:r>
            <a:r>
              <a:rPr lang="en-US" sz="1700" b="1" dirty="0" err="1">
                <a:solidFill>
                  <a:srgbClr val="242424"/>
                </a:solidFill>
                <a:latin typeface="Lato"/>
                <a:ea typeface="Lato"/>
                <a:cs typeface="Lato"/>
              </a:rPr>
              <a:t>Kết</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quả</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và</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đánh</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giá</a:t>
            </a:r>
            <a:r>
              <a:rPr lang="en-US" sz="1700" b="1" dirty="0">
                <a:solidFill>
                  <a:srgbClr val="242424"/>
                </a:solidFill>
                <a:latin typeface="Lato"/>
                <a:ea typeface="Lato"/>
                <a:cs typeface="Lato"/>
              </a:rPr>
              <a:t> </a:t>
            </a:r>
            <a:endParaRPr lang="en-US" sz="1700" dirty="0">
              <a:solidFill>
                <a:srgbClr val="242424"/>
              </a:solidFill>
              <a:latin typeface="Lato"/>
              <a:ea typeface="Lato"/>
              <a:cs typeface="Lato"/>
            </a:endParaRPr>
          </a:p>
          <a:p>
            <a:endParaRPr lang="en-US" sz="1700" dirty="0">
              <a:solidFill>
                <a:srgbClr val="242424"/>
              </a:solidFill>
              <a:latin typeface="Lato"/>
              <a:ea typeface="Lato"/>
              <a:cs typeface="Lato"/>
            </a:endParaRPr>
          </a:p>
          <a:p>
            <a:pPr>
              <a:defRPr sz="1725" b="1">
                <a:solidFill>
                  <a:srgbClr val="242424"/>
                </a:solidFill>
                <a:latin typeface="Lato"/>
                <a:ea typeface="Lato"/>
                <a:cs typeface="Lato"/>
              </a:defRPr>
            </a:pPr>
            <a:r>
              <a:rPr lang="en-US" sz="1700" b="1" dirty="0">
                <a:solidFill>
                  <a:srgbClr val="242424"/>
                </a:solidFill>
                <a:latin typeface="Lato"/>
                <a:ea typeface="Lato"/>
                <a:cs typeface="Lato"/>
              </a:rPr>
              <a:t>5. </a:t>
            </a:r>
            <a:r>
              <a:rPr lang="en-US" sz="1700" b="1" dirty="0" err="1">
                <a:solidFill>
                  <a:srgbClr val="242424"/>
                </a:solidFill>
                <a:latin typeface="Lato"/>
                <a:ea typeface="Lato"/>
                <a:cs typeface="Lato"/>
              </a:rPr>
              <a:t>Hạn</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chế</a:t>
            </a:r>
            <a:r>
              <a:rPr lang="en-US" sz="1700" b="1" dirty="0">
                <a:solidFill>
                  <a:srgbClr val="242424"/>
                </a:solidFill>
                <a:latin typeface="Lato"/>
                <a:ea typeface="Lato"/>
                <a:cs typeface="Lato"/>
              </a:rPr>
              <a:t> &amp; </a:t>
            </a:r>
            <a:r>
              <a:rPr lang="en-US" sz="1700" b="1" dirty="0" err="1">
                <a:solidFill>
                  <a:srgbClr val="242424"/>
                </a:solidFill>
                <a:latin typeface="Lato"/>
                <a:ea typeface="Lato"/>
                <a:cs typeface="Lato"/>
              </a:rPr>
              <a:t>hướng</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phát</a:t>
            </a:r>
            <a:r>
              <a:rPr lang="en-US" sz="1700" b="1" dirty="0">
                <a:solidFill>
                  <a:srgbClr val="242424"/>
                </a:solidFill>
                <a:latin typeface="Lato"/>
                <a:ea typeface="Lato"/>
                <a:cs typeface="Lato"/>
              </a:rPr>
              <a:t> </a:t>
            </a:r>
            <a:r>
              <a:rPr lang="en-US" sz="1700" b="1" dirty="0" err="1">
                <a:solidFill>
                  <a:srgbClr val="242424"/>
                </a:solidFill>
                <a:latin typeface="Lato"/>
                <a:ea typeface="Lato"/>
                <a:cs typeface="Lato"/>
              </a:rPr>
              <a:t>triển</a:t>
            </a:r>
            <a:endParaRPr lang="en-US" dirty="0"/>
          </a:p>
        </p:txBody>
      </p:sp>
    </p:spTree>
    <p:extLst>
      <p:ext uri="{BB962C8B-B14F-4D97-AF65-F5344CB8AC3E}">
        <p14:creationId xmlns:p14="http://schemas.microsoft.com/office/powerpoint/2010/main" val="1341840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idx="12"/>
          </p:nvPr>
        </p:nvSpPr>
        <p:spPr>
          <a:xfrm>
            <a:off x="6867430" y="6491288"/>
            <a:ext cx="2057400" cy="361950"/>
          </a:xfrm>
        </p:spPr>
        <p:txBody>
          <a:bodyPr/>
          <a:lstStyle/>
          <a:p>
            <a:fld id="{202359C0-8A7A-196E-DD58-8E6569619F09}" type="slidenum">
              <a:rPr/>
              <a:t>3</a:t>
            </a:fld>
            <a:endParaRPr/>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t>1. Bài toán &amp; mục tiêu</a:t>
            </a:r>
          </a:p>
        </p:txBody>
      </p:sp>
      <p:sp>
        <p:nvSpPr>
          <p:cNvPr id="6" name="card-Đầu vào">
            <a:extLst>
              <a:ext uri="{FF2B5EF4-FFF2-40B4-BE49-F238E27FC236}">
                <a16:creationId xmlns:a16="http://schemas.microsoft.com/office/drawing/2014/main" id="{9182BD55-EC34-4A2A-95D3-E871D0A6D39B}"/>
              </a:ext>
            </a:extLst>
          </p:cNvPr>
          <p:cNvSpPr>
            <a:spLocks noGrp="1"/>
          </p:cNvSpPr>
          <p:nvPr/>
        </p:nvSpPr>
        <p:spPr>
          <a:xfrm>
            <a:off x="609600" y="2349500"/>
            <a:ext cx="3886200" cy="2000249"/>
          </a:xfrm>
          <a:prstGeom prst="roundRect">
            <a:avLst>
              <a:gd name="adj" fmla="val 3431"/>
            </a:avLst>
          </a:prstGeom>
          <a:noFill/>
          <a:ln w="11430">
            <a:solidFill>
              <a:srgbClr val="E2D6D6"/>
            </a:solidFill>
            <a:prstDash val="solid"/>
          </a:ln>
        </p:spPr>
        <p:txBody>
          <a:bodyPr/>
          <a:lstStyle/>
          <a:p>
            <a:endParaRPr lang="en-VN"/>
          </a:p>
        </p:txBody>
      </p:sp>
      <p:sp>
        <p:nvSpPr>
          <p:cNvPr id="7" name="eyebrow-Đầu vào">
            <a:extLst>
              <a:ext uri="{FF2B5EF4-FFF2-40B4-BE49-F238E27FC236}">
                <a16:creationId xmlns:a16="http://schemas.microsoft.com/office/drawing/2014/main" id="{E1F254FE-F902-409A-9D0A-D7422E53C3E4}"/>
              </a:ext>
            </a:extLst>
          </p:cNvPr>
          <p:cNvSpPr>
            <a:spLocks noGrp="1"/>
          </p:cNvSpPr>
          <p:nvPr/>
        </p:nvSpPr>
        <p:spPr>
          <a:xfrm>
            <a:off x="800100" y="2501899"/>
            <a:ext cx="3505200" cy="2286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ĐẦU VÀO</a:t>
            </a:r>
          </a:p>
        </p:txBody>
      </p:sp>
      <p:sp>
        <p:nvSpPr>
          <p:cNvPr id="8" name="headline-Đầu vào">
            <a:extLst>
              <a:ext uri="{FF2B5EF4-FFF2-40B4-BE49-F238E27FC236}">
                <a16:creationId xmlns:a16="http://schemas.microsoft.com/office/drawing/2014/main" id="{F929401F-2F95-4320-8BF6-4FDC18FC0B26}"/>
              </a:ext>
            </a:extLst>
          </p:cNvPr>
          <p:cNvSpPr>
            <a:spLocks noGrp="1"/>
          </p:cNvSpPr>
          <p:nvPr/>
        </p:nvSpPr>
        <p:spPr>
          <a:xfrm>
            <a:off x="800100" y="2806699"/>
            <a:ext cx="350520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dirty="0">
                <a:solidFill>
                  <a:srgbClr val="242424"/>
                </a:solidFill>
                <a:latin typeface="Lato"/>
                <a:ea typeface="Lato"/>
                <a:cs typeface="Lato"/>
              </a:rPr>
              <a:t>“The food was great, but the service was slow.”</a:t>
            </a:r>
          </a:p>
        </p:txBody>
      </p:sp>
      <p:sp>
        <p:nvSpPr>
          <p:cNvPr id="9" name="body-Đầu vào">
            <a:extLst>
              <a:ext uri="{FF2B5EF4-FFF2-40B4-BE49-F238E27FC236}">
                <a16:creationId xmlns:a16="http://schemas.microsoft.com/office/drawing/2014/main" id="{ED99CF74-3E19-4413-9C80-365C6045B48A}"/>
              </a:ext>
            </a:extLst>
          </p:cNvPr>
          <p:cNvSpPr>
            <a:spLocks noGrp="1"/>
          </p:cNvSpPr>
          <p:nvPr/>
        </p:nvSpPr>
        <p:spPr>
          <a:xfrm>
            <a:off x="800100" y="3530600"/>
            <a:ext cx="3505200" cy="647700"/>
          </a:xfrm>
          <a:prstGeom prst="rect">
            <a:avLst/>
          </a:prstGeom>
          <a:noFill/>
          <a:ln w="0">
            <a:noFill/>
            <a:prstDash val="solid"/>
          </a:ln>
        </p:spPr>
        <p:txBody>
          <a:bodyPr anchor="t"/>
          <a:lstStyle/>
          <a:p>
            <a:pPr>
              <a:defRPr sz="1275">
                <a:solidFill>
                  <a:srgbClr val="666666"/>
                </a:solidFill>
                <a:latin typeface="Lato"/>
                <a:ea typeface="Lato"/>
                <a:cs typeface="Lato"/>
              </a:defRPr>
            </a:pPr>
            <a:r>
              <a:rPr sz="1275" dirty="0" err="1">
                <a:solidFill>
                  <a:srgbClr val="666666"/>
                </a:solidFill>
                <a:latin typeface="Lato"/>
                <a:ea typeface="Lato"/>
                <a:cs typeface="Lato"/>
              </a:rPr>
              <a:t>Đánh</a:t>
            </a:r>
            <a:r>
              <a:rPr sz="1275" dirty="0">
                <a:solidFill>
                  <a:srgbClr val="666666"/>
                </a:solidFill>
                <a:latin typeface="Lato"/>
                <a:ea typeface="Lato"/>
                <a:cs typeface="Lato"/>
              </a:rPr>
              <a:t> </a:t>
            </a:r>
            <a:r>
              <a:rPr sz="1275" dirty="0" err="1">
                <a:solidFill>
                  <a:srgbClr val="666666"/>
                </a:solidFill>
                <a:latin typeface="Lato"/>
                <a:ea typeface="Lato"/>
                <a:cs typeface="Lato"/>
              </a:rPr>
              <a:t>giá</a:t>
            </a:r>
            <a:r>
              <a:rPr sz="1275" dirty="0">
                <a:solidFill>
                  <a:srgbClr val="666666"/>
                </a:solidFill>
                <a:latin typeface="Lato"/>
                <a:ea typeface="Lato"/>
                <a:cs typeface="Lato"/>
              </a:rPr>
              <a:t> </a:t>
            </a:r>
            <a:r>
              <a:rPr sz="1275" dirty="0" err="1">
                <a:solidFill>
                  <a:srgbClr val="666666"/>
                </a:solidFill>
                <a:latin typeface="Lato"/>
                <a:ea typeface="Lato"/>
                <a:cs typeface="Lato"/>
              </a:rPr>
              <a:t>ở</a:t>
            </a:r>
            <a:r>
              <a:rPr sz="1275" dirty="0">
                <a:solidFill>
                  <a:srgbClr val="666666"/>
                </a:solidFill>
                <a:latin typeface="Lato"/>
                <a:ea typeface="Lato"/>
                <a:cs typeface="Lato"/>
              </a:rPr>
              <a:t> </a:t>
            </a:r>
            <a:r>
              <a:rPr sz="1275" dirty="0" err="1">
                <a:solidFill>
                  <a:srgbClr val="666666"/>
                </a:solidFill>
                <a:latin typeface="Lato"/>
                <a:ea typeface="Lato"/>
                <a:cs typeface="Lato"/>
              </a:rPr>
              <a:t>mức</a:t>
            </a:r>
            <a:r>
              <a:rPr sz="1275" dirty="0">
                <a:solidFill>
                  <a:srgbClr val="666666"/>
                </a:solidFill>
                <a:latin typeface="Lato"/>
                <a:ea typeface="Lato"/>
                <a:cs typeface="Lato"/>
              </a:rPr>
              <a:t> </a:t>
            </a:r>
            <a:r>
              <a:rPr sz="1275" dirty="0" err="1">
                <a:solidFill>
                  <a:srgbClr val="666666"/>
                </a:solidFill>
                <a:latin typeface="Lato"/>
                <a:ea typeface="Lato"/>
                <a:cs typeface="Lato"/>
              </a:rPr>
              <a:t>câu</a:t>
            </a:r>
            <a:r>
              <a:rPr sz="1275" dirty="0">
                <a:solidFill>
                  <a:srgbClr val="666666"/>
                </a:solidFill>
                <a:latin typeface="Lato"/>
                <a:ea typeface="Lato"/>
                <a:cs typeface="Lato"/>
              </a:rPr>
              <a:t> </a:t>
            </a:r>
            <a:r>
              <a:rPr sz="1275" dirty="0" err="1">
                <a:solidFill>
                  <a:srgbClr val="666666"/>
                </a:solidFill>
                <a:latin typeface="Lato"/>
                <a:ea typeface="Lato"/>
                <a:cs typeface="Lato"/>
              </a:rPr>
              <a:t>không</a:t>
            </a:r>
            <a:r>
              <a:rPr sz="1275" dirty="0">
                <a:solidFill>
                  <a:srgbClr val="666666"/>
                </a:solidFill>
                <a:latin typeface="Lato"/>
                <a:ea typeface="Lato"/>
                <a:cs typeface="Lato"/>
              </a:rPr>
              <a:t> </a:t>
            </a:r>
            <a:r>
              <a:rPr sz="1275" dirty="0" err="1">
                <a:solidFill>
                  <a:srgbClr val="666666"/>
                </a:solidFill>
                <a:latin typeface="Lato"/>
                <a:ea typeface="Lato"/>
                <a:cs typeface="Lato"/>
              </a:rPr>
              <a:t>thể</a:t>
            </a:r>
            <a:r>
              <a:rPr sz="1275" dirty="0">
                <a:solidFill>
                  <a:srgbClr val="666666"/>
                </a:solidFill>
                <a:latin typeface="Lato"/>
                <a:ea typeface="Lato"/>
                <a:cs typeface="Lato"/>
              </a:rPr>
              <a:t> </a:t>
            </a:r>
            <a:r>
              <a:rPr sz="1275" dirty="0" err="1">
                <a:solidFill>
                  <a:srgbClr val="666666"/>
                </a:solidFill>
                <a:latin typeface="Lato"/>
                <a:ea typeface="Lato"/>
                <a:cs typeface="Lato"/>
              </a:rPr>
              <a:t>hiện</a:t>
            </a:r>
            <a:r>
              <a:rPr sz="1275" dirty="0">
                <a:solidFill>
                  <a:srgbClr val="666666"/>
                </a:solidFill>
                <a:latin typeface="Lato"/>
                <a:ea typeface="Lato"/>
                <a:cs typeface="Lato"/>
              </a:rPr>
              <a:t> </a:t>
            </a:r>
            <a:r>
              <a:rPr sz="1275" dirty="0" err="1">
                <a:solidFill>
                  <a:srgbClr val="666666"/>
                </a:solidFill>
                <a:latin typeface="Lato"/>
                <a:ea typeface="Lato"/>
                <a:cs typeface="Lato"/>
              </a:rPr>
              <a:t>được</a:t>
            </a:r>
            <a:r>
              <a:rPr sz="1275" dirty="0">
                <a:solidFill>
                  <a:srgbClr val="666666"/>
                </a:solidFill>
                <a:latin typeface="Lato"/>
                <a:ea typeface="Lato"/>
                <a:cs typeface="Lato"/>
              </a:rPr>
              <a:t> </a:t>
            </a:r>
            <a:r>
              <a:rPr sz="1275" dirty="0" err="1">
                <a:solidFill>
                  <a:srgbClr val="666666"/>
                </a:solidFill>
                <a:latin typeface="Lato"/>
                <a:ea typeface="Lato"/>
                <a:cs typeface="Lato"/>
              </a:rPr>
              <a:t>việc</a:t>
            </a:r>
            <a:r>
              <a:rPr sz="1275" dirty="0">
                <a:solidFill>
                  <a:srgbClr val="666666"/>
                </a:solidFill>
                <a:latin typeface="Lato"/>
                <a:ea typeface="Lato"/>
                <a:cs typeface="Lato"/>
              </a:rPr>
              <a:t> </a:t>
            </a:r>
            <a:r>
              <a:rPr sz="1275" dirty="0" err="1">
                <a:solidFill>
                  <a:srgbClr val="666666"/>
                </a:solidFill>
                <a:latin typeface="Lato"/>
                <a:ea typeface="Lato"/>
                <a:cs typeface="Lato"/>
              </a:rPr>
              <a:t>khách</a:t>
            </a:r>
            <a:r>
              <a:rPr sz="1275" dirty="0">
                <a:solidFill>
                  <a:srgbClr val="666666"/>
                </a:solidFill>
                <a:latin typeface="Lato"/>
                <a:ea typeface="Lato"/>
                <a:cs typeface="Lato"/>
              </a:rPr>
              <a:t> </a:t>
            </a:r>
            <a:r>
              <a:rPr sz="1275" dirty="0" err="1">
                <a:solidFill>
                  <a:srgbClr val="666666"/>
                </a:solidFill>
                <a:latin typeface="Lato"/>
                <a:ea typeface="Lato"/>
                <a:cs typeface="Lato"/>
              </a:rPr>
              <a:t>hàng</a:t>
            </a:r>
            <a:r>
              <a:rPr sz="1275" dirty="0">
                <a:solidFill>
                  <a:srgbClr val="666666"/>
                </a:solidFill>
                <a:latin typeface="Lato"/>
                <a:ea typeface="Lato"/>
                <a:cs typeface="Lato"/>
              </a:rPr>
              <a:t> </a:t>
            </a:r>
            <a:r>
              <a:rPr sz="1275" dirty="0" err="1">
                <a:solidFill>
                  <a:srgbClr val="666666"/>
                </a:solidFill>
                <a:latin typeface="Lato"/>
                <a:ea typeface="Lato"/>
                <a:cs typeface="Lato"/>
              </a:rPr>
              <a:t>đồng</a:t>
            </a:r>
            <a:r>
              <a:rPr sz="1275" dirty="0">
                <a:solidFill>
                  <a:srgbClr val="666666"/>
                </a:solidFill>
                <a:latin typeface="Lato"/>
                <a:ea typeface="Lato"/>
                <a:cs typeface="Lato"/>
              </a:rPr>
              <a:t> </a:t>
            </a:r>
            <a:r>
              <a:rPr sz="1275" dirty="0" err="1">
                <a:solidFill>
                  <a:srgbClr val="666666"/>
                </a:solidFill>
                <a:latin typeface="Lato"/>
                <a:ea typeface="Lato"/>
                <a:cs typeface="Lato"/>
              </a:rPr>
              <a:t>thời</a:t>
            </a:r>
            <a:r>
              <a:rPr sz="1275" dirty="0">
                <a:solidFill>
                  <a:srgbClr val="666666"/>
                </a:solidFill>
                <a:latin typeface="Lato"/>
                <a:ea typeface="Lato"/>
                <a:cs typeface="Lato"/>
              </a:rPr>
              <a:t> </a:t>
            </a:r>
            <a:r>
              <a:rPr sz="1275" dirty="0" err="1">
                <a:solidFill>
                  <a:srgbClr val="666666"/>
                </a:solidFill>
                <a:latin typeface="Lato"/>
                <a:ea typeface="Lato"/>
                <a:cs typeface="Lato"/>
              </a:rPr>
              <a:t>hài</a:t>
            </a:r>
            <a:r>
              <a:rPr sz="1275" dirty="0">
                <a:solidFill>
                  <a:srgbClr val="666666"/>
                </a:solidFill>
                <a:latin typeface="Lato"/>
                <a:ea typeface="Lato"/>
                <a:cs typeface="Lato"/>
              </a:rPr>
              <a:t> </a:t>
            </a:r>
            <a:r>
              <a:rPr sz="1275" dirty="0" err="1">
                <a:solidFill>
                  <a:srgbClr val="666666"/>
                </a:solidFill>
                <a:latin typeface="Lato"/>
                <a:ea typeface="Lato"/>
                <a:cs typeface="Lato"/>
              </a:rPr>
              <a:t>lòng</a:t>
            </a:r>
            <a:r>
              <a:rPr sz="1275" dirty="0">
                <a:solidFill>
                  <a:srgbClr val="666666"/>
                </a:solidFill>
                <a:latin typeface="Lato"/>
                <a:ea typeface="Lato"/>
                <a:cs typeface="Lato"/>
              </a:rPr>
              <a:t> </a:t>
            </a:r>
            <a:r>
              <a:rPr sz="1275" dirty="0" err="1">
                <a:solidFill>
                  <a:srgbClr val="666666"/>
                </a:solidFill>
                <a:latin typeface="Lato"/>
                <a:ea typeface="Lato"/>
                <a:cs typeface="Lato"/>
              </a:rPr>
              <a:t>với</a:t>
            </a:r>
            <a:r>
              <a:rPr sz="1275" dirty="0">
                <a:solidFill>
                  <a:srgbClr val="666666"/>
                </a:solidFill>
                <a:latin typeface="Lato"/>
                <a:ea typeface="Lato"/>
                <a:cs typeface="Lato"/>
              </a:rPr>
              <a:t> </a:t>
            </a:r>
            <a:r>
              <a:rPr sz="1275" dirty="0" err="1">
                <a:solidFill>
                  <a:srgbClr val="666666"/>
                </a:solidFill>
                <a:latin typeface="Lato"/>
                <a:ea typeface="Lato"/>
                <a:cs typeface="Lato"/>
              </a:rPr>
              <a:t>món</a:t>
            </a:r>
            <a:r>
              <a:rPr sz="1275" dirty="0">
                <a:solidFill>
                  <a:srgbClr val="666666"/>
                </a:solidFill>
                <a:latin typeface="Lato"/>
                <a:ea typeface="Lato"/>
                <a:cs typeface="Lato"/>
              </a:rPr>
              <a:t> </a:t>
            </a:r>
            <a:r>
              <a:rPr sz="1275" dirty="0" err="1">
                <a:solidFill>
                  <a:srgbClr val="666666"/>
                </a:solidFill>
                <a:latin typeface="Lato"/>
                <a:ea typeface="Lato"/>
                <a:cs typeface="Lato"/>
              </a:rPr>
              <a:t>ăn</a:t>
            </a:r>
            <a:r>
              <a:rPr sz="1275" dirty="0">
                <a:solidFill>
                  <a:srgbClr val="666666"/>
                </a:solidFill>
                <a:latin typeface="Lato"/>
                <a:ea typeface="Lato"/>
                <a:cs typeface="Lato"/>
              </a:rPr>
              <a:t> </a:t>
            </a:r>
            <a:r>
              <a:rPr sz="1275" dirty="0" err="1">
                <a:solidFill>
                  <a:srgbClr val="666666"/>
                </a:solidFill>
                <a:latin typeface="Lato"/>
                <a:ea typeface="Lato"/>
                <a:cs typeface="Lato"/>
              </a:rPr>
              <a:t>và</a:t>
            </a:r>
            <a:r>
              <a:rPr sz="1275" dirty="0">
                <a:solidFill>
                  <a:srgbClr val="666666"/>
                </a:solidFill>
                <a:latin typeface="Lato"/>
                <a:ea typeface="Lato"/>
                <a:cs typeface="Lato"/>
              </a:rPr>
              <a:t> </a:t>
            </a:r>
            <a:r>
              <a:rPr sz="1275" dirty="0" err="1">
                <a:solidFill>
                  <a:srgbClr val="666666"/>
                </a:solidFill>
                <a:latin typeface="Lato"/>
                <a:ea typeface="Lato"/>
                <a:cs typeface="Lato"/>
              </a:rPr>
              <a:t>không</a:t>
            </a:r>
            <a:r>
              <a:rPr sz="1275" dirty="0">
                <a:solidFill>
                  <a:srgbClr val="666666"/>
                </a:solidFill>
                <a:latin typeface="Lato"/>
                <a:ea typeface="Lato"/>
                <a:cs typeface="Lato"/>
              </a:rPr>
              <a:t> </a:t>
            </a:r>
            <a:r>
              <a:rPr sz="1275" dirty="0" err="1">
                <a:solidFill>
                  <a:srgbClr val="666666"/>
                </a:solidFill>
                <a:latin typeface="Lato"/>
                <a:ea typeface="Lato"/>
                <a:cs typeface="Lato"/>
              </a:rPr>
              <a:t>hài</a:t>
            </a:r>
            <a:r>
              <a:rPr sz="1275" dirty="0">
                <a:solidFill>
                  <a:srgbClr val="666666"/>
                </a:solidFill>
                <a:latin typeface="Lato"/>
                <a:ea typeface="Lato"/>
                <a:cs typeface="Lato"/>
              </a:rPr>
              <a:t> </a:t>
            </a:r>
            <a:r>
              <a:rPr sz="1275" dirty="0" err="1">
                <a:solidFill>
                  <a:srgbClr val="666666"/>
                </a:solidFill>
                <a:latin typeface="Lato"/>
                <a:ea typeface="Lato"/>
                <a:cs typeface="Lato"/>
              </a:rPr>
              <a:t>lòng</a:t>
            </a:r>
            <a:r>
              <a:rPr sz="1275" dirty="0">
                <a:solidFill>
                  <a:srgbClr val="666666"/>
                </a:solidFill>
                <a:latin typeface="Lato"/>
                <a:ea typeface="Lato"/>
                <a:cs typeface="Lato"/>
              </a:rPr>
              <a:t> </a:t>
            </a:r>
            <a:r>
              <a:rPr sz="1275" dirty="0" err="1">
                <a:solidFill>
                  <a:srgbClr val="666666"/>
                </a:solidFill>
                <a:latin typeface="Lato"/>
                <a:ea typeface="Lato"/>
                <a:cs typeface="Lato"/>
              </a:rPr>
              <a:t>với</a:t>
            </a:r>
            <a:r>
              <a:rPr sz="1275" dirty="0">
                <a:solidFill>
                  <a:srgbClr val="666666"/>
                </a:solidFill>
                <a:latin typeface="Lato"/>
                <a:ea typeface="Lato"/>
                <a:cs typeface="Lato"/>
              </a:rPr>
              <a:t> </a:t>
            </a:r>
            <a:r>
              <a:rPr sz="1275" dirty="0" err="1">
                <a:solidFill>
                  <a:srgbClr val="666666"/>
                </a:solidFill>
                <a:latin typeface="Lato"/>
                <a:ea typeface="Lato"/>
                <a:cs typeface="Lato"/>
              </a:rPr>
              <a:t>dịch</a:t>
            </a:r>
            <a:r>
              <a:rPr sz="1275" dirty="0">
                <a:solidFill>
                  <a:srgbClr val="666666"/>
                </a:solidFill>
                <a:latin typeface="Lato"/>
                <a:ea typeface="Lato"/>
                <a:cs typeface="Lato"/>
              </a:rPr>
              <a:t> </a:t>
            </a:r>
            <a:r>
              <a:rPr sz="1275" dirty="0" err="1">
                <a:solidFill>
                  <a:srgbClr val="666666"/>
                </a:solidFill>
                <a:latin typeface="Lato"/>
                <a:ea typeface="Lato"/>
                <a:cs typeface="Lato"/>
              </a:rPr>
              <a:t>vụ</a:t>
            </a:r>
            <a:r>
              <a:rPr sz="1275" dirty="0">
                <a:solidFill>
                  <a:srgbClr val="666666"/>
                </a:solidFill>
                <a:latin typeface="Lato"/>
                <a:ea typeface="Lato"/>
                <a:cs typeface="Lato"/>
              </a:rPr>
              <a:t>.</a:t>
            </a:r>
          </a:p>
        </p:txBody>
      </p:sp>
      <p:sp>
        <p:nvSpPr>
          <p:cNvPr id="10" name="card-Đầu ra ASTE">
            <a:extLst>
              <a:ext uri="{FF2B5EF4-FFF2-40B4-BE49-F238E27FC236}">
                <a16:creationId xmlns:a16="http://schemas.microsoft.com/office/drawing/2014/main" id="{FB8DC7E3-BE91-4DB5-A3C8-F52643BBBFEA}"/>
              </a:ext>
            </a:extLst>
          </p:cNvPr>
          <p:cNvSpPr>
            <a:spLocks noGrp="1"/>
          </p:cNvSpPr>
          <p:nvPr/>
        </p:nvSpPr>
        <p:spPr>
          <a:xfrm>
            <a:off x="4648200" y="2349500"/>
            <a:ext cx="3886200" cy="2000250"/>
          </a:xfrm>
          <a:prstGeom prst="roundRect">
            <a:avLst>
              <a:gd name="adj" fmla="val 3431"/>
            </a:avLst>
          </a:prstGeom>
          <a:noFill/>
          <a:ln w="11430">
            <a:solidFill>
              <a:srgbClr val="E2D6D6"/>
            </a:solidFill>
            <a:prstDash val="solid"/>
          </a:ln>
        </p:spPr>
        <p:txBody>
          <a:bodyPr/>
          <a:lstStyle/>
          <a:p>
            <a:endParaRPr lang="en-VN"/>
          </a:p>
        </p:txBody>
      </p:sp>
      <p:sp>
        <p:nvSpPr>
          <p:cNvPr id="11" name="eyebrow-Đầu ra ASTE">
            <a:extLst>
              <a:ext uri="{FF2B5EF4-FFF2-40B4-BE49-F238E27FC236}">
                <a16:creationId xmlns:a16="http://schemas.microsoft.com/office/drawing/2014/main" id="{376B6682-B87A-4057-845C-E80FC2D17BAA}"/>
              </a:ext>
            </a:extLst>
          </p:cNvPr>
          <p:cNvSpPr>
            <a:spLocks noGrp="1"/>
          </p:cNvSpPr>
          <p:nvPr/>
        </p:nvSpPr>
        <p:spPr>
          <a:xfrm>
            <a:off x="4838700" y="2501899"/>
            <a:ext cx="3505200" cy="228600"/>
          </a:xfrm>
          <a:prstGeom prst="rect">
            <a:avLst/>
          </a:prstGeom>
          <a:noFill/>
          <a:ln w="0">
            <a:noFill/>
            <a:prstDash val="solid"/>
          </a:ln>
        </p:spPr>
        <p:txBody>
          <a:bodyPr anchor="ctr"/>
          <a:lstStyle/>
          <a:p>
            <a:pPr>
              <a:defRPr sz="975" b="1">
                <a:solidFill>
                  <a:srgbClr val="E8A000"/>
                </a:solidFill>
                <a:latin typeface="Lato"/>
                <a:ea typeface="Lato"/>
                <a:cs typeface="Lato"/>
              </a:defRPr>
            </a:pPr>
            <a:r>
              <a:rPr sz="975" b="1" dirty="0">
                <a:solidFill>
                  <a:srgbClr val="E8A000"/>
                </a:solidFill>
                <a:latin typeface="Lato"/>
                <a:ea typeface="Lato"/>
                <a:cs typeface="Lato"/>
              </a:rPr>
              <a:t>ĐẦU RA</a:t>
            </a:r>
            <a:r>
              <a:rPr lang="en-US" sz="975" b="1" dirty="0">
                <a:solidFill>
                  <a:srgbClr val="E8A000"/>
                </a:solidFill>
                <a:latin typeface="Lato"/>
                <a:ea typeface="Lato"/>
                <a:cs typeface="Lato"/>
              </a:rPr>
              <a:t> ASTE</a:t>
            </a:r>
            <a:endParaRPr sz="975" b="1" dirty="0">
              <a:solidFill>
                <a:srgbClr val="E8A000"/>
              </a:solidFill>
              <a:latin typeface="Lato"/>
              <a:ea typeface="Lato"/>
              <a:cs typeface="Lato"/>
            </a:endParaRPr>
          </a:p>
        </p:txBody>
      </p:sp>
      <p:sp>
        <p:nvSpPr>
          <p:cNvPr id="12" name="headline-Đầu ra ASTE">
            <a:extLst>
              <a:ext uri="{FF2B5EF4-FFF2-40B4-BE49-F238E27FC236}">
                <a16:creationId xmlns:a16="http://schemas.microsoft.com/office/drawing/2014/main" id="{2787C12D-3077-42C5-A3C1-7B305AB64FEF}"/>
              </a:ext>
            </a:extLst>
          </p:cNvPr>
          <p:cNvSpPr>
            <a:spLocks noGrp="1"/>
          </p:cNvSpPr>
          <p:nvPr/>
        </p:nvSpPr>
        <p:spPr>
          <a:xfrm>
            <a:off x="4838700" y="2806699"/>
            <a:ext cx="350520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dirty="0">
                <a:solidFill>
                  <a:srgbClr val="242424"/>
                </a:solidFill>
                <a:latin typeface="Lato"/>
                <a:ea typeface="Lato"/>
                <a:cs typeface="Lato"/>
              </a:rPr>
              <a:t>food → great → positive</a:t>
            </a:r>
          </a:p>
          <a:p>
            <a:pPr>
              <a:defRPr sz="1800" b="1">
                <a:solidFill>
                  <a:srgbClr val="242424"/>
                </a:solidFill>
                <a:latin typeface="Lato"/>
                <a:ea typeface="Lato"/>
                <a:cs typeface="Lato"/>
              </a:defRPr>
            </a:pPr>
            <a:r>
              <a:rPr sz="1800" b="1" dirty="0">
                <a:solidFill>
                  <a:srgbClr val="242424"/>
                </a:solidFill>
                <a:latin typeface="Lato"/>
                <a:ea typeface="Lato"/>
                <a:cs typeface="Lato"/>
              </a:rPr>
              <a:t>service → slow → negative</a:t>
            </a:r>
          </a:p>
        </p:txBody>
      </p:sp>
      <p:sp>
        <p:nvSpPr>
          <p:cNvPr id="13" name="body-Đầu ra ASTE">
            <a:extLst>
              <a:ext uri="{FF2B5EF4-FFF2-40B4-BE49-F238E27FC236}">
                <a16:creationId xmlns:a16="http://schemas.microsoft.com/office/drawing/2014/main" id="{2037B479-656A-41CB-BEEC-4A622BE3C89F}"/>
              </a:ext>
            </a:extLst>
          </p:cNvPr>
          <p:cNvSpPr>
            <a:spLocks noGrp="1"/>
          </p:cNvSpPr>
          <p:nvPr/>
        </p:nvSpPr>
        <p:spPr>
          <a:xfrm>
            <a:off x="4838700" y="3530600"/>
            <a:ext cx="3505200" cy="819150"/>
          </a:xfrm>
          <a:prstGeom prst="rect">
            <a:avLst/>
          </a:prstGeom>
          <a:noFill/>
          <a:ln w="0">
            <a:noFill/>
            <a:prstDash val="solid"/>
          </a:ln>
        </p:spPr>
        <p:txBody>
          <a:bodyPr anchor="t"/>
          <a:lstStyle/>
          <a:p>
            <a:pPr>
              <a:defRPr sz="1275">
                <a:solidFill>
                  <a:srgbClr val="666666"/>
                </a:solidFill>
                <a:latin typeface="Lato"/>
                <a:ea typeface="Lato"/>
                <a:cs typeface="Lato"/>
              </a:defRPr>
            </a:pPr>
            <a:r>
              <a:rPr sz="1275" dirty="0" err="1">
                <a:solidFill>
                  <a:srgbClr val="666666"/>
                </a:solidFill>
                <a:latin typeface="Lato"/>
                <a:ea typeface="Lato"/>
                <a:cs typeface="Lato"/>
              </a:rPr>
              <a:t>Mỗi</a:t>
            </a:r>
            <a:r>
              <a:rPr sz="1275" dirty="0">
                <a:solidFill>
                  <a:srgbClr val="666666"/>
                </a:solidFill>
                <a:latin typeface="Lato"/>
                <a:ea typeface="Lato"/>
                <a:cs typeface="Lato"/>
              </a:rPr>
              <a:t> </a:t>
            </a:r>
            <a:r>
              <a:rPr sz="1275" dirty="0" err="1">
                <a:solidFill>
                  <a:srgbClr val="666666"/>
                </a:solidFill>
                <a:latin typeface="Lato"/>
                <a:ea typeface="Lato"/>
                <a:cs typeface="Lato"/>
              </a:rPr>
              <a:t>bộ</a:t>
            </a:r>
            <a:r>
              <a:rPr sz="1275" dirty="0">
                <a:solidFill>
                  <a:srgbClr val="666666"/>
                </a:solidFill>
                <a:latin typeface="Lato"/>
                <a:ea typeface="Lato"/>
                <a:cs typeface="Lato"/>
              </a:rPr>
              <a:t> </a:t>
            </a:r>
            <a:r>
              <a:rPr sz="1275" dirty="0" err="1">
                <a:solidFill>
                  <a:srgbClr val="666666"/>
                </a:solidFill>
                <a:latin typeface="Lato"/>
                <a:ea typeface="Lato"/>
                <a:cs typeface="Lato"/>
              </a:rPr>
              <a:t>ba</a:t>
            </a:r>
            <a:r>
              <a:rPr sz="1275" dirty="0">
                <a:solidFill>
                  <a:srgbClr val="666666"/>
                </a:solidFill>
                <a:latin typeface="Lato"/>
                <a:ea typeface="Lato"/>
                <a:cs typeface="Lato"/>
              </a:rPr>
              <a:t> </a:t>
            </a:r>
            <a:r>
              <a:rPr sz="1275" dirty="0" err="1">
                <a:solidFill>
                  <a:srgbClr val="666666"/>
                </a:solidFill>
                <a:latin typeface="Lato"/>
                <a:ea typeface="Lato"/>
                <a:cs typeface="Lato"/>
              </a:rPr>
              <a:t>liên</a:t>
            </a:r>
            <a:r>
              <a:rPr sz="1275" dirty="0">
                <a:solidFill>
                  <a:srgbClr val="666666"/>
                </a:solidFill>
                <a:latin typeface="Lato"/>
                <a:ea typeface="Lato"/>
                <a:cs typeface="Lato"/>
              </a:rPr>
              <a:t> </a:t>
            </a:r>
            <a:r>
              <a:rPr sz="1275" dirty="0" err="1">
                <a:solidFill>
                  <a:srgbClr val="666666"/>
                </a:solidFill>
                <a:latin typeface="Lato"/>
                <a:ea typeface="Lato"/>
                <a:cs typeface="Lato"/>
              </a:rPr>
              <a:t>kết</a:t>
            </a:r>
            <a:r>
              <a:rPr sz="1275" dirty="0">
                <a:solidFill>
                  <a:srgbClr val="666666"/>
                </a:solidFill>
                <a:latin typeface="Lato"/>
                <a:ea typeface="Lato"/>
                <a:cs typeface="Lato"/>
              </a:rPr>
              <a:t> </a:t>
            </a:r>
            <a:r>
              <a:rPr sz="1275" dirty="0" err="1">
                <a:solidFill>
                  <a:srgbClr val="666666"/>
                </a:solidFill>
                <a:latin typeface="Lato"/>
                <a:ea typeface="Lato"/>
                <a:cs typeface="Lato"/>
              </a:rPr>
              <a:t>đúng</a:t>
            </a:r>
            <a:r>
              <a:rPr sz="1275" dirty="0">
                <a:solidFill>
                  <a:srgbClr val="666666"/>
                </a:solidFill>
                <a:latin typeface="Lato"/>
                <a:ea typeface="Lato"/>
                <a:cs typeface="Lato"/>
              </a:rPr>
              <a:t> </a:t>
            </a:r>
            <a:r>
              <a:rPr sz="1275" b="1" dirty="0">
                <a:solidFill>
                  <a:srgbClr val="666666"/>
                </a:solidFill>
                <a:latin typeface="Lato"/>
                <a:ea typeface="Lato"/>
                <a:cs typeface="Lato"/>
              </a:rPr>
              <a:t>aspect, opinion </a:t>
            </a:r>
            <a:r>
              <a:rPr sz="1275" b="1" dirty="0" err="1">
                <a:solidFill>
                  <a:srgbClr val="666666"/>
                </a:solidFill>
                <a:latin typeface="Lato"/>
                <a:ea typeface="Lato"/>
                <a:cs typeface="Lato"/>
              </a:rPr>
              <a:t>và</a:t>
            </a:r>
            <a:r>
              <a:rPr sz="1275" b="1" dirty="0">
                <a:solidFill>
                  <a:srgbClr val="666666"/>
                </a:solidFill>
                <a:latin typeface="Lato"/>
                <a:ea typeface="Lato"/>
                <a:cs typeface="Lato"/>
              </a:rPr>
              <a:t> sentiment.</a:t>
            </a:r>
            <a:r>
              <a:rPr sz="1275" dirty="0">
                <a:solidFill>
                  <a:srgbClr val="666666"/>
                </a:solidFill>
                <a:latin typeface="Lato"/>
                <a:ea typeface="Lato"/>
                <a:cs typeface="Lato"/>
              </a:rPr>
              <a:t> </a:t>
            </a:r>
            <a:r>
              <a:rPr sz="1275" dirty="0" err="1">
                <a:solidFill>
                  <a:srgbClr val="666666"/>
                </a:solidFill>
                <a:latin typeface="Lato"/>
                <a:ea typeface="Lato"/>
                <a:cs typeface="Lato"/>
              </a:rPr>
              <a:t>Đây</a:t>
            </a:r>
            <a:r>
              <a:rPr sz="1275" dirty="0">
                <a:solidFill>
                  <a:srgbClr val="666666"/>
                </a:solidFill>
                <a:latin typeface="Lato"/>
                <a:ea typeface="Lato"/>
                <a:cs typeface="Lato"/>
              </a:rPr>
              <a:t> </a:t>
            </a:r>
            <a:r>
              <a:rPr sz="1275" dirty="0" err="1">
                <a:solidFill>
                  <a:srgbClr val="666666"/>
                </a:solidFill>
                <a:latin typeface="Lato"/>
                <a:ea typeface="Lato"/>
                <a:cs typeface="Lato"/>
              </a:rPr>
              <a:t>là</a:t>
            </a:r>
            <a:r>
              <a:rPr sz="1275" dirty="0">
                <a:solidFill>
                  <a:srgbClr val="666666"/>
                </a:solidFill>
                <a:latin typeface="Lato"/>
                <a:ea typeface="Lato"/>
                <a:cs typeface="Lato"/>
              </a:rPr>
              <a:t> </a:t>
            </a:r>
            <a:r>
              <a:rPr sz="1275" dirty="0" err="1">
                <a:solidFill>
                  <a:srgbClr val="666666"/>
                </a:solidFill>
                <a:latin typeface="Lato"/>
                <a:ea typeface="Lato"/>
                <a:cs typeface="Lato"/>
              </a:rPr>
              <a:t>đơn</a:t>
            </a:r>
            <a:r>
              <a:rPr sz="1275" dirty="0">
                <a:solidFill>
                  <a:srgbClr val="666666"/>
                </a:solidFill>
                <a:latin typeface="Lato"/>
                <a:ea typeface="Lato"/>
                <a:cs typeface="Lato"/>
              </a:rPr>
              <a:t> </a:t>
            </a:r>
            <a:r>
              <a:rPr sz="1275" dirty="0" err="1">
                <a:solidFill>
                  <a:srgbClr val="666666"/>
                </a:solidFill>
                <a:latin typeface="Lato"/>
                <a:ea typeface="Lato"/>
                <a:cs typeface="Lato"/>
              </a:rPr>
              <a:t>vị</a:t>
            </a:r>
            <a:r>
              <a:rPr sz="1275" dirty="0">
                <a:solidFill>
                  <a:srgbClr val="666666"/>
                </a:solidFill>
                <a:latin typeface="Lato"/>
                <a:ea typeface="Lato"/>
                <a:cs typeface="Lato"/>
              </a:rPr>
              <a:t> </a:t>
            </a:r>
            <a:r>
              <a:rPr sz="1275" dirty="0" err="1">
                <a:solidFill>
                  <a:srgbClr val="666666"/>
                </a:solidFill>
                <a:latin typeface="Lato"/>
                <a:ea typeface="Lato"/>
                <a:cs typeface="Lato"/>
              </a:rPr>
              <a:t>dữ</a:t>
            </a:r>
            <a:r>
              <a:rPr sz="1275" dirty="0">
                <a:solidFill>
                  <a:srgbClr val="666666"/>
                </a:solidFill>
                <a:latin typeface="Lato"/>
                <a:ea typeface="Lato"/>
                <a:cs typeface="Lato"/>
              </a:rPr>
              <a:t> </a:t>
            </a:r>
            <a:r>
              <a:rPr sz="1275" dirty="0" err="1">
                <a:solidFill>
                  <a:srgbClr val="666666"/>
                </a:solidFill>
                <a:latin typeface="Lato"/>
                <a:ea typeface="Lato"/>
                <a:cs typeface="Lato"/>
              </a:rPr>
              <a:t>liệu</a:t>
            </a:r>
            <a:r>
              <a:rPr sz="1275" dirty="0">
                <a:solidFill>
                  <a:srgbClr val="666666"/>
                </a:solidFill>
                <a:latin typeface="Lato"/>
                <a:ea typeface="Lato"/>
                <a:cs typeface="Lato"/>
              </a:rPr>
              <a:t> </a:t>
            </a:r>
            <a:r>
              <a:rPr sz="1275" dirty="0" err="1">
                <a:solidFill>
                  <a:srgbClr val="666666"/>
                </a:solidFill>
                <a:latin typeface="Lato"/>
                <a:ea typeface="Lato"/>
                <a:cs typeface="Lato"/>
              </a:rPr>
              <a:t>để</a:t>
            </a:r>
            <a:r>
              <a:rPr sz="1275" dirty="0">
                <a:solidFill>
                  <a:srgbClr val="666666"/>
                </a:solidFill>
                <a:latin typeface="Lato"/>
                <a:ea typeface="Lato"/>
                <a:cs typeface="Lato"/>
              </a:rPr>
              <a:t> </a:t>
            </a:r>
            <a:r>
              <a:rPr sz="1275" dirty="0" err="1">
                <a:solidFill>
                  <a:srgbClr val="666666"/>
                </a:solidFill>
                <a:latin typeface="Lato"/>
                <a:ea typeface="Lato"/>
                <a:cs typeface="Lato"/>
              </a:rPr>
              <a:t>thống</a:t>
            </a:r>
            <a:r>
              <a:rPr sz="1275" dirty="0">
                <a:solidFill>
                  <a:srgbClr val="666666"/>
                </a:solidFill>
                <a:latin typeface="Lato"/>
                <a:ea typeface="Lato"/>
                <a:cs typeface="Lato"/>
              </a:rPr>
              <a:t> </a:t>
            </a:r>
            <a:r>
              <a:rPr sz="1275" dirty="0" err="1">
                <a:solidFill>
                  <a:srgbClr val="666666"/>
                </a:solidFill>
                <a:latin typeface="Lato"/>
                <a:ea typeface="Lato"/>
                <a:cs typeface="Lato"/>
              </a:rPr>
              <a:t>kê</a:t>
            </a:r>
            <a:r>
              <a:rPr sz="1275" dirty="0">
                <a:solidFill>
                  <a:srgbClr val="666666"/>
                </a:solidFill>
                <a:latin typeface="Lato"/>
                <a:ea typeface="Lato"/>
                <a:cs typeface="Lato"/>
              </a:rPr>
              <a:t> </a:t>
            </a:r>
            <a:r>
              <a:rPr sz="1275" dirty="0" err="1">
                <a:solidFill>
                  <a:srgbClr val="666666"/>
                </a:solidFill>
                <a:latin typeface="Lato"/>
                <a:ea typeface="Lato"/>
                <a:cs typeface="Lato"/>
              </a:rPr>
              <a:t>lý</a:t>
            </a:r>
            <a:r>
              <a:rPr sz="1275" dirty="0">
                <a:solidFill>
                  <a:srgbClr val="666666"/>
                </a:solidFill>
                <a:latin typeface="Lato"/>
                <a:ea typeface="Lato"/>
                <a:cs typeface="Lato"/>
              </a:rPr>
              <a:t> do </a:t>
            </a:r>
            <a:r>
              <a:rPr sz="1275" dirty="0" err="1">
                <a:solidFill>
                  <a:srgbClr val="666666"/>
                </a:solidFill>
                <a:latin typeface="Lato"/>
                <a:ea typeface="Lato"/>
                <a:cs typeface="Lato"/>
              </a:rPr>
              <a:t>và</a:t>
            </a:r>
            <a:r>
              <a:rPr sz="1275" dirty="0">
                <a:solidFill>
                  <a:srgbClr val="666666"/>
                </a:solidFill>
                <a:latin typeface="Lato"/>
                <a:ea typeface="Lato"/>
                <a:cs typeface="Lato"/>
              </a:rPr>
              <a:t> </a:t>
            </a:r>
            <a:r>
              <a:rPr sz="1275" dirty="0" err="1">
                <a:solidFill>
                  <a:srgbClr val="666666"/>
                </a:solidFill>
                <a:latin typeface="Lato"/>
                <a:ea typeface="Lato"/>
                <a:cs typeface="Lato"/>
              </a:rPr>
              <a:t>sinh</a:t>
            </a:r>
            <a:r>
              <a:rPr sz="1275" dirty="0">
                <a:solidFill>
                  <a:srgbClr val="666666"/>
                </a:solidFill>
                <a:latin typeface="Lato"/>
                <a:ea typeface="Lato"/>
                <a:cs typeface="Lato"/>
              </a:rPr>
              <a:t> insight.</a:t>
            </a:r>
          </a:p>
        </p:txBody>
      </p:sp>
      <p:sp>
        <p:nvSpPr>
          <p:cNvPr id="27" name="TextBox 26">
            <a:extLst>
              <a:ext uri="{FF2B5EF4-FFF2-40B4-BE49-F238E27FC236}">
                <a16:creationId xmlns:a16="http://schemas.microsoft.com/office/drawing/2014/main" id="{47ED332F-0724-CE2A-8991-67F12BE141EA}"/>
              </a:ext>
            </a:extLst>
          </p:cNvPr>
          <p:cNvSpPr txBox="1"/>
          <p:nvPr/>
        </p:nvSpPr>
        <p:spPr>
          <a:xfrm>
            <a:off x="248556" y="1341120"/>
            <a:ext cx="7594643" cy="369332"/>
          </a:xfrm>
          <a:prstGeom prst="rect">
            <a:avLst/>
          </a:prstGeom>
          <a:noFill/>
        </p:spPr>
        <p:txBody>
          <a:bodyPr wrap="none" rtlCol="0">
            <a:spAutoFit/>
          </a:bodyPr>
          <a:lstStyle/>
          <a:p>
            <a:r>
              <a:rPr lang="en-VN" b="1" dirty="0"/>
              <a:t>Bài toán: </a:t>
            </a:r>
            <a:r>
              <a:rPr lang="en-VN" dirty="0"/>
              <a:t>Phân tích cảm xúc theo khía cạnh từ phản hồi khách hàng và báo cáo  </a:t>
            </a:r>
          </a:p>
        </p:txBody>
      </p:sp>
      <p:sp>
        <p:nvSpPr>
          <p:cNvPr id="29" name="card-Đầu ra ASTE">
            <a:extLst>
              <a:ext uri="{FF2B5EF4-FFF2-40B4-BE49-F238E27FC236}">
                <a16:creationId xmlns:a16="http://schemas.microsoft.com/office/drawing/2014/main" id="{7CB4A5D3-97C5-7BA0-EA2E-7EC267807A79}"/>
              </a:ext>
            </a:extLst>
          </p:cNvPr>
          <p:cNvSpPr>
            <a:spLocks noGrp="1"/>
          </p:cNvSpPr>
          <p:nvPr/>
        </p:nvSpPr>
        <p:spPr>
          <a:xfrm>
            <a:off x="609600" y="4502148"/>
            <a:ext cx="7924800" cy="1492252"/>
          </a:xfrm>
          <a:prstGeom prst="roundRect">
            <a:avLst>
              <a:gd name="adj" fmla="val 3431"/>
            </a:avLst>
          </a:prstGeom>
          <a:noFill/>
          <a:ln w="11430">
            <a:solidFill>
              <a:srgbClr val="E2D6D6"/>
            </a:solidFill>
            <a:prstDash val="solid"/>
          </a:ln>
        </p:spPr>
        <p:txBody>
          <a:bodyPr/>
          <a:lstStyle/>
          <a:p>
            <a:endParaRPr lang="en-VN"/>
          </a:p>
        </p:txBody>
      </p:sp>
      <p:sp>
        <p:nvSpPr>
          <p:cNvPr id="30" name="eyebrow-Đầu ra ASTE">
            <a:extLst>
              <a:ext uri="{FF2B5EF4-FFF2-40B4-BE49-F238E27FC236}">
                <a16:creationId xmlns:a16="http://schemas.microsoft.com/office/drawing/2014/main" id="{E482A696-1158-C107-9BDE-AFDAE010B507}"/>
              </a:ext>
            </a:extLst>
          </p:cNvPr>
          <p:cNvSpPr>
            <a:spLocks noGrp="1"/>
          </p:cNvSpPr>
          <p:nvPr/>
        </p:nvSpPr>
        <p:spPr>
          <a:xfrm>
            <a:off x="800100" y="4654547"/>
            <a:ext cx="3505200" cy="228600"/>
          </a:xfrm>
          <a:prstGeom prst="rect">
            <a:avLst/>
          </a:prstGeom>
          <a:noFill/>
          <a:ln w="0">
            <a:noFill/>
            <a:prstDash val="solid"/>
          </a:ln>
        </p:spPr>
        <p:txBody>
          <a:bodyPr anchor="ctr"/>
          <a:lstStyle/>
          <a:p>
            <a:pPr>
              <a:defRPr sz="975" b="1">
                <a:solidFill>
                  <a:srgbClr val="E8A000"/>
                </a:solidFill>
                <a:latin typeface="Lato"/>
                <a:ea typeface="Lato"/>
                <a:cs typeface="Lato"/>
              </a:defRPr>
            </a:pPr>
            <a:r>
              <a:rPr sz="975" b="1" dirty="0">
                <a:solidFill>
                  <a:srgbClr val="E8A000"/>
                </a:solidFill>
                <a:latin typeface="Lato"/>
                <a:ea typeface="Lato"/>
                <a:cs typeface="Lato"/>
              </a:rPr>
              <a:t>ĐẦU RA </a:t>
            </a:r>
            <a:r>
              <a:rPr lang="en-US" sz="975" b="1" dirty="0">
                <a:solidFill>
                  <a:srgbClr val="E8A000"/>
                </a:solidFill>
                <a:latin typeface="Lato"/>
                <a:ea typeface="Lato"/>
                <a:cs typeface="Lato"/>
              </a:rPr>
              <a:t>BÁO CÁO</a:t>
            </a:r>
            <a:endParaRPr sz="975" b="1" dirty="0">
              <a:solidFill>
                <a:srgbClr val="E8A000"/>
              </a:solidFill>
              <a:latin typeface="Lato"/>
              <a:ea typeface="Lato"/>
              <a:cs typeface="Lato"/>
            </a:endParaRPr>
          </a:p>
        </p:txBody>
      </p:sp>
      <p:sp>
        <p:nvSpPr>
          <p:cNvPr id="31" name="headline-Đầu ra ASTE">
            <a:extLst>
              <a:ext uri="{FF2B5EF4-FFF2-40B4-BE49-F238E27FC236}">
                <a16:creationId xmlns:a16="http://schemas.microsoft.com/office/drawing/2014/main" id="{A92DF908-CBF1-2CD7-6CFC-7D2608519919}"/>
              </a:ext>
            </a:extLst>
          </p:cNvPr>
          <p:cNvSpPr>
            <a:spLocks noGrp="1"/>
          </p:cNvSpPr>
          <p:nvPr/>
        </p:nvSpPr>
        <p:spPr>
          <a:xfrm>
            <a:off x="800100" y="4921622"/>
            <a:ext cx="7543800" cy="647700"/>
          </a:xfrm>
          <a:prstGeom prst="rect">
            <a:avLst/>
          </a:prstGeom>
          <a:noFill/>
          <a:ln w="0">
            <a:noFill/>
            <a:prstDash val="solid"/>
          </a:ln>
        </p:spPr>
        <p:txBody>
          <a:bodyPr anchor="ctr"/>
          <a:lstStyle/>
          <a:p>
            <a:pPr algn="just">
              <a:defRPr sz="1800" b="1">
                <a:solidFill>
                  <a:srgbClr val="242424"/>
                </a:solidFill>
                <a:latin typeface="Lato"/>
                <a:ea typeface="Lato"/>
                <a:cs typeface="Lato"/>
              </a:defRPr>
            </a:pPr>
            <a:r>
              <a:rPr lang="vi-VN" sz="1400" b="1" i="1" dirty="0">
                <a:solidFill>
                  <a:srgbClr val="242424"/>
                </a:solidFill>
                <a:latin typeface="Lato"/>
                <a:ea typeface="Lato"/>
                <a:cs typeface="Lato"/>
              </a:rPr>
              <a:t>“Customers rate the food and prices positively (with most mentioning "great" or "delicious"). However, service is the aspect receiving the most negative feedback—often criticized as "slow"—and requires priority improvement”</a:t>
            </a:r>
            <a:endParaRPr sz="1400" b="1" i="1" dirty="0">
              <a:solidFill>
                <a:srgbClr val="242424"/>
              </a:solidFill>
              <a:latin typeface="Lato"/>
              <a:ea typeface="Lato"/>
              <a:cs typeface="Lato"/>
            </a:endParaRPr>
          </a:p>
        </p:txBody>
      </p:sp>
      <p:sp>
        <p:nvSpPr>
          <p:cNvPr id="33" name="body-Đầu vào">
            <a:extLst>
              <a:ext uri="{FF2B5EF4-FFF2-40B4-BE49-F238E27FC236}">
                <a16:creationId xmlns:a16="http://schemas.microsoft.com/office/drawing/2014/main" id="{D0967219-7363-1313-7D82-DD07629FB91A}"/>
              </a:ext>
            </a:extLst>
          </p:cNvPr>
          <p:cNvSpPr>
            <a:spLocks noGrp="1"/>
          </p:cNvSpPr>
          <p:nvPr/>
        </p:nvSpPr>
        <p:spPr>
          <a:xfrm>
            <a:off x="800100" y="5607797"/>
            <a:ext cx="7724140" cy="303296"/>
          </a:xfrm>
          <a:prstGeom prst="rect">
            <a:avLst/>
          </a:prstGeom>
          <a:noFill/>
          <a:ln w="0">
            <a:noFill/>
            <a:prstDash val="solid"/>
          </a:ln>
        </p:spPr>
        <p:txBody>
          <a:bodyPr anchor="t"/>
          <a:lstStyle/>
          <a:p>
            <a:pPr>
              <a:defRPr sz="1275">
                <a:solidFill>
                  <a:srgbClr val="666666"/>
                </a:solidFill>
                <a:latin typeface="Lato"/>
                <a:ea typeface="Lato"/>
                <a:cs typeface="Lato"/>
              </a:defRPr>
            </a:pPr>
            <a:r>
              <a:rPr lang="vi-VN" sz="1275" dirty="0">
                <a:solidFill>
                  <a:srgbClr val="666666"/>
                </a:solidFill>
                <a:latin typeface="Lato"/>
                <a:ea typeface="Lato"/>
                <a:cs typeface="Lato"/>
              </a:rPr>
              <a:t>Hiện tượng hallucination – mô hình có thể bịa ra số liệu hoặc nhận định không khớp với dữ </a:t>
            </a:r>
            <a:r>
              <a:rPr lang="vi-VN" sz="1275">
                <a:solidFill>
                  <a:srgbClr val="666666"/>
                </a:solidFill>
                <a:latin typeface="Lato"/>
                <a:ea typeface="Lato"/>
                <a:cs typeface="Lato"/>
              </a:rPr>
              <a:t>liệu gốc.</a:t>
            </a:r>
            <a:endParaRPr sz="1275" dirty="0">
              <a:solidFill>
                <a:srgbClr val="666666"/>
              </a:solidFill>
              <a:latin typeface="Lato"/>
              <a:ea typeface="Lato"/>
              <a:cs typeface="Lato"/>
            </a:endParaRPr>
          </a:p>
        </p:txBody>
      </p:sp>
      <p:sp>
        <p:nvSpPr>
          <p:cNvPr id="14" name="TextBox 13">
            <a:extLst>
              <a:ext uri="{FF2B5EF4-FFF2-40B4-BE49-F238E27FC236}">
                <a16:creationId xmlns:a16="http://schemas.microsoft.com/office/drawing/2014/main" id="{916B73E1-F636-7527-EB14-2B8D2781EB38}"/>
              </a:ext>
            </a:extLst>
          </p:cNvPr>
          <p:cNvSpPr txBox="1"/>
          <p:nvPr/>
        </p:nvSpPr>
        <p:spPr>
          <a:xfrm>
            <a:off x="266700" y="1763125"/>
            <a:ext cx="5697220" cy="369332"/>
          </a:xfrm>
          <a:prstGeom prst="rect">
            <a:avLst/>
          </a:prstGeom>
          <a:noFill/>
        </p:spPr>
        <p:txBody>
          <a:bodyPr wrap="square">
            <a:spAutoFit/>
          </a:bodyPr>
          <a:lstStyle/>
          <a:p>
            <a:r>
              <a:rPr lang="en-US" i="1" dirty="0">
                <a:solidFill>
                  <a:schemeClr val="bg1">
                    <a:lumMod val="50000"/>
                  </a:schemeClr>
                </a:solidFill>
                <a:ea typeface="Lato" panose="020F0502020204030203" pitchFamily="34" charset="0"/>
                <a:cs typeface="Lato" panose="020F0502020204030203" pitchFamily="34" charset="0"/>
              </a:rPr>
              <a:t>(Aspect-Based Sentiment Analysis (ABSA) and Report)</a:t>
            </a:r>
            <a:endParaRPr lang="en-VN" i="1" dirty="0">
              <a:solidFill>
                <a:schemeClr val="bg1">
                  <a:lumMod val="50000"/>
                </a:schemeClr>
              </a:solidFill>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341840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09622-FEC8-31B5-9444-24CE47E88B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FEE8A9-F5FB-D6C5-90CC-3C7F6A5A9CAF}"/>
              </a:ext>
            </a:extLst>
          </p:cNvPr>
          <p:cNvSpPr>
            <a:spLocks noGrp="1"/>
          </p:cNvSpPr>
          <p:nvPr>
            <p:ph type="sldNum" idx="12"/>
          </p:nvPr>
        </p:nvSpPr>
        <p:spPr>
          <a:xfrm>
            <a:off x="6867430" y="6491288"/>
            <a:ext cx="2057400" cy="361950"/>
          </a:xfrm>
        </p:spPr>
        <p:txBody>
          <a:bodyPr/>
          <a:lstStyle/>
          <a:p>
            <a:fld id="{202359C0-8A7A-196E-DD58-8E6569619F09}" type="slidenum">
              <a:rPr/>
              <a:t>4</a:t>
            </a:fld>
            <a:endParaRPr/>
          </a:p>
        </p:txBody>
      </p:sp>
      <p:sp>
        <p:nvSpPr>
          <p:cNvPr id="5" name="Title 4">
            <a:extLst>
              <a:ext uri="{FF2B5EF4-FFF2-40B4-BE49-F238E27FC236}">
                <a16:creationId xmlns:a16="http://schemas.microsoft.com/office/drawing/2014/main" id="{952BF9BD-2B26-26A5-EE01-8D9B546C409E}"/>
              </a:ext>
            </a:extLst>
          </p:cNvPr>
          <p:cNvSpPr>
            <a:spLocks noGrp="1"/>
          </p:cNvSpPr>
          <p:nvPr>
            <p:ph type="title"/>
          </p:nvPr>
        </p:nvSpPr>
        <p:spPr/>
        <p:txBody>
          <a:bodyPr/>
          <a:lstStyle/>
          <a:p>
            <a:r>
              <a:t>1. Bài toán &amp; mục tiêu</a:t>
            </a:r>
          </a:p>
        </p:txBody>
      </p:sp>
      <p:sp>
        <p:nvSpPr>
          <p:cNvPr id="27" name="TextBox 26">
            <a:extLst>
              <a:ext uri="{FF2B5EF4-FFF2-40B4-BE49-F238E27FC236}">
                <a16:creationId xmlns:a16="http://schemas.microsoft.com/office/drawing/2014/main" id="{BEB17074-E61F-D608-C3CB-EB4F3D6EF9DD}"/>
              </a:ext>
            </a:extLst>
          </p:cNvPr>
          <p:cNvSpPr txBox="1"/>
          <p:nvPr/>
        </p:nvSpPr>
        <p:spPr>
          <a:xfrm>
            <a:off x="248556" y="1341120"/>
            <a:ext cx="1098378" cy="369332"/>
          </a:xfrm>
          <a:prstGeom prst="rect">
            <a:avLst/>
          </a:prstGeom>
          <a:noFill/>
        </p:spPr>
        <p:txBody>
          <a:bodyPr wrap="none" rtlCol="0">
            <a:spAutoFit/>
          </a:bodyPr>
          <a:lstStyle/>
          <a:p>
            <a:r>
              <a:rPr lang="en-VN" b="1" dirty="0"/>
              <a:t>Mục tiêu:</a:t>
            </a:r>
            <a:endParaRPr lang="en-VN" dirty="0"/>
          </a:p>
        </p:txBody>
      </p:sp>
      <p:sp>
        <p:nvSpPr>
          <p:cNvPr id="34" name="card-01 • TRÍCH XUẤT"/>
          <p:cNvSpPr>
            <a:spLocks noGrp="1"/>
          </p:cNvSpPr>
          <p:nvPr/>
        </p:nvSpPr>
        <p:spPr>
          <a:xfrm>
            <a:off x="523875" y="1900000"/>
            <a:ext cx="3952875" cy="2195644"/>
          </a:xfrm>
          <a:prstGeom prst="roundRect">
            <a:avLst>
              <a:gd name="adj" fmla="val 5185"/>
            </a:avLst>
          </a:prstGeom>
          <a:noFill/>
          <a:ln w="11430">
            <a:solidFill>
              <a:srgbClr val="E2D6D6"/>
            </a:solidFill>
            <a:prstDash val="solid"/>
          </a:ln>
        </p:spPr>
        <p:txBody>
          <a:bodyPr/>
          <a:lstStyle/>
          <a:p>
            <a:endParaRPr lang="en-VN"/>
          </a:p>
        </p:txBody>
      </p:sp>
      <p:sp>
        <p:nvSpPr>
          <p:cNvPr id="35" name="eyebrow-01 • TRÍCH XUẤT"/>
          <p:cNvSpPr>
            <a:spLocks noGrp="1"/>
          </p:cNvSpPr>
          <p:nvPr/>
        </p:nvSpPr>
        <p:spPr>
          <a:xfrm>
            <a:off x="714375" y="2052400"/>
            <a:ext cx="3571875" cy="2286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01 • TRÍCH XUẤT</a:t>
            </a:r>
          </a:p>
        </p:txBody>
      </p:sp>
      <p:sp>
        <p:nvSpPr>
          <p:cNvPr id="36" name="headline-01 • TRÍCH XUẤT"/>
          <p:cNvSpPr>
            <a:spLocks noGrp="1"/>
          </p:cNvSpPr>
          <p:nvPr/>
        </p:nvSpPr>
        <p:spPr>
          <a:xfrm>
            <a:off x="714375" y="2357200"/>
            <a:ext cx="3571875"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dirty="0" err="1">
                <a:solidFill>
                  <a:srgbClr val="242424"/>
                </a:solidFill>
                <a:latin typeface="Lato"/>
                <a:ea typeface="Lato"/>
                <a:cs typeface="Lato"/>
              </a:rPr>
              <a:t>Trích</a:t>
            </a:r>
            <a:r>
              <a:rPr sz="1800" b="1" dirty="0">
                <a:solidFill>
                  <a:srgbClr val="242424"/>
                </a:solidFill>
                <a:latin typeface="Lato"/>
                <a:ea typeface="Lato"/>
                <a:cs typeface="Lato"/>
              </a:rPr>
              <a:t> </a:t>
            </a:r>
            <a:r>
              <a:rPr sz="1800" b="1" dirty="0" err="1">
                <a:solidFill>
                  <a:srgbClr val="242424"/>
                </a:solidFill>
                <a:latin typeface="Lato"/>
                <a:ea typeface="Lato"/>
                <a:cs typeface="Lato"/>
              </a:rPr>
              <a:t>bộ</a:t>
            </a:r>
            <a:r>
              <a:rPr sz="1800" b="1" dirty="0">
                <a:solidFill>
                  <a:srgbClr val="242424"/>
                </a:solidFill>
                <a:latin typeface="Lato"/>
                <a:ea typeface="Lato"/>
                <a:cs typeface="Lato"/>
              </a:rPr>
              <a:t> </a:t>
            </a:r>
            <a:r>
              <a:rPr sz="1800" b="1" dirty="0" err="1">
                <a:solidFill>
                  <a:srgbClr val="242424"/>
                </a:solidFill>
                <a:latin typeface="Lato"/>
                <a:ea typeface="Lato"/>
                <a:cs typeface="Lato"/>
              </a:rPr>
              <a:t>ba</a:t>
            </a:r>
            <a:r>
              <a:rPr sz="1800" b="1" dirty="0">
                <a:solidFill>
                  <a:srgbClr val="242424"/>
                </a:solidFill>
                <a:latin typeface="Lato"/>
                <a:ea typeface="Lato"/>
                <a:cs typeface="Lato"/>
              </a:rPr>
              <a:t> (aspect, opinion, sentiment) </a:t>
            </a:r>
            <a:r>
              <a:rPr sz="1800" b="1" dirty="0" err="1">
                <a:solidFill>
                  <a:srgbClr val="242424"/>
                </a:solidFill>
                <a:latin typeface="Lato"/>
                <a:ea typeface="Lato"/>
                <a:cs typeface="Lato"/>
              </a:rPr>
              <a:t>trực</a:t>
            </a:r>
            <a:r>
              <a:rPr sz="1800" b="1" dirty="0">
                <a:solidFill>
                  <a:srgbClr val="242424"/>
                </a:solidFill>
                <a:latin typeface="Lato"/>
                <a:ea typeface="Lato"/>
                <a:cs typeface="Lato"/>
              </a:rPr>
              <a:t> </a:t>
            </a:r>
            <a:r>
              <a:rPr sz="1800" b="1" dirty="0" err="1">
                <a:solidFill>
                  <a:srgbClr val="242424"/>
                </a:solidFill>
                <a:latin typeface="Lato"/>
                <a:ea typeface="Lato"/>
                <a:cs typeface="Lato"/>
              </a:rPr>
              <a:t>tiếp</a:t>
            </a:r>
            <a:r>
              <a:rPr sz="1800" b="1" dirty="0">
                <a:solidFill>
                  <a:srgbClr val="242424"/>
                </a:solidFill>
                <a:latin typeface="Lato"/>
                <a:ea typeface="Lato"/>
                <a:cs typeface="Lato"/>
              </a:rPr>
              <a:t> </a:t>
            </a:r>
            <a:r>
              <a:rPr sz="1800" b="1" dirty="0" err="1">
                <a:solidFill>
                  <a:srgbClr val="242424"/>
                </a:solidFill>
                <a:latin typeface="Lato"/>
                <a:ea typeface="Lato"/>
                <a:cs typeface="Lato"/>
              </a:rPr>
              <a:t>từ</a:t>
            </a:r>
            <a:r>
              <a:rPr sz="1800" b="1" dirty="0">
                <a:solidFill>
                  <a:srgbClr val="242424"/>
                </a:solidFill>
                <a:latin typeface="Lato"/>
                <a:ea typeface="Lato"/>
                <a:cs typeface="Lato"/>
              </a:rPr>
              <a:t> </a:t>
            </a:r>
            <a:r>
              <a:rPr sz="1800" b="1" dirty="0" err="1">
                <a:solidFill>
                  <a:srgbClr val="242424"/>
                </a:solidFill>
                <a:latin typeface="Lato"/>
                <a:ea typeface="Lato"/>
                <a:cs typeface="Lato"/>
              </a:rPr>
              <a:t>câu</a:t>
            </a:r>
            <a:r>
              <a:rPr sz="1800" b="1" dirty="0">
                <a:solidFill>
                  <a:srgbClr val="242424"/>
                </a:solidFill>
                <a:latin typeface="Lato"/>
                <a:ea typeface="Lato"/>
                <a:cs typeface="Lato"/>
              </a:rPr>
              <a:t> </a:t>
            </a:r>
            <a:r>
              <a:rPr sz="1800" b="1" dirty="0" err="1">
                <a:solidFill>
                  <a:srgbClr val="242424"/>
                </a:solidFill>
                <a:latin typeface="Lato"/>
                <a:ea typeface="Lato"/>
                <a:cs typeface="Lato"/>
              </a:rPr>
              <a:t>thô</a:t>
            </a:r>
            <a:endParaRPr sz="1800" b="1" dirty="0">
              <a:solidFill>
                <a:srgbClr val="242424"/>
              </a:solidFill>
              <a:latin typeface="Lato"/>
              <a:ea typeface="Lato"/>
              <a:cs typeface="Lato"/>
            </a:endParaRPr>
          </a:p>
        </p:txBody>
      </p:sp>
      <p:sp>
        <p:nvSpPr>
          <p:cNvPr id="37" name="body-01 • TRÍCH XUẤT"/>
          <p:cNvSpPr>
            <a:spLocks noGrp="1"/>
          </p:cNvSpPr>
          <p:nvPr/>
        </p:nvSpPr>
        <p:spPr>
          <a:xfrm>
            <a:off x="714375" y="3081100"/>
            <a:ext cx="3571875" cy="843094"/>
          </a:xfrm>
          <a:prstGeom prst="rect">
            <a:avLst/>
          </a:prstGeom>
          <a:noFill/>
          <a:ln w="0">
            <a:noFill/>
            <a:prstDash val="solid"/>
          </a:ln>
        </p:spPr>
        <p:txBody>
          <a:bodyPr anchor="t"/>
          <a:lstStyle/>
          <a:p>
            <a:pPr>
              <a:defRPr sz="1275">
                <a:solidFill>
                  <a:srgbClr val="666666"/>
                </a:solidFill>
                <a:latin typeface="Lato"/>
                <a:ea typeface="Lato"/>
                <a:cs typeface="Lato"/>
              </a:defRPr>
            </a:pPr>
            <a:r>
              <a:rPr sz="1275">
                <a:solidFill>
                  <a:srgbClr val="666666"/>
                </a:solidFill>
                <a:latin typeface="Lato"/>
                <a:ea typeface="Lato"/>
                <a:cs typeface="Lato"/>
              </a:rPr>
              <a:t>Nhận diện khía cạnh và sentiment mà không cần biết trước aspect, theo hướng generative (GAS) thay vì nhiều classifier rời rạc.</a:t>
            </a:r>
          </a:p>
        </p:txBody>
      </p:sp>
      <p:sp>
        <p:nvSpPr>
          <p:cNvPr id="38" name="card-02 • MÔ HÌNH"/>
          <p:cNvSpPr>
            <a:spLocks noGrp="1"/>
          </p:cNvSpPr>
          <p:nvPr/>
        </p:nvSpPr>
        <p:spPr>
          <a:xfrm>
            <a:off x="4667250" y="1900000"/>
            <a:ext cx="3952875" cy="2195644"/>
          </a:xfrm>
          <a:prstGeom prst="roundRect">
            <a:avLst>
              <a:gd name="adj" fmla="val 5185"/>
            </a:avLst>
          </a:prstGeom>
          <a:noFill/>
          <a:ln w="11430">
            <a:solidFill>
              <a:srgbClr val="E2D6D6"/>
            </a:solidFill>
            <a:prstDash val="solid"/>
          </a:ln>
        </p:spPr>
        <p:txBody>
          <a:bodyPr/>
          <a:lstStyle/>
          <a:p>
            <a:endParaRPr lang="en-VN"/>
          </a:p>
        </p:txBody>
      </p:sp>
      <p:sp>
        <p:nvSpPr>
          <p:cNvPr id="39" name="eyebrow-02 • MÔ HÌNH"/>
          <p:cNvSpPr>
            <a:spLocks noGrp="1"/>
          </p:cNvSpPr>
          <p:nvPr/>
        </p:nvSpPr>
        <p:spPr>
          <a:xfrm>
            <a:off x="4857750" y="2052400"/>
            <a:ext cx="3571875" cy="2286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02 • MÔ HÌNH</a:t>
            </a:r>
          </a:p>
        </p:txBody>
      </p:sp>
      <p:sp>
        <p:nvSpPr>
          <p:cNvPr id="40" name="headline-02 • MÔ HÌNH"/>
          <p:cNvSpPr>
            <a:spLocks noGrp="1"/>
          </p:cNvSpPr>
          <p:nvPr/>
        </p:nvSpPr>
        <p:spPr>
          <a:xfrm>
            <a:off x="4857750" y="2357200"/>
            <a:ext cx="3571875"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dirty="0">
                <a:solidFill>
                  <a:srgbClr val="242424"/>
                </a:solidFill>
                <a:latin typeface="Lato"/>
                <a:ea typeface="Lato"/>
                <a:cs typeface="Lato"/>
              </a:rPr>
              <a:t>So </a:t>
            </a:r>
            <a:r>
              <a:rPr sz="1800" b="1" dirty="0" err="1">
                <a:solidFill>
                  <a:srgbClr val="242424"/>
                </a:solidFill>
                <a:latin typeface="Lato"/>
                <a:ea typeface="Lato"/>
                <a:cs typeface="Lato"/>
              </a:rPr>
              <a:t>sánh</a:t>
            </a:r>
            <a:r>
              <a:rPr sz="1800" b="1" dirty="0">
                <a:solidFill>
                  <a:srgbClr val="242424"/>
                </a:solidFill>
                <a:latin typeface="Lato"/>
                <a:ea typeface="Lato"/>
                <a:cs typeface="Lato"/>
              </a:rPr>
              <a:t> baseline </a:t>
            </a:r>
            <a:r>
              <a:rPr sz="1800" b="1" dirty="0" err="1">
                <a:solidFill>
                  <a:srgbClr val="242424"/>
                </a:solidFill>
                <a:latin typeface="Lato"/>
                <a:ea typeface="Lato"/>
                <a:cs typeface="Lato"/>
              </a:rPr>
              <a:t>và</a:t>
            </a:r>
            <a:r>
              <a:rPr sz="1800" b="1" dirty="0">
                <a:solidFill>
                  <a:srgbClr val="242424"/>
                </a:solidFill>
                <a:latin typeface="Lato"/>
                <a:ea typeface="Lato"/>
                <a:cs typeface="Lato"/>
              </a:rPr>
              <a:t> </a:t>
            </a:r>
            <a:r>
              <a:rPr sz="1800" b="1" dirty="0" err="1">
                <a:solidFill>
                  <a:srgbClr val="242424"/>
                </a:solidFill>
                <a:latin typeface="Lato"/>
                <a:ea typeface="Lato"/>
                <a:cs typeface="Lato"/>
              </a:rPr>
              <a:t>các</a:t>
            </a:r>
            <a:r>
              <a:rPr sz="1800" b="1" dirty="0">
                <a:solidFill>
                  <a:srgbClr val="242424"/>
                </a:solidFill>
                <a:latin typeface="Lato"/>
                <a:ea typeface="Lato"/>
                <a:cs typeface="Lato"/>
              </a:rPr>
              <a:t> checkpoint T5-family </a:t>
            </a:r>
            <a:r>
              <a:rPr sz="1800" b="1" dirty="0" err="1">
                <a:solidFill>
                  <a:srgbClr val="242424"/>
                </a:solidFill>
                <a:latin typeface="Lato"/>
                <a:ea typeface="Lato"/>
                <a:cs typeface="Lato"/>
              </a:rPr>
              <a:t>cho</a:t>
            </a:r>
            <a:r>
              <a:rPr sz="1800" b="1" dirty="0">
                <a:solidFill>
                  <a:srgbClr val="242424"/>
                </a:solidFill>
                <a:latin typeface="Lato"/>
                <a:ea typeface="Lato"/>
                <a:cs typeface="Lato"/>
              </a:rPr>
              <a:t> ASTE</a:t>
            </a:r>
          </a:p>
        </p:txBody>
      </p:sp>
      <p:sp>
        <p:nvSpPr>
          <p:cNvPr id="41" name="body-02 • MÔ HÌNH"/>
          <p:cNvSpPr>
            <a:spLocks noGrp="1"/>
          </p:cNvSpPr>
          <p:nvPr/>
        </p:nvSpPr>
        <p:spPr>
          <a:xfrm>
            <a:off x="4857750" y="3081100"/>
            <a:ext cx="3571875" cy="843094"/>
          </a:xfrm>
          <a:prstGeom prst="rect">
            <a:avLst/>
          </a:prstGeom>
          <a:noFill/>
          <a:ln w="0">
            <a:noFill/>
            <a:prstDash val="solid"/>
          </a:ln>
        </p:spPr>
        <p:txBody>
          <a:bodyPr anchor="t"/>
          <a:lstStyle/>
          <a:p>
            <a:pPr>
              <a:defRPr sz="1275">
                <a:solidFill>
                  <a:srgbClr val="666666"/>
                </a:solidFill>
                <a:latin typeface="Lato"/>
                <a:ea typeface="Lato"/>
                <a:cs typeface="Lato"/>
              </a:defRPr>
            </a:pPr>
            <a:r>
              <a:rPr sz="1275" dirty="0" err="1">
                <a:solidFill>
                  <a:srgbClr val="666666"/>
                </a:solidFill>
                <a:latin typeface="Lato"/>
                <a:ea typeface="Lato"/>
                <a:cs typeface="Lato"/>
              </a:rPr>
              <a:t>Đối</a:t>
            </a:r>
            <a:r>
              <a:rPr sz="1275" dirty="0">
                <a:solidFill>
                  <a:srgbClr val="666666"/>
                </a:solidFill>
                <a:latin typeface="Lato"/>
                <a:ea typeface="Lato"/>
                <a:cs typeface="Lato"/>
              </a:rPr>
              <a:t> </a:t>
            </a:r>
            <a:r>
              <a:rPr sz="1275" dirty="0" err="1">
                <a:solidFill>
                  <a:srgbClr val="666666"/>
                </a:solidFill>
                <a:latin typeface="Lato"/>
                <a:ea typeface="Lato"/>
                <a:cs typeface="Lato"/>
              </a:rPr>
              <a:t>chiếu</a:t>
            </a:r>
            <a:r>
              <a:rPr sz="1275" dirty="0">
                <a:solidFill>
                  <a:srgbClr val="666666"/>
                </a:solidFill>
                <a:latin typeface="Lato"/>
                <a:ea typeface="Lato"/>
                <a:cs typeface="Lato"/>
              </a:rPr>
              <a:t> </a:t>
            </a:r>
            <a:r>
              <a:rPr sz="1275" dirty="0" err="1">
                <a:solidFill>
                  <a:srgbClr val="666666"/>
                </a:solidFill>
                <a:latin typeface="Lato"/>
                <a:ea typeface="Lato"/>
                <a:cs typeface="Lato"/>
              </a:rPr>
              <a:t>với</a:t>
            </a:r>
            <a:r>
              <a:rPr sz="1275" dirty="0">
                <a:solidFill>
                  <a:srgbClr val="666666"/>
                </a:solidFill>
                <a:latin typeface="Lato"/>
                <a:ea typeface="Lato"/>
                <a:cs typeface="Lato"/>
              </a:rPr>
              <a:t> T5-small, T5-base, FLAN-T5-base </a:t>
            </a:r>
            <a:r>
              <a:rPr sz="1275" dirty="0" err="1">
                <a:solidFill>
                  <a:srgbClr val="666666"/>
                </a:solidFill>
                <a:latin typeface="Lato"/>
                <a:ea typeface="Lato"/>
                <a:cs typeface="Lato"/>
              </a:rPr>
              <a:t>cùng</a:t>
            </a:r>
            <a:r>
              <a:rPr sz="1275" dirty="0">
                <a:solidFill>
                  <a:srgbClr val="666666"/>
                </a:solidFill>
                <a:latin typeface="Lato"/>
                <a:ea typeface="Lato"/>
                <a:cs typeface="Lato"/>
              </a:rPr>
              <a:t> hyperparameter </a:t>
            </a:r>
            <a:r>
              <a:rPr sz="1275" dirty="0" err="1">
                <a:solidFill>
                  <a:srgbClr val="666666"/>
                </a:solidFill>
                <a:latin typeface="Lato"/>
                <a:ea typeface="Lato"/>
                <a:cs typeface="Lato"/>
              </a:rPr>
              <a:t>để</a:t>
            </a:r>
            <a:r>
              <a:rPr sz="1275" dirty="0">
                <a:solidFill>
                  <a:srgbClr val="666666"/>
                </a:solidFill>
                <a:latin typeface="Lato"/>
                <a:ea typeface="Lato"/>
                <a:cs typeface="Lato"/>
              </a:rPr>
              <a:t> </a:t>
            </a:r>
            <a:r>
              <a:rPr sz="1275" dirty="0" err="1">
                <a:solidFill>
                  <a:srgbClr val="666666"/>
                </a:solidFill>
                <a:latin typeface="Lato"/>
                <a:ea typeface="Lato"/>
                <a:cs typeface="Lato"/>
              </a:rPr>
              <a:t>chọn</a:t>
            </a:r>
            <a:r>
              <a:rPr sz="1275" dirty="0">
                <a:solidFill>
                  <a:srgbClr val="666666"/>
                </a:solidFill>
                <a:latin typeface="Lato"/>
                <a:ea typeface="Lato"/>
                <a:cs typeface="Lato"/>
              </a:rPr>
              <a:t> model </a:t>
            </a:r>
            <a:r>
              <a:rPr sz="1275" dirty="0" err="1">
                <a:solidFill>
                  <a:srgbClr val="666666"/>
                </a:solidFill>
                <a:latin typeface="Lato"/>
                <a:ea typeface="Lato"/>
                <a:cs typeface="Lato"/>
              </a:rPr>
              <a:t>tối</a:t>
            </a:r>
            <a:r>
              <a:rPr sz="1275" dirty="0">
                <a:solidFill>
                  <a:srgbClr val="666666"/>
                </a:solidFill>
                <a:latin typeface="Lato"/>
                <a:ea typeface="Lato"/>
                <a:cs typeface="Lato"/>
              </a:rPr>
              <a:t> </a:t>
            </a:r>
            <a:r>
              <a:rPr sz="1275" dirty="0" err="1">
                <a:solidFill>
                  <a:srgbClr val="666666"/>
                </a:solidFill>
                <a:latin typeface="Lato"/>
                <a:ea typeface="Lato"/>
                <a:cs typeface="Lato"/>
              </a:rPr>
              <a:t>ưu</a:t>
            </a:r>
            <a:r>
              <a:rPr sz="1275" dirty="0">
                <a:solidFill>
                  <a:srgbClr val="666666"/>
                </a:solidFill>
                <a:latin typeface="Lato"/>
                <a:ea typeface="Lato"/>
                <a:cs typeface="Lato"/>
              </a:rPr>
              <a:t> </a:t>
            </a:r>
            <a:r>
              <a:rPr sz="1275" dirty="0" err="1">
                <a:solidFill>
                  <a:srgbClr val="666666"/>
                </a:solidFill>
                <a:latin typeface="Lato"/>
                <a:ea typeface="Lato"/>
                <a:cs typeface="Lato"/>
              </a:rPr>
              <a:t>cho</a:t>
            </a:r>
            <a:r>
              <a:rPr sz="1275" dirty="0">
                <a:solidFill>
                  <a:srgbClr val="666666"/>
                </a:solidFill>
                <a:latin typeface="Lato"/>
                <a:ea typeface="Lato"/>
                <a:cs typeface="Lato"/>
              </a:rPr>
              <a:t> triplet-F1.</a:t>
            </a:r>
          </a:p>
        </p:txBody>
      </p:sp>
      <p:sp>
        <p:nvSpPr>
          <p:cNvPr id="42" name="card-03 • TỔNG HỢP"/>
          <p:cNvSpPr>
            <a:spLocks noGrp="1"/>
          </p:cNvSpPr>
          <p:nvPr/>
        </p:nvSpPr>
        <p:spPr>
          <a:xfrm>
            <a:off x="523875" y="4295644"/>
            <a:ext cx="3952875" cy="2195644"/>
          </a:xfrm>
          <a:prstGeom prst="roundRect">
            <a:avLst>
              <a:gd name="adj" fmla="val 5185"/>
            </a:avLst>
          </a:prstGeom>
          <a:noFill/>
          <a:ln w="11430">
            <a:solidFill>
              <a:srgbClr val="E2D6D6"/>
            </a:solidFill>
            <a:prstDash val="solid"/>
          </a:ln>
        </p:spPr>
        <p:txBody>
          <a:bodyPr/>
          <a:lstStyle/>
          <a:p>
            <a:endParaRPr lang="en-VN"/>
          </a:p>
        </p:txBody>
      </p:sp>
      <p:sp>
        <p:nvSpPr>
          <p:cNvPr id="43" name="eyebrow-03 • TỔNG HỢP"/>
          <p:cNvSpPr>
            <a:spLocks noGrp="1"/>
          </p:cNvSpPr>
          <p:nvPr/>
        </p:nvSpPr>
        <p:spPr>
          <a:xfrm>
            <a:off x="714375" y="4448044"/>
            <a:ext cx="3571875" cy="2286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03 • TỔNG HỢP</a:t>
            </a:r>
          </a:p>
        </p:txBody>
      </p:sp>
      <p:sp>
        <p:nvSpPr>
          <p:cNvPr id="44" name="headline-03 • TỔNG HỢP"/>
          <p:cNvSpPr>
            <a:spLocks noGrp="1"/>
          </p:cNvSpPr>
          <p:nvPr/>
        </p:nvSpPr>
        <p:spPr>
          <a:xfrm>
            <a:off x="714375" y="4752844"/>
            <a:ext cx="3571875"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dirty="0" err="1">
                <a:solidFill>
                  <a:srgbClr val="242424"/>
                </a:solidFill>
                <a:latin typeface="Lato"/>
                <a:ea typeface="Lato"/>
                <a:cs typeface="Lato"/>
              </a:rPr>
              <a:t>Tổng</a:t>
            </a:r>
            <a:r>
              <a:rPr sz="1800" b="1" dirty="0">
                <a:solidFill>
                  <a:srgbClr val="242424"/>
                </a:solidFill>
                <a:latin typeface="Lato"/>
                <a:ea typeface="Lato"/>
                <a:cs typeface="Lato"/>
              </a:rPr>
              <a:t> </a:t>
            </a:r>
            <a:r>
              <a:rPr sz="1800" b="1" dirty="0" err="1">
                <a:solidFill>
                  <a:srgbClr val="242424"/>
                </a:solidFill>
                <a:latin typeface="Lato"/>
                <a:ea typeface="Lato"/>
                <a:cs typeface="Lato"/>
              </a:rPr>
              <a:t>hợp</a:t>
            </a:r>
            <a:r>
              <a:rPr sz="1800" b="1" dirty="0">
                <a:solidFill>
                  <a:srgbClr val="242424"/>
                </a:solidFill>
                <a:latin typeface="Lato"/>
                <a:ea typeface="Lato"/>
                <a:cs typeface="Lato"/>
              </a:rPr>
              <a:t> </a:t>
            </a:r>
            <a:r>
              <a:rPr sz="1800" b="1" dirty="0" err="1">
                <a:solidFill>
                  <a:srgbClr val="242424"/>
                </a:solidFill>
                <a:latin typeface="Lato"/>
                <a:ea typeface="Lato"/>
                <a:cs typeface="Lato"/>
              </a:rPr>
              <a:t>thống</a:t>
            </a:r>
            <a:r>
              <a:rPr sz="1800" b="1" dirty="0">
                <a:solidFill>
                  <a:srgbClr val="242424"/>
                </a:solidFill>
                <a:latin typeface="Lato"/>
                <a:ea typeface="Lato"/>
                <a:cs typeface="Lato"/>
              </a:rPr>
              <a:t> </a:t>
            </a:r>
            <a:r>
              <a:rPr sz="1800" b="1" dirty="0" err="1">
                <a:solidFill>
                  <a:srgbClr val="242424"/>
                </a:solidFill>
                <a:latin typeface="Lato"/>
                <a:ea typeface="Lato"/>
                <a:cs typeface="Lato"/>
              </a:rPr>
              <a:t>kê</a:t>
            </a:r>
            <a:r>
              <a:rPr sz="1800" b="1" dirty="0">
                <a:solidFill>
                  <a:srgbClr val="242424"/>
                </a:solidFill>
                <a:latin typeface="Lato"/>
                <a:ea typeface="Lato"/>
                <a:cs typeface="Lato"/>
              </a:rPr>
              <a:t> </a:t>
            </a:r>
            <a:r>
              <a:rPr sz="1800" b="1" dirty="0" err="1">
                <a:solidFill>
                  <a:srgbClr val="242424"/>
                </a:solidFill>
                <a:latin typeface="Lato"/>
                <a:ea typeface="Lato"/>
                <a:cs typeface="Lato"/>
              </a:rPr>
              <a:t>theo</a:t>
            </a:r>
            <a:r>
              <a:rPr sz="1800" b="1" dirty="0">
                <a:solidFill>
                  <a:srgbClr val="242424"/>
                </a:solidFill>
                <a:latin typeface="Lato"/>
                <a:ea typeface="Lato"/>
                <a:cs typeface="Lato"/>
              </a:rPr>
              <a:t> </a:t>
            </a:r>
            <a:r>
              <a:rPr sz="1800" b="1" dirty="0" err="1">
                <a:solidFill>
                  <a:srgbClr val="242424"/>
                </a:solidFill>
                <a:latin typeface="Lato"/>
                <a:ea typeface="Lato"/>
                <a:cs typeface="Lato"/>
              </a:rPr>
              <a:t>khía</a:t>
            </a:r>
            <a:r>
              <a:rPr sz="1800" b="1" dirty="0">
                <a:solidFill>
                  <a:srgbClr val="242424"/>
                </a:solidFill>
                <a:latin typeface="Lato"/>
                <a:ea typeface="Lato"/>
                <a:cs typeface="Lato"/>
              </a:rPr>
              <a:t> </a:t>
            </a:r>
            <a:r>
              <a:rPr sz="1800" b="1" dirty="0" err="1">
                <a:solidFill>
                  <a:srgbClr val="242424"/>
                </a:solidFill>
                <a:latin typeface="Lato"/>
                <a:ea typeface="Lato"/>
                <a:cs typeface="Lato"/>
              </a:rPr>
              <a:t>cạnh</a:t>
            </a:r>
            <a:r>
              <a:rPr sz="1800" b="1" dirty="0">
                <a:solidFill>
                  <a:srgbClr val="242424"/>
                </a:solidFill>
                <a:latin typeface="Lato"/>
                <a:ea typeface="Lato"/>
                <a:cs typeface="Lato"/>
              </a:rPr>
              <a:t> </a:t>
            </a:r>
            <a:r>
              <a:rPr sz="1800" b="1" dirty="0" err="1">
                <a:solidFill>
                  <a:srgbClr val="242424"/>
                </a:solidFill>
                <a:latin typeface="Lato"/>
                <a:ea typeface="Lato"/>
                <a:cs typeface="Lato"/>
              </a:rPr>
              <a:t>và</a:t>
            </a:r>
            <a:r>
              <a:rPr sz="1800" b="1" dirty="0">
                <a:solidFill>
                  <a:srgbClr val="242424"/>
                </a:solidFill>
                <a:latin typeface="Lato"/>
                <a:ea typeface="Lato"/>
                <a:cs typeface="Lato"/>
              </a:rPr>
              <a:t> </a:t>
            </a:r>
            <a:r>
              <a:rPr sz="1800" b="1" dirty="0" err="1">
                <a:solidFill>
                  <a:srgbClr val="242424"/>
                </a:solidFill>
                <a:latin typeface="Lato"/>
                <a:ea typeface="Lato"/>
                <a:cs typeface="Lato"/>
              </a:rPr>
              <a:t>sinh</a:t>
            </a:r>
            <a:r>
              <a:rPr sz="1800" b="1" dirty="0">
                <a:solidFill>
                  <a:srgbClr val="242424"/>
                </a:solidFill>
                <a:latin typeface="Lato"/>
                <a:ea typeface="Lato"/>
                <a:cs typeface="Lato"/>
              </a:rPr>
              <a:t> </a:t>
            </a:r>
            <a:r>
              <a:rPr sz="1800" b="1" dirty="0" err="1">
                <a:solidFill>
                  <a:srgbClr val="242424"/>
                </a:solidFill>
                <a:latin typeface="Lato"/>
                <a:ea typeface="Lato"/>
                <a:cs typeface="Lato"/>
              </a:rPr>
              <a:t>báo</a:t>
            </a:r>
            <a:r>
              <a:rPr sz="1800" b="1" dirty="0">
                <a:solidFill>
                  <a:srgbClr val="242424"/>
                </a:solidFill>
                <a:latin typeface="Lato"/>
                <a:ea typeface="Lato"/>
                <a:cs typeface="Lato"/>
              </a:rPr>
              <a:t> </a:t>
            </a:r>
            <a:r>
              <a:rPr sz="1800" b="1" dirty="0" err="1">
                <a:solidFill>
                  <a:srgbClr val="242424"/>
                </a:solidFill>
                <a:latin typeface="Lato"/>
                <a:ea typeface="Lato"/>
                <a:cs typeface="Lato"/>
              </a:rPr>
              <a:t>cáo</a:t>
            </a:r>
            <a:r>
              <a:rPr sz="1800" b="1" dirty="0">
                <a:solidFill>
                  <a:srgbClr val="242424"/>
                </a:solidFill>
                <a:latin typeface="Lato"/>
                <a:ea typeface="Lato"/>
                <a:cs typeface="Lato"/>
              </a:rPr>
              <a:t> </a:t>
            </a:r>
            <a:r>
              <a:rPr sz="1800" b="1" dirty="0" err="1">
                <a:solidFill>
                  <a:srgbClr val="242424"/>
                </a:solidFill>
                <a:latin typeface="Lato"/>
                <a:ea typeface="Lato"/>
                <a:cs typeface="Lato"/>
              </a:rPr>
              <a:t>tự</a:t>
            </a:r>
            <a:r>
              <a:rPr sz="1800" b="1" dirty="0">
                <a:solidFill>
                  <a:srgbClr val="242424"/>
                </a:solidFill>
                <a:latin typeface="Lato"/>
                <a:ea typeface="Lato"/>
                <a:cs typeface="Lato"/>
              </a:rPr>
              <a:t> </a:t>
            </a:r>
            <a:r>
              <a:rPr sz="1800" b="1" dirty="0" err="1">
                <a:solidFill>
                  <a:srgbClr val="242424"/>
                </a:solidFill>
                <a:latin typeface="Lato"/>
                <a:ea typeface="Lato"/>
                <a:cs typeface="Lato"/>
              </a:rPr>
              <a:t>nhiên</a:t>
            </a:r>
            <a:endParaRPr sz="1800" b="1" dirty="0">
              <a:solidFill>
                <a:srgbClr val="242424"/>
              </a:solidFill>
              <a:latin typeface="Lato"/>
              <a:ea typeface="Lato"/>
              <a:cs typeface="Lato"/>
            </a:endParaRPr>
          </a:p>
        </p:txBody>
      </p:sp>
      <p:sp>
        <p:nvSpPr>
          <p:cNvPr id="45" name="body-03 • TỔNG HỢP"/>
          <p:cNvSpPr>
            <a:spLocks noGrp="1"/>
          </p:cNvSpPr>
          <p:nvPr/>
        </p:nvSpPr>
        <p:spPr>
          <a:xfrm>
            <a:off x="714375" y="5476744"/>
            <a:ext cx="3571875" cy="843094"/>
          </a:xfrm>
          <a:prstGeom prst="rect">
            <a:avLst/>
          </a:prstGeom>
          <a:noFill/>
          <a:ln w="0">
            <a:noFill/>
            <a:prstDash val="solid"/>
          </a:ln>
        </p:spPr>
        <p:txBody>
          <a:bodyPr anchor="t"/>
          <a:lstStyle/>
          <a:p>
            <a:pPr>
              <a:defRPr sz="1275">
                <a:solidFill>
                  <a:srgbClr val="666666"/>
                </a:solidFill>
                <a:latin typeface="Lato"/>
                <a:ea typeface="Lato"/>
                <a:cs typeface="Lato"/>
              </a:defRPr>
            </a:pPr>
            <a:r>
              <a:rPr sz="1275" dirty="0" err="1">
                <a:solidFill>
                  <a:srgbClr val="666666"/>
                </a:solidFill>
                <a:latin typeface="Lato"/>
                <a:ea typeface="Lato"/>
                <a:cs typeface="Lato"/>
              </a:rPr>
              <a:t>Gom</a:t>
            </a:r>
            <a:r>
              <a:rPr sz="1275" dirty="0">
                <a:solidFill>
                  <a:srgbClr val="666666"/>
                </a:solidFill>
                <a:latin typeface="Lato"/>
                <a:ea typeface="Lato"/>
                <a:cs typeface="Lato"/>
              </a:rPr>
              <a:t> triplet </a:t>
            </a:r>
            <a:r>
              <a:rPr sz="1275" dirty="0" err="1">
                <a:solidFill>
                  <a:srgbClr val="666666"/>
                </a:solidFill>
                <a:latin typeface="Lato"/>
                <a:ea typeface="Lato"/>
                <a:cs typeface="Lato"/>
              </a:rPr>
              <a:t>theo</a:t>
            </a:r>
            <a:r>
              <a:rPr sz="1275" dirty="0">
                <a:solidFill>
                  <a:srgbClr val="666666"/>
                </a:solidFill>
                <a:latin typeface="Lato"/>
                <a:ea typeface="Lato"/>
                <a:cs typeface="Lato"/>
              </a:rPr>
              <a:t> aspect, </a:t>
            </a:r>
            <a:r>
              <a:rPr sz="1275" dirty="0" err="1">
                <a:solidFill>
                  <a:srgbClr val="666666"/>
                </a:solidFill>
                <a:latin typeface="Lato"/>
                <a:ea typeface="Lato"/>
                <a:cs typeface="Lato"/>
              </a:rPr>
              <a:t>thống</a:t>
            </a:r>
            <a:r>
              <a:rPr sz="1275" dirty="0">
                <a:solidFill>
                  <a:srgbClr val="666666"/>
                </a:solidFill>
                <a:latin typeface="Lato"/>
                <a:ea typeface="Lato"/>
                <a:cs typeface="Lato"/>
              </a:rPr>
              <a:t> </a:t>
            </a:r>
            <a:r>
              <a:rPr sz="1275" dirty="0" err="1">
                <a:solidFill>
                  <a:srgbClr val="666666"/>
                </a:solidFill>
                <a:latin typeface="Lato"/>
                <a:ea typeface="Lato"/>
                <a:cs typeface="Lato"/>
              </a:rPr>
              <a:t>kê</a:t>
            </a:r>
            <a:r>
              <a:rPr sz="1275" dirty="0">
                <a:solidFill>
                  <a:srgbClr val="666666"/>
                </a:solidFill>
                <a:latin typeface="Lato"/>
                <a:ea typeface="Lato"/>
                <a:cs typeface="Lato"/>
              </a:rPr>
              <a:t> </a:t>
            </a:r>
            <a:r>
              <a:rPr sz="1275" dirty="0" err="1">
                <a:solidFill>
                  <a:srgbClr val="666666"/>
                </a:solidFill>
                <a:latin typeface="Lato"/>
                <a:ea typeface="Lato"/>
                <a:cs typeface="Lato"/>
              </a:rPr>
              <a:t>tỷ</a:t>
            </a:r>
            <a:r>
              <a:rPr sz="1275" dirty="0">
                <a:solidFill>
                  <a:srgbClr val="666666"/>
                </a:solidFill>
                <a:latin typeface="Lato"/>
                <a:ea typeface="Lato"/>
                <a:cs typeface="Lato"/>
              </a:rPr>
              <a:t> </a:t>
            </a:r>
            <a:r>
              <a:rPr sz="1275" dirty="0" err="1">
                <a:solidFill>
                  <a:srgbClr val="666666"/>
                </a:solidFill>
                <a:latin typeface="Lato"/>
                <a:ea typeface="Lato"/>
                <a:cs typeface="Lato"/>
              </a:rPr>
              <a:t>lệ</a:t>
            </a:r>
            <a:r>
              <a:rPr sz="1275" dirty="0">
                <a:solidFill>
                  <a:srgbClr val="666666"/>
                </a:solidFill>
                <a:latin typeface="Lato"/>
                <a:ea typeface="Lato"/>
                <a:cs typeface="Lato"/>
              </a:rPr>
              <a:t> sentiment </a:t>
            </a:r>
            <a:r>
              <a:rPr sz="1275" dirty="0" err="1">
                <a:solidFill>
                  <a:srgbClr val="666666"/>
                </a:solidFill>
                <a:latin typeface="Lato"/>
                <a:ea typeface="Lato"/>
                <a:cs typeface="Lato"/>
              </a:rPr>
              <a:t>và</a:t>
            </a:r>
            <a:r>
              <a:rPr sz="1275" dirty="0">
                <a:solidFill>
                  <a:srgbClr val="666666"/>
                </a:solidFill>
                <a:latin typeface="Lato"/>
                <a:ea typeface="Lato"/>
                <a:cs typeface="Lato"/>
              </a:rPr>
              <a:t> top </a:t>
            </a:r>
            <a:r>
              <a:rPr sz="1275" dirty="0" err="1">
                <a:solidFill>
                  <a:srgbClr val="666666"/>
                </a:solidFill>
                <a:latin typeface="Lato"/>
                <a:ea typeface="Lato"/>
                <a:cs typeface="Lato"/>
              </a:rPr>
              <a:t>lý</a:t>
            </a:r>
            <a:r>
              <a:rPr sz="1275" dirty="0">
                <a:solidFill>
                  <a:srgbClr val="666666"/>
                </a:solidFill>
                <a:latin typeface="Lato"/>
                <a:ea typeface="Lato"/>
                <a:cs typeface="Lato"/>
              </a:rPr>
              <a:t> do, </a:t>
            </a:r>
            <a:r>
              <a:rPr sz="1275" dirty="0" err="1">
                <a:solidFill>
                  <a:srgbClr val="666666"/>
                </a:solidFill>
                <a:latin typeface="Lato"/>
                <a:ea typeface="Lato"/>
                <a:cs typeface="Lato"/>
              </a:rPr>
              <a:t>rồi</a:t>
            </a:r>
            <a:r>
              <a:rPr sz="1275" dirty="0">
                <a:solidFill>
                  <a:srgbClr val="666666"/>
                </a:solidFill>
                <a:latin typeface="Lato"/>
                <a:ea typeface="Lato"/>
                <a:cs typeface="Lato"/>
              </a:rPr>
              <a:t> </a:t>
            </a:r>
            <a:r>
              <a:rPr sz="1275" dirty="0" err="1">
                <a:solidFill>
                  <a:srgbClr val="666666"/>
                </a:solidFill>
                <a:latin typeface="Lato"/>
                <a:ea typeface="Lato"/>
                <a:cs typeface="Lato"/>
              </a:rPr>
              <a:t>dùng</a:t>
            </a:r>
            <a:r>
              <a:rPr sz="1275" dirty="0">
                <a:solidFill>
                  <a:srgbClr val="666666"/>
                </a:solidFill>
                <a:latin typeface="Lato"/>
                <a:ea typeface="Lato"/>
                <a:cs typeface="Lato"/>
              </a:rPr>
              <a:t> FLAN-T5 </a:t>
            </a:r>
            <a:r>
              <a:rPr sz="1275" dirty="0" err="1">
                <a:solidFill>
                  <a:srgbClr val="666666"/>
                </a:solidFill>
                <a:latin typeface="Lato"/>
                <a:ea typeface="Lato"/>
                <a:cs typeface="Lato"/>
              </a:rPr>
              <a:t>sinh</a:t>
            </a:r>
            <a:r>
              <a:rPr sz="1275" dirty="0">
                <a:solidFill>
                  <a:srgbClr val="666666"/>
                </a:solidFill>
                <a:latin typeface="Lato"/>
                <a:ea typeface="Lato"/>
                <a:cs typeface="Lato"/>
              </a:rPr>
              <a:t> </a:t>
            </a:r>
            <a:r>
              <a:rPr sz="1275" dirty="0" err="1">
                <a:solidFill>
                  <a:srgbClr val="666666"/>
                </a:solidFill>
                <a:latin typeface="Lato"/>
                <a:ea typeface="Lato"/>
                <a:cs typeface="Lato"/>
              </a:rPr>
              <a:t>đoạn</a:t>
            </a:r>
            <a:r>
              <a:rPr sz="1275" dirty="0">
                <a:solidFill>
                  <a:srgbClr val="666666"/>
                </a:solidFill>
                <a:latin typeface="Lato"/>
                <a:ea typeface="Lato"/>
                <a:cs typeface="Lato"/>
              </a:rPr>
              <a:t> </a:t>
            </a:r>
            <a:r>
              <a:rPr sz="1275" dirty="0" err="1">
                <a:solidFill>
                  <a:srgbClr val="666666"/>
                </a:solidFill>
                <a:latin typeface="Lato"/>
                <a:ea typeface="Lato"/>
                <a:cs typeface="Lato"/>
              </a:rPr>
              <a:t>báo</a:t>
            </a:r>
            <a:r>
              <a:rPr sz="1275" dirty="0">
                <a:solidFill>
                  <a:srgbClr val="666666"/>
                </a:solidFill>
                <a:latin typeface="Lato"/>
                <a:ea typeface="Lato"/>
                <a:cs typeface="Lato"/>
              </a:rPr>
              <a:t> </a:t>
            </a:r>
            <a:r>
              <a:rPr sz="1275" dirty="0" err="1">
                <a:solidFill>
                  <a:srgbClr val="666666"/>
                </a:solidFill>
                <a:latin typeface="Lato"/>
                <a:ea typeface="Lato"/>
                <a:cs typeface="Lato"/>
              </a:rPr>
              <a:t>cáo</a:t>
            </a:r>
            <a:r>
              <a:rPr sz="1275" dirty="0">
                <a:solidFill>
                  <a:srgbClr val="666666"/>
                </a:solidFill>
                <a:latin typeface="Lato"/>
                <a:ea typeface="Lato"/>
                <a:cs typeface="Lato"/>
              </a:rPr>
              <a:t> </a:t>
            </a:r>
            <a:r>
              <a:rPr sz="1275" dirty="0" err="1">
                <a:solidFill>
                  <a:srgbClr val="666666"/>
                </a:solidFill>
                <a:latin typeface="Lato"/>
                <a:ea typeface="Lato"/>
                <a:cs typeface="Lato"/>
              </a:rPr>
              <a:t>tóm</a:t>
            </a:r>
            <a:r>
              <a:rPr sz="1275" dirty="0">
                <a:solidFill>
                  <a:srgbClr val="666666"/>
                </a:solidFill>
                <a:latin typeface="Lato"/>
                <a:ea typeface="Lato"/>
                <a:cs typeface="Lato"/>
              </a:rPr>
              <a:t> </a:t>
            </a:r>
            <a:r>
              <a:rPr sz="1275" dirty="0" err="1">
                <a:solidFill>
                  <a:srgbClr val="666666"/>
                </a:solidFill>
                <a:latin typeface="Lato"/>
                <a:ea typeface="Lato"/>
                <a:cs typeface="Lato"/>
              </a:rPr>
              <a:t>tắt</a:t>
            </a:r>
            <a:r>
              <a:rPr sz="1275" dirty="0">
                <a:solidFill>
                  <a:srgbClr val="666666"/>
                </a:solidFill>
                <a:latin typeface="Lato"/>
                <a:ea typeface="Lato"/>
                <a:cs typeface="Lato"/>
              </a:rPr>
              <a:t> </a:t>
            </a:r>
            <a:r>
              <a:rPr sz="1275" dirty="0" err="1">
                <a:solidFill>
                  <a:srgbClr val="666666"/>
                </a:solidFill>
                <a:latin typeface="Lato"/>
                <a:ea typeface="Lato"/>
                <a:cs typeface="Lato"/>
              </a:rPr>
              <a:t>dễ</a:t>
            </a:r>
            <a:r>
              <a:rPr sz="1275" dirty="0">
                <a:solidFill>
                  <a:srgbClr val="666666"/>
                </a:solidFill>
                <a:latin typeface="Lato"/>
                <a:ea typeface="Lato"/>
                <a:cs typeface="Lato"/>
              </a:rPr>
              <a:t> </a:t>
            </a:r>
            <a:r>
              <a:rPr sz="1275" dirty="0" err="1">
                <a:solidFill>
                  <a:srgbClr val="666666"/>
                </a:solidFill>
                <a:latin typeface="Lato"/>
                <a:ea typeface="Lato"/>
                <a:cs typeface="Lato"/>
              </a:rPr>
              <a:t>đọc</a:t>
            </a:r>
            <a:r>
              <a:rPr sz="1275" dirty="0">
                <a:solidFill>
                  <a:srgbClr val="666666"/>
                </a:solidFill>
                <a:latin typeface="Lato"/>
                <a:ea typeface="Lato"/>
                <a:cs typeface="Lato"/>
              </a:rPr>
              <a:t>.</a:t>
            </a:r>
          </a:p>
        </p:txBody>
      </p:sp>
      <p:sp>
        <p:nvSpPr>
          <p:cNvPr id="46" name="card-04 • XÁC THỰC"/>
          <p:cNvSpPr>
            <a:spLocks noGrp="1"/>
          </p:cNvSpPr>
          <p:nvPr/>
        </p:nvSpPr>
        <p:spPr>
          <a:xfrm>
            <a:off x="4667250" y="4295644"/>
            <a:ext cx="3952875" cy="2195644"/>
          </a:xfrm>
          <a:prstGeom prst="roundRect">
            <a:avLst>
              <a:gd name="adj" fmla="val 5185"/>
            </a:avLst>
          </a:prstGeom>
          <a:noFill/>
          <a:ln w="11430">
            <a:solidFill>
              <a:srgbClr val="E2D6D6"/>
            </a:solidFill>
            <a:prstDash val="solid"/>
          </a:ln>
        </p:spPr>
        <p:txBody>
          <a:bodyPr/>
          <a:lstStyle/>
          <a:p>
            <a:endParaRPr lang="en-VN"/>
          </a:p>
        </p:txBody>
      </p:sp>
      <p:sp>
        <p:nvSpPr>
          <p:cNvPr id="47" name="eyebrow-04 • XÁC THỰC"/>
          <p:cNvSpPr>
            <a:spLocks noGrp="1"/>
          </p:cNvSpPr>
          <p:nvPr/>
        </p:nvSpPr>
        <p:spPr>
          <a:xfrm>
            <a:off x="4857750" y="4448044"/>
            <a:ext cx="3571875" cy="2286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04 • XÁC THỰC</a:t>
            </a:r>
          </a:p>
        </p:txBody>
      </p:sp>
      <p:sp>
        <p:nvSpPr>
          <p:cNvPr id="48" name="headline-04 • XÁC THỰC"/>
          <p:cNvSpPr>
            <a:spLocks noGrp="1"/>
          </p:cNvSpPr>
          <p:nvPr/>
        </p:nvSpPr>
        <p:spPr>
          <a:xfrm>
            <a:off x="4857750" y="4752844"/>
            <a:ext cx="3571875"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Kiểm tra tính xác thực để hạn chế hallucination</a:t>
            </a:r>
          </a:p>
        </p:txBody>
      </p:sp>
      <p:sp>
        <p:nvSpPr>
          <p:cNvPr id="49" name="body-04 • XÁC THỰC"/>
          <p:cNvSpPr>
            <a:spLocks noGrp="1"/>
          </p:cNvSpPr>
          <p:nvPr/>
        </p:nvSpPr>
        <p:spPr>
          <a:xfrm>
            <a:off x="4857750" y="5476744"/>
            <a:ext cx="3571875" cy="843094"/>
          </a:xfrm>
          <a:prstGeom prst="rect">
            <a:avLst/>
          </a:prstGeom>
          <a:noFill/>
          <a:ln w="0">
            <a:noFill/>
            <a:prstDash val="solid"/>
          </a:ln>
        </p:spPr>
        <p:txBody>
          <a:bodyPr anchor="t"/>
          <a:lstStyle/>
          <a:p>
            <a:pPr>
              <a:defRPr sz="1275">
                <a:solidFill>
                  <a:srgbClr val="666666"/>
                </a:solidFill>
                <a:latin typeface="Lato"/>
                <a:ea typeface="Lato"/>
                <a:cs typeface="Lato"/>
              </a:defRPr>
            </a:pPr>
            <a:r>
              <a:rPr sz="1275">
                <a:solidFill>
                  <a:srgbClr val="666666"/>
                </a:solidFill>
                <a:latin typeface="Lato"/>
                <a:ea typeface="Lato"/>
                <a:cs typeface="Lato"/>
              </a:rPr>
              <a:t>Xây dựng factual checker đối chiếu từng claim trong báo cáo với dữ liệu gốc, đo cả factuality và coverage trước khi chấp nhận.</a:t>
            </a:r>
          </a:p>
        </p:txBody>
      </p:sp>
    </p:spTree>
    <p:extLst>
      <p:ext uri="{BB962C8B-B14F-4D97-AF65-F5344CB8AC3E}">
        <p14:creationId xmlns:p14="http://schemas.microsoft.com/office/powerpoint/2010/main" val="3853528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idx="12"/>
          </p:nvPr>
        </p:nvSpPr>
        <p:spPr>
          <a:xfrm>
            <a:off x="6867430" y="6491288"/>
            <a:ext cx="2057400" cy="361950"/>
          </a:xfrm>
          <a:prstGeom prst="rect">
            <a:avLst/>
          </a:prstGeom>
        </p:spPr>
        <p:txBody>
          <a:bodyPr/>
          <a:lstStyle/>
          <a:p>
            <a:fld id="{EFD6AB9A-5F9E-5F59-51AB-3C8734130965}" type="slidenum">
              <a:rPr/>
              <a:t>5</a:t>
            </a:fld>
            <a:endParaRPr/>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dirty="0"/>
              <a:t>2. </a:t>
            </a:r>
            <a:r>
              <a:rPr lang="en-US" dirty="0"/>
              <a:t>Pipeline </a:t>
            </a:r>
            <a:r>
              <a:rPr lang="en-US" dirty="0" err="1"/>
              <a:t>hệ</a:t>
            </a:r>
            <a:r>
              <a:rPr lang="en-US" dirty="0"/>
              <a:t> </a:t>
            </a:r>
            <a:r>
              <a:rPr lang="en-US" dirty="0" err="1"/>
              <a:t>thống</a:t>
            </a:r>
            <a:endParaRPr dirty="0"/>
          </a:p>
        </p:txBody>
      </p:sp>
      <p:pic>
        <p:nvPicPr>
          <p:cNvPr id="6" name="Picture 5" descr="pipeline_phases.png"/>
          <p:cNvPicPr>
            <a:picLocks noChangeAspect="1"/>
          </p:cNvPicPr>
          <p:nvPr/>
        </p:nvPicPr>
        <p:blipFill>
          <a:blip r:embed="rId3">
            <a:clrChange>
              <a:clrFrom>
                <a:srgbClr val="FFFFFF"/>
              </a:clrFrom>
              <a:clrTo>
                <a:srgbClr val="FFFFFF">
                  <a:alpha val="0"/>
                </a:srgbClr>
              </a:clrTo>
            </a:clrChange>
          </a:blip>
          <a:stretch>
            <a:fillRect/>
          </a:stretch>
        </p:blipFill>
        <p:spPr>
          <a:xfrm>
            <a:off x="2206005" y="993373"/>
            <a:ext cx="4977537" cy="5497915"/>
          </a:xfrm>
          <a:prstGeom prst="rect">
            <a:avLst/>
          </a:prstGeom>
        </p:spPr>
      </p:pic>
    </p:spTree>
    <p:extLst>
      <p:ext uri="{BB962C8B-B14F-4D97-AF65-F5344CB8AC3E}">
        <p14:creationId xmlns:p14="http://schemas.microsoft.com/office/powerpoint/2010/main" val="6408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idx="12"/>
          </p:nvPr>
        </p:nvSpPr>
        <p:spPr>
          <a:xfrm>
            <a:off x="6867430" y="6491288"/>
            <a:ext cx="2057400" cy="361950"/>
          </a:xfrm>
        </p:spPr>
        <p:txBody>
          <a:bodyPr/>
          <a:lstStyle/>
          <a:p>
            <a:fld id="{EE5B3003-2C54-13C6-9832-7637201064DE}" type="slidenum">
              <a:rPr/>
              <a:t>6</a:t>
            </a:fld>
            <a:endParaRPr/>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dirty="0"/>
              <a:t>3. </a:t>
            </a:r>
            <a:r>
              <a:rPr lang="en-US" dirty="0" err="1"/>
              <a:t>Mô</a:t>
            </a:r>
            <a:r>
              <a:rPr lang="en-US" dirty="0"/>
              <a:t> </a:t>
            </a:r>
            <a:r>
              <a:rPr lang="en-US" dirty="0" err="1"/>
              <a:t>hình</a:t>
            </a:r>
            <a:endParaRPr dirty="0"/>
          </a:p>
        </p:txBody>
      </p:sp>
      <p:sp>
        <p:nvSpPr>
          <p:cNvPr id="4" name="TextBox 3">
            <a:extLst>
              <a:ext uri="{FF2B5EF4-FFF2-40B4-BE49-F238E27FC236}">
                <a16:creationId xmlns:a16="http://schemas.microsoft.com/office/drawing/2014/main" id="{644285B3-D05A-8FC9-9347-220B7584F463}"/>
              </a:ext>
            </a:extLst>
          </p:cNvPr>
          <p:cNvSpPr txBox="1"/>
          <p:nvPr/>
        </p:nvSpPr>
        <p:spPr>
          <a:xfrm>
            <a:off x="284063" y="1234844"/>
            <a:ext cx="8575874" cy="646331"/>
          </a:xfrm>
          <a:prstGeom prst="rect">
            <a:avLst/>
          </a:prstGeom>
          <a:noFill/>
        </p:spPr>
        <p:txBody>
          <a:bodyPr wrap="square" rtlCol="0">
            <a:spAutoFit/>
          </a:bodyPr>
          <a:lstStyle/>
          <a:p>
            <a:r>
              <a:rPr lang="en-US" b="1" dirty="0"/>
              <a:t>T5 (Text-to-Text Transfer Transformer): </a:t>
            </a:r>
            <a:r>
              <a:rPr lang="en-US" dirty="0" err="1"/>
              <a:t>mô</a:t>
            </a:r>
            <a:r>
              <a:rPr lang="en-US" dirty="0"/>
              <a:t> </a:t>
            </a:r>
            <a:r>
              <a:rPr lang="en-US" dirty="0" err="1"/>
              <a:t>hình</a:t>
            </a:r>
            <a:r>
              <a:rPr lang="en-US" dirty="0"/>
              <a:t> </a:t>
            </a:r>
            <a:r>
              <a:rPr lang="en-US" dirty="0" err="1"/>
              <a:t>dựa</a:t>
            </a:r>
            <a:r>
              <a:rPr lang="en-US" dirty="0"/>
              <a:t> </a:t>
            </a:r>
            <a:r>
              <a:rPr lang="en-US" dirty="0" err="1"/>
              <a:t>trên</a:t>
            </a:r>
            <a:r>
              <a:rPr lang="en-US" dirty="0"/>
              <a:t> </a:t>
            </a:r>
            <a:r>
              <a:rPr lang="en-US" dirty="0" err="1"/>
              <a:t>kiến</a:t>
            </a:r>
            <a:r>
              <a:rPr lang="en-US" dirty="0"/>
              <a:t> </a:t>
            </a:r>
            <a:r>
              <a:rPr lang="en-US" dirty="0" err="1"/>
              <a:t>trúc</a:t>
            </a:r>
            <a:r>
              <a:rPr lang="en-US" dirty="0"/>
              <a:t> </a:t>
            </a:r>
            <a:r>
              <a:rPr lang="en-US" b="1" dirty="0"/>
              <a:t>Transformer Encoder–Decoder</a:t>
            </a:r>
            <a:endParaRPr lang="en-VN" b="1" dirty="0"/>
          </a:p>
        </p:txBody>
      </p:sp>
      <p:graphicFrame>
        <p:nvGraphicFramePr>
          <p:cNvPr id="15" name="Table 14">
            <a:extLst>
              <a:ext uri="{FF2B5EF4-FFF2-40B4-BE49-F238E27FC236}">
                <a16:creationId xmlns:a16="http://schemas.microsoft.com/office/drawing/2014/main" id="{F9A1FD62-E5F8-20FD-C11C-7CA8FF6158F5}"/>
              </a:ext>
            </a:extLst>
          </p:cNvPr>
          <p:cNvGraphicFramePr>
            <a:graphicFrameLocks noGrp="1"/>
          </p:cNvGraphicFramePr>
          <p:nvPr>
            <p:extLst>
              <p:ext uri="{D42A27DB-BD31-4B8C-83A1-F6EECF244321}">
                <p14:modId xmlns:p14="http://schemas.microsoft.com/office/powerpoint/2010/main" val="3420563864"/>
              </p:ext>
            </p:extLst>
          </p:nvPr>
        </p:nvGraphicFramePr>
        <p:xfrm>
          <a:off x="628651" y="2149608"/>
          <a:ext cx="7886697" cy="1371600"/>
        </p:xfrm>
        <a:graphic>
          <a:graphicData uri="http://schemas.openxmlformats.org/drawingml/2006/table">
            <a:tbl>
              <a:tblPr/>
              <a:tblGrid>
                <a:gridCol w="1126671">
                  <a:extLst>
                    <a:ext uri="{9D8B030D-6E8A-4147-A177-3AD203B41FA5}">
                      <a16:colId xmlns:a16="http://schemas.microsoft.com/office/drawing/2014/main" val="690111869"/>
                    </a:ext>
                  </a:extLst>
                </a:gridCol>
                <a:gridCol w="1126671">
                  <a:extLst>
                    <a:ext uri="{9D8B030D-6E8A-4147-A177-3AD203B41FA5}">
                      <a16:colId xmlns:a16="http://schemas.microsoft.com/office/drawing/2014/main" val="1652007363"/>
                    </a:ext>
                  </a:extLst>
                </a:gridCol>
                <a:gridCol w="1221921">
                  <a:extLst>
                    <a:ext uri="{9D8B030D-6E8A-4147-A177-3AD203B41FA5}">
                      <a16:colId xmlns:a16="http://schemas.microsoft.com/office/drawing/2014/main" val="909619001"/>
                    </a:ext>
                  </a:extLst>
                </a:gridCol>
                <a:gridCol w="1031421">
                  <a:extLst>
                    <a:ext uri="{9D8B030D-6E8A-4147-A177-3AD203B41FA5}">
                      <a16:colId xmlns:a16="http://schemas.microsoft.com/office/drawing/2014/main" val="2013462536"/>
                    </a:ext>
                  </a:extLst>
                </a:gridCol>
                <a:gridCol w="1126671">
                  <a:extLst>
                    <a:ext uri="{9D8B030D-6E8A-4147-A177-3AD203B41FA5}">
                      <a16:colId xmlns:a16="http://schemas.microsoft.com/office/drawing/2014/main" val="3904743848"/>
                    </a:ext>
                  </a:extLst>
                </a:gridCol>
                <a:gridCol w="1126671">
                  <a:extLst>
                    <a:ext uri="{9D8B030D-6E8A-4147-A177-3AD203B41FA5}">
                      <a16:colId xmlns:a16="http://schemas.microsoft.com/office/drawing/2014/main" val="1159633289"/>
                    </a:ext>
                  </a:extLst>
                </a:gridCol>
                <a:gridCol w="1126671">
                  <a:extLst>
                    <a:ext uri="{9D8B030D-6E8A-4147-A177-3AD203B41FA5}">
                      <a16:colId xmlns:a16="http://schemas.microsoft.com/office/drawing/2014/main" val="3619098363"/>
                    </a:ext>
                  </a:extLst>
                </a:gridCol>
              </a:tblGrid>
              <a:tr h="0">
                <a:tc>
                  <a:txBody>
                    <a:bodyPr/>
                    <a:lstStyle/>
                    <a:p>
                      <a:pPr>
                        <a:buNone/>
                      </a:pPr>
                      <a:r>
                        <a:rPr lang="en-VN"/>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Params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Layers (enc=dec)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d_model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d_ff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Heads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d_kv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9027600"/>
                  </a:ext>
                </a:extLst>
              </a:tr>
              <a:tr h="0">
                <a:tc>
                  <a:txBody>
                    <a:bodyPr/>
                    <a:lstStyle/>
                    <a:p>
                      <a:pPr>
                        <a:buNone/>
                      </a:pPr>
                      <a:r>
                        <a:rPr lang="en-VN" b="1"/>
                        <a:t>Small</a:t>
                      </a:r>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60M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2048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2774931"/>
                  </a:ext>
                </a:extLst>
              </a:tr>
              <a:tr h="0">
                <a:tc>
                  <a:txBody>
                    <a:bodyPr/>
                    <a:lstStyle/>
                    <a:p>
                      <a:pPr>
                        <a:buNone/>
                      </a:pPr>
                      <a:r>
                        <a:rPr lang="en-VN" b="1"/>
                        <a:t>Base</a:t>
                      </a:r>
                      <a:endParaRPr lang="en-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220M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dirty="0"/>
                        <a:t>768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dirty="0"/>
                        <a:t>3072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VN" dirty="0"/>
                        <a:t>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64240"/>
                  </a:ext>
                </a:extLst>
              </a:tr>
            </a:tbl>
          </a:graphicData>
        </a:graphic>
      </p:graphicFrame>
      <p:sp>
        <p:nvSpPr>
          <p:cNvPr id="18" name="TextBox 17">
            <a:extLst>
              <a:ext uri="{FF2B5EF4-FFF2-40B4-BE49-F238E27FC236}">
                <a16:creationId xmlns:a16="http://schemas.microsoft.com/office/drawing/2014/main" id="{EC605332-F884-72E6-8BD3-AF7A71F3DEEF}"/>
              </a:ext>
            </a:extLst>
          </p:cNvPr>
          <p:cNvSpPr txBox="1"/>
          <p:nvPr/>
        </p:nvSpPr>
        <p:spPr>
          <a:xfrm>
            <a:off x="322161" y="3921444"/>
            <a:ext cx="8499675" cy="369332"/>
          </a:xfrm>
          <a:prstGeom prst="rect">
            <a:avLst/>
          </a:prstGeom>
          <a:noFill/>
        </p:spPr>
        <p:txBody>
          <a:bodyPr wrap="square">
            <a:spAutoFit/>
          </a:bodyPr>
          <a:lstStyle/>
          <a:p>
            <a:r>
              <a:rPr lang="en-US" sz="1800" b="1" dirty="0"/>
              <a:t>Text-to-Text: </a:t>
            </a:r>
            <a:r>
              <a:rPr lang="vi-VN" sz="1800" dirty="0">
                <a:latin typeface="Calibri" panose="020F0502020204030204" pitchFamily="34" charset="0"/>
                <a:cs typeface="Calibri" panose="020F0502020204030204" pitchFamily="34" charset="0"/>
              </a:rPr>
              <a:t>task được đóng khung bằng cách thêm prefix vào input</a:t>
            </a:r>
            <a:endParaRPr lang="en-VN" dirty="0">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32FE9300-0D07-B83C-9241-51A13E72C5E8}"/>
              </a:ext>
            </a:extLst>
          </p:cNvPr>
          <p:cNvSpPr txBox="1"/>
          <p:nvPr/>
        </p:nvSpPr>
        <p:spPr>
          <a:xfrm>
            <a:off x="628651" y="4526638"/>
            <a:ext cx="8106101" cy="1477328"/>
          </a:xfrm>
          <a:prstGeom prst="rect">
            <a:avLst/>
          </a:prstGeom>
          <a:noFill/>
          <a:ln>
            <a:solidFill>
              <a:schemeClr val="tx1"/>
            </a:solidFill>
          </a:ln>
        </p:spPr>
        <p:txBody>
          <a:bodyPr wrap="square" rtlCol="0">
            <a:spAutoFit/>
          </a:bodyPr>
          <a:lstStyle/>
          <a:p>
            <a:r>
              <a:rPr lang="en-US" b="1" dirty="0"/>
              <a:t>Input: </a:t>
            </a:r>
            <a:r>
              <a:rPr lang="en-US" dirty="0"/>
              <a:t>extract aspect sentiment triplets: The pizza was delicious but the service was slow.</a:t>
            </a:r>
          </a:p>
          <a:p>
            <a:r>
              <a:rPr lang="en-US" b="1" dirty="0"/>
              <a:t>Output</a:t>
            </a:r>
          </a:p>
          <a:p>
            <a:r>
              <a:rPr lang="en-US" dirty="0"/>
              <a:t>aspect: pizza | opinion: delicious | sentiment: positive ;</a:t>
            </a:r>
          </a:p>
          <a:p>
            <a:r>
              <a:rPr lang="en-US" dirty="0"/>
              <a:t>aspect: service | opinion: slow | sentiment: negative</a:t>
            </a:r>
            <a:endParaRPr lang="en-VN" dirty="0"/>
          </a:p>
        </p:txBody>
      </p:sp>
    </p:spTree>
    <p:extLst>
      <p:ext uri="{BB962C8B-B14F-4D97-AF65-F5344CB8AC3E}">
        <p14:creationId xmlns:p14="http://schemas.microsoft.com/office/powerpoint/2010/main" val="1173852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8FF063-BC8D-106F-1476-59521EE9E817}"/>
              </a:ext>
            </a:extLst>
          </p:cNvPr>
          <p:cNvSpPr>
            <a:spLocks noGrp="1"/>
          </p:cNvSpPr>
          <p:nvPr>
            <p:ph type="sldNum" idx="12"/>
          </p:nvPr>
        </p:nvSpPr>
        <p:spPr/>
        <p:txBody>
          <a:bodyPr/>
          <a:lstStyle/>
          <a:p>
            <a:fld id="{9EA0BE3B-158A-4EDF-80DC-E394A0D1600F}" type="slidenum">
              <a:rPr lang="en-VN" smtClean="0"/>
              <a:t>7</a:t>
            </a:fld>
            <a:endParaRPr lang="en-VN"/>
          </a:p>
        </p:txBody>
      </p:sp>
      <p:sp>
        <p:nvSpPr>
          <p:cNvPr id="5" name="Title 4">
            <a:extLst>
              <a:ext uri="{FF2B5EF4-FFF2-40B4-BE49-F238E27FC236}">
                <a16:creationId xmlns:a16="http://schemas.microsoft.com/office/drawing/2014/main" id="{97CC6082-7AF4-058E-48CB-55A9D2FA98F5}"/>
              </a:ext>
            </a:extLst>
          </p:cNvPr>
          <p:cNvSpPr>
            <a:spLocks noGrp="1"/>
          </p:cNvSpPr>
          <p:nvPr>
            <p:ph type="title"/>
          </p:nvPr>
        </p:nvSpPr>
        <p:spPr/>
        <p:txBody>
          <a:bodyPr/>
          <a:lstStyle/>
          <a:p>
            <a:r>
              <a:rPr lang="en-US" dirty="0"/>
              <a:t>3. </a:t>
            </a:r>
            <a:r>
              <a:rPr lang="en-US" dirty="0" err="1"/>
              <a:t>Mô</a:t>
            </a:r>
            <a:r>
              <a:rPr lang="en-US" dirty="0"/>
              <a:t> </a:t>
            </a:r>
            <a:r>
              <a:rPr lang="en-US" dirty="0" err="1"/>
              <a:t>hình</a:t>
            </a:r>
            <a:r>
              <a:rPr lang="en-US" dirty="0"/>
              <a:t> (2)</a:t>
            </a:r>
            <a:endParaRPr lang="en-VN" dirty="0"/>
          </a:p>
        </p:txBody>
      </p:sp>
      <p:sp>
        <p:nvSpPr>
          <p:cNvPr id="7" name="TextBox 6">
            <a:extLst>
              <a:ext uri="{FF2B5EF4-FFF2-40B4-BE49-F238E27FC236}">
                <a16:creationId xmlns:a16="http://schemas.microsoft.com/office/drawing/2014/main" id="{61707799-5CD6-A016-7446-724F434D9BD6}"/>
              </a:ext>
            </a:extLst>
          </p:cNvPr>
          <p:cNvSpPr txBox="1"/>
          <p:nvPr/>
        </p:nvSpPr>
        <p:spPr>
          <a:xfrm>
            <a:off x="235077" y="919158"/>
            <a:ext cx="8575874" cy="2031325"/>
          </a:xfrm>
          <a:prstGeom prst="rect">
            <a:avLst/>
          </a:prstGeom>
          <a:noFill/>
        </p:spPr>
        <p:txBody>
          <a:bodyPr wrap="square" rtlCol="0">
            <a:spAutoFit/>
          </a:bodyPr>
          <a:lstStyle/>
          <a:p>
            <a:r>
              <a:rPr lang="en-US" b="1" dirty="0"/>
              <a:t>Flan-T5: </a:t>
            </a:r>
            <a:r>
              <a:rPr lang="en-US" dirty="0" err="1"/>
              <a:t>phiên</a:t>
            </a:r>
            <a:r>
              <a:rPr lang="en-US" dirty="0"/>
              <a:t> </a:t>
            </a:r>
            <a:r>
              <a:rPr lang="en-US" dirty="0" err="1"/>
              <a:t>bản</a:t>
            </a:r>
            <a:r>
              <a:rPr lang="en-US" dirty="0"/>
              <a:t> instruction-tuned </a:t>
            </a:r>
            <a:r>
              <a:rPr lang="en-US" dirty="0" err="1"/>
              <a:t>của</a:t>
            </a:r>
            <a:r>
              <a:rPr lang="en-US" dirty="0"/>
              <a:t> T5</a:t>
            </a:r>
          </a:p>
          <a:p>
            <a:endParaRPr lang="vi-VN" dirty="0">
              <a:latin typeface="Calibri" panose="020F0502020204030204" pitchFamily="34" charset="0"/>
              <a:cs typeface="Calibri" panose="020F0502020204030204" pitchFamily="34" charset="0"/>
            </a:endParaRPr>
          </a:p>
          <a:p>
            <a:r>
              <a:rPr lang="vi-VN" b="1" dirty="0">
                <a:latin typeface="Calibri" panose="020F0502020204030204" pitchFamily="34" charset="0"/>
                <a:cs typeface="Calibri" panose="020F0502020204030204" pitchFamily="34" charset="0"/>
              </a:rPr>
              <a:t>Ý tưởng: </a:t>
            </a:r>
            <a:r>
              <a:rPr lang="vi-VN" dirty="0">
                <a:latin typeface="Calibri" panose="020F0502020204030204" pitchFamily="34" charset="0"/>
                <a:cs typeface="Calibri" panose="020F0502020204030204" pitchFamily="34" charset="0"/>
              </a:rPr>
              <a:t>lấy checkpoint T5 v1.1 đã pretrain xong, rồi fine-tune tiếp trên một tập hợp khổng lồ các task được viết dưới dạng instruction.</a:t>
            </a:r>
          </a:p>
          <a:p>
            <a:endParaRPr lang="vi-VN"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sym typeface="Wingdings" pitchFamily="2" charset="2"/>
              </a:rPr>
              <a:t> </a:t>
            </a:r>
            <a:r>
              <a:rPr lang="en-US" dirty="0" err="1">
                <a:latin typeface="Calibri" panose="020F0502020204030204" pitchFamily="34" charset="0"/>
                <a:cs typeface="Calibri" panose="020F0502020204030204" pitchFamily="34" charset="0"/>
                <a:sym typeface="Wingdings" pitchFamily="2" charset="2"/>
              </a:rPr>
              <a:t>Thực</a:t>
            </a:r>
            <a:r>
              <a:rPr lang="en-US" dirty="0">
                <a:latin typeface="Calibri" panose="020F0502020204030204" pitchFamily="34" charset="0"/>
                <a:cs typeface="Calibri" panose="020F0502020204030204" pitchFamily="34" charset="0"/>
                <a:sym typeface="Wingdings" pitchFamily="2" charset="2"/>
              </a:rPr>
              <a:t> </a:t>
            </a:r>
            <a:r>
              <a:rPr lang="en-US" dirty="0" err="1">
                <a:latin typeface="Calibri" panose="020F0502020204030204" pitchFamily="34" charset="0"/>
                <a:cs typeface="Calibri" panose="020F0502020204030204" pitchFamily="34" charset="0"/>
                <a:sym typeface="Wingdings" pitchFamily="2" charset="2"/>
              </a:rPr>
              <a:t>hiện</a:t>
            </a:r>
            <a:r>
              <a:rPr lang="en-US" dirty="0">
                <a:latin typeface="Calibri" panose="020F0502020204030204" pitchFamily="34" charset="0"/>
                <a:cs typeface="Calibri" panose="020F0502020204030204" pitchFamily="34" charset="0"/>
                <a:sym typeface="Wingdings" pitchFamily="2" charset="2"/>
              </a:rPr>
              <a:t> finetune </a:t>
            </a:r>
            <a:r>
              <a:rPr lang="en-US" dirty="0" err="1">
                <a:latin typeface="Calibri" panose="020F0502020204030204" pitchFamily="34" charset="0"/>
                <a:cs typeface="Calibri" panose="020F0502020204030204" pitchFamily="34" charset="0"/>
                <a:sym typeface="Wingdings" pitchFamily="2" charset="2"/>
              </a:rPr>
              <a:t>các</a:t>
            </a:r>
            <a:r>
              <a:rPr lang="en-US" dirty="0">
                <a:latin typeface="Calibri" panose="020F0502020204030204" pitchFamily="34" charset="0"/>
                <a:cs typeface="Calibri" panose="020F0502020204030204" pitchFamily="34" charset="0"/>
                <a:sym typeface="Wingdings" pitchFamily="2" charset="2"/>
              </a:rPr>
              <a:t> model </a:t>
            </a:r>
            <a:r>
              <a:rPr lang="en-US" dirty="0" err="1">
                <a:latin typeface="Calibri" panose="020F0502020204030204" pitchFamily="34" charset="0"/>
                <a:cs typeface="Calibri" panose="020F0502020204030204" pitchFamily="34" charset="0"/>
                <a:sym typeface="Wingdings" pitchFamily="2" charset="2"/>
              </a:rPr>
              <a:t>này</a:t>
            </a:r>
            <a:r>
              <a:rPr lang="en-US" dirty="0">
                <a:latin typeface="Calibri" panose="020F0502020204030204" pitchFamily="34" charset="0"/>
                <a:cs typeface="Calibri" panose="020F0502020204030204" pitchFamily="34" charset="0"/>
                <a:sym typeface="Wingdings" pitchFamily="2" charset="2"/>
              </a:rPr>
              <a:t> </a:t>
            </a:r>
            <a:r>
              <a:rPr lang="en-US" dirty="0" err="1">
                <a:latin typeface="Calibri" panose="020F0502020204030204" pitchFamily="34" charset="0"/>
                <a:cs typeface="Calibri" panose="020F0502020204030204" pitchFamily="34" charset="0"/>
                <a:sym typeface="Wingdings" pitchFamily="2" charset="2"/>
              </a:rPr>
              <a:t>cho</a:t>
            </a:r>
            <a:r>
              <a:rPr lang="en-US" dirty="0">
                <a:latin typeface="Calibri" panose="020F0502020204030204" pitchFamily="34" charset="0"/>
                <a:cs typeface="Calibri" panose="020F0502020204030204" pitchFamily="34" charset="0"/>
                <a:sym typeface="Wingdings" pitchFamily="2" charset="2"/>
              </a:rPr>
              <a:t> </a:t>
            </a:r>
            <a:r>
              <a:rPr lang="en-US" dirty="0" err="1">
                <a:latin typeface="Calibri" panose="020F0502020204030204" pitchFamily="34" charset="0"/>
                <a:cs typeface="Calibri" panose="020F0502020204030204" pitchFamily="34" charset="0"/>
                <a:sym typeface="Wingdings" pitchFamily="2" charset="2"/>
              </a:rPr>
              <a:t>nhiệm</a:t>
            </a:r>
            <a:r>
              <a:rPr lang="en-US" dirty="0">
                <a:latin typeface="Calibri" panose="020F0502020204030204" pitchFamily="34" charset="0"/>
                <a:cs typeface="Calibri" panose="020F0502020204030204" pitchFamily="34" charset="0"/>
                <a:sym typeface="Wingdings" pitchFamily="2" charset="2"/>
              </a:rPr>
              <a:t> </a:t>
            </a:r>
            <a:r>
              <a:rPr lang="en-US" dirty="0" err="1">
                <a:latin typeface="Calibri" panose="020F0502020204030204" pitchFamily="34" charset="0"/>
                <a:cs typeface="Calibri" panose="020F0502020204030204" pitchFamily="34" charset="0"/>
                <a:sym typeface="Wingdings" pitchFamily="2" charset="2"/>
              </a:rPr>
              <a:t>vụ</a:t>
            </a:r>
            <a:r>
              <a:rPr lang="en-US" dirty="0">
                <a:latin typeface="Calibri" panose="020F0502020204030204" pitchFamily="34" charset="0"/>
                <a:cs typeface="Calibri" panose="020F0502020204030204" pitchFamily="34" charset="0"/>
                <a:sym typeface="Wingdings" pitchFamily="2" charset="2"/>
              </a:rPr>
              <a:t> ASTE</a:t>
            </a:r>
            <a:endParaRPr lang="en-VN" dirty="0">
              <a:latin typeface="Calibri" panose="020F0502020204030204" pitchFamily="34" charset="0"/>
              <a:cs typeface="Calibri" panose="020F0502020204030204" pitchFamily="34" charset="0"/>
            </a:endParaRPr>
          </a:p>
          <a:p>
            <a:endParaRPr lang="en-V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160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B1D638-4D8C-FED9-2535-DE827DD7BC92}"/>
              </a:ext>
            </a:extLst>
          </p:cNvPr>
          <p:cNvSpPr>
            <a:spLocks noGrp="1"/>
          </p:cNvSpPr>
          <p:nvPr>
            <p:ph type="sldNum" idx="12"/>
          </p:nvPr>
        </p:nvSpPr>
        <p:spPr/>
        <p:txBody>
          <a:bodyPr/>
          <a:lstStyle/>
          <a:p>
            <a:fld id="{9EA0BE3B-158A-4EDF-80DC-E394A0D1600F}" type="slidenum">
              <a:rPr lang="en-VN" smtClean="0"/>
              <a:t>8</a:t>
            </a:fld>
            <a:endParaRPr lang="en-VN"/>
          </a:p>
        </p:txBody>
      </p:sp>
      <p:sp>
        <p:nvSpPr>
          <p:cNvPr id="3" name="Title 2">
            <a:extLst>
              <a:ext uri="{FF2B5EF4-FFF2-40B4-BE49-F238E27FC236}">
                <a16:creationId xmlns:a16="http://schemas.microsoft.com/office/drawing/2014/main" id="{1FC62FAC-E0D5-0D5D-994C-ED15D328B01B}"/>
              </a:ext>
            </a:extLst>
          </p:cNvPr>
          <p:cNvSpPr>
            <a:spLocks noGrp="1"/>
          </p:cNvSpPr>
          <p:nvPr>
            <p:ph type="title"/>
          </p:nvPr>
        </p:nvSpPr>
        <p:spPr/>
        <p:txBody>
          <a:bodyPr/>
          <a:lstStyle/>
          <a:p>
            <a:r>
              <a:rPr lang="en-US" dirty="0"/>
              <a:t>4. </a:t>
            </a:r>
            <a:r>
              <a:rPr lang="en-US" dirty="0" err="1"/>
              <a:t>Dữ</a:t>
            </a:r>
            <a:r>
              <a:rPr lang="en-US" dirty="0"/>
              <a:t> </a:t>
            </a:r>
            <a:r>
              <a:rPr lang="en-US" dirty="0" err="1"/>
              <a:t>liệu</a:t>
            </a:r>
            <a:r>
              <a:rPr lang="en-US" dirty="0"/>
              <a:t> </a:t>
            </a:r>
            <a:r>
              <a:rPr lang="en-US" dirty="0" err="1"/>
              <a:t>cho</a:t>
            </a:r>
            <a:r>
              <a:rPr lang="en-US" dirty="0"/>
              <a:t> </a:t>
            </a:r>
            <a:r>
              <a:rPr lang="en-US" dirty="0" err="1"/>
              <a:t>bài</a:t>
            </a:r>
            <a:r>
              <a:rPr lang="en-US" dirty="0"/>
              <a:t> </a:t>
            </a:r>
            <a:r>
              <a:rPr lang="en-US" dirty="0" err="1"/>
              <a:t>toán</a:t>
            </a:r>
            <a:r>
              <a:rPr lang="en-US" dirty="0"/>
              <a:t> ASTE</a:t>
            </a:r>
            <a:endParaRPr lang="en-VN" dirty="0"/>
          </a:p>
        </p:txBody>
      </p:sp>
      <p:sp>
        <p:nvSpPr>
          <p:cNvPr id="4" name="Text Placeholder 3">
            <a:extLst>
              <a:ext uri="{FF2B5EF4-FFF2-40B4-BE49-F238E27FC236}">
                <a16:creationId xmlns:a16="http://schemas.microsoft.com/office/drawing/2014/main" id="{62698E5E-CA8C-D31D-C26E-0BCBB1A429BD}"/>
              </a:ext>
            </a:extLst>
          </p:cNvPr>
          <p:cNvSpPr>
            <a:spLocks noGrp="1"/>
          </p:cNvSpPr>
          <p:nvPr>
            <p:ph type="body" idx="13"/>
          </p:nvPr>
        </p:nvSpPr>
        <p:spPr>
          <a:xfrm>
            <a:off x="234950" y="1260207"/>
            <a:ext cx="8674100" cy="4868449"/>
          </a:xfrm>
        </p:spPr>
        <p:txBody>
          <a:bodyPr/>
          <a:lstStyle/>
          <a:p>
            <a:r>
              <a:rPr lang="en-VN" sz="2000" b="1" dirty="0"/>
              <a:t>Dataset: </a:t>
            </a:r>
            <a:r>
              <a:rPr lang="en-US" sz="2000" dirty="0"/>
              <a:t>SemEval-Triplet-data</a:t>
            </a:r>
          </a:p>
          <a:p>
            <a:endParaRPr lang="en-US" sz="2000" dirty="0"/>
          </a:p>
          <a:p>
            <a:endParaRPr lang="en-US" sz="2000" dirty="0"/>
          </a:p>
          <a:p>
            <a:endParaRPr lang="en-VN" sz="2000" dirty="0"/>
          </a:p>
        </p:txBody>
      </p:sp>
      <p:graphicFrame>
        <p:nvGraphicFramePr>
          <p:cNvPr id="5" name="Table 4">
            <a:extLst>
              <a:ext uri="{FF2B5EF4-FFF2-40B4-BE49-F238E27FC236}">
                <a16:creationId xmlns:a16="http://schemas.microsoft.com/office/drawing/2014/main" id="{66EC10AF-658A-372F-21CC-20ADDD4AAF26}"/>
              </a:ext>
            </a:extLst>
          </p:cNvPr>
          <p:cNvGraphicFramePr>
            <a:graphicFrameLocks noGrp="1"/>
          </p:cNvGraphicFramePr>
          <p:nvPr>
            <p:extLst>
              <p:ext uri="{D42A27DB-BD31-4B8C-83A1-F6EECF244321}">
                <p14:modId xmlns:p14="http://schemas.microsoft.com/office/powerpoint/2010/main" val="3219677246"/>
              </p:ext>
            </p:extLst>
          </p:nvPr>
        </p:nvGraphicFramePr>
        <p:xfrm>
          <a:off x="370113" y="2427583"/>
          <a:ext cx="8088085" cy="1150815"/>
        </p:xfrm>
        <a:graphic>
          <a:graphicData uri="http://schemas.openxmlformats.org/drawingml/2006/table">
            <a:tbl>
              <a:tblPr/>
              <a:tblGrid>
                <a:gridCol w="1617617">
                  <a:extLst>
                    <a:ext uri="{9D8B030D-6E8A-4147-A177-3AD203B41FA5}">
                      <a16:colId xmlns:a16="http://schemas.microsoft.com/office/drawing/2014/main" val="1525913025"/>
                    </a:ext>
                  </a:extLst>
                </a:gridCol>
                <a:gridCol w="1617617">
                  <a:extLst>
                    <a:ext uri="{9D8B030D-6E8A-4147-A177-3AD203B41FA5}">
                      <a16:colId xmlns:a16="http://schemas.microsoft.com/office/drawing/2014/main" val="1852091143"/>
                    </a:ext>
                  </a:extLst>
                </a:gridCol>
                <a:gridCol w="1617617">
                  <a:extLst>
                    <a:ext uri="{9D8B030D-6E8A-4147-A177-3AD203B41FA5}">
                      <a16:colId xmlns:a16="http://schemas.microsoft.com/office/drawing/2014/main" val="1649962491"/>
                    </a:ext>
                  </a:extLst>
                </a:gridCol>
                <a:gridCol w="1617617">
                  <a:extLst>
                    <a:ext uri="{9D8B030D-6E8A-4147-A177-3AD203B41FA5}">
                      <a16:colId xmlns:a16="http://schemas.microsoft.com/office/drawing/2014/main" val="1656727182"/>
                    </a:ext>
                  </a:extLst>
                </a:gridCol>
                <a:gridCol w="1617617">
                  <a:extLst>
                    <a:ext uri="{9D8B030D-6E8A-4147-A177-3AD203B41FA5}">
                      <a16:colId xmlns:a16="http://schemas.microsoft.com/office/drawing/2014/main" val="1872415033"/>
                    </a:ext>
                  </a:extLst>
                </a:gridCol>
              </a:tblGrid>
              <a:tr h="269305">
                <a:tc>
                  <a:txBody>
                    <a:bodyPr/>
                    <a:lstStyle/>
                    <a:p>
                      <a:pPr algn="ctr">
                        <a:buNone/>
                      </a:pPr>
                      <a:r>
                        <a:rPr lang="en-VN" sz="1400" b="0" i="0" dirty="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Split</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14res</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15res</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16res</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1"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Tổng</a:t>
                      </a:r>
                      <a:endPar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endParaRP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030557"/>
                  </a:ext>
                </a:extLst>
              </a:tr>
              <a:tr h="269305">
                <a:tc>
                  <a:txBody>
                    <a:bodyPr/>
                    <a:lstStyle/>
                    <a:p>
                      <a:pPr algn="ctr">
                        <a:buNone/>
                      </a:pPr>
                      <a:r>
                        <a:rPr lang="en-VN" sz="1400" b="0" i="0" dirty="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train</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1300</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593</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842</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1"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2735</a:t>
                      </a:r>
                      <a:endPar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endParaRP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5297709"/>
                  </a:ext>
                </a:extLst>
              </a:tr>
              <a:tr h="269305">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dev</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2000" b="0" i="0" dirty="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323</a:t>
                      </a:r>
                      <a:endParaRPr lang="en-VN" sz="1400" b="0" i="0" dirty="0">
                        <a:solidFill>
                          <a:sysClr val="windowText" lastClr="000000"/>
                        </a:solidFill>
                        <a:effectLst/>
                        <a:latin typeface="Lato" panose="020F0502020204030203" pitchFamily="34" charset="0"/>
                        <a:ea typeface="Lato" panose="020F0502020204030203" pitchFamily="34" charset="0"/>
                        <a:cs typeface="Lato" panose="020F0502020204030203" pitchFamily="34" charset="0"/>
                      </a:endParaRP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148</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210</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1"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681</a:t>
                      </a:r>
                      <a:endPar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endParaRP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1318656"/>
                  </a:ext>
                </a:extLst>
              </a:tr>
              <a:tr h="269305">
                <a:tc>
                  <a:txBody>
                    <a:bodyPr/>
                    <a:lstStyle/>
                    <a:p>
                      <a:pPr algn="ctr">
                        <a:buNone/>
                      </a:pPr>
                      <a:r>
                        <a:rPr lang="en-VN" sz="1400" b="0" i="0" dirty="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test</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dirty="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496</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318</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0" i="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320</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VN" sz="1400" b="1" i="0" dirty="0">
                          <a:solidFill>
                            <a:sysClr val="windowText" lastClr="000000"/>
                          </a:solidFill>
                          <a:effectLst/>
                          <a:latin typeface="Lato" panose="020F0502020204030203" pitchFamily="34" charset="0"/>
                          <a:ea typeface="Lato" panose="020F0502020204030203" pitchFamily="34" charset="0"/>
                          <a:cs typeface="Lato" panose="020F0502020204030203" pitchFamily="34" charset="0"/>
                        </a:rPr>
                        <a:t>1134</a:t>
                      </a:r>
                      <a:endParaRPr lang="en-VN" sz="1400" b="0" i="0" dirty="0">
                        <a:solidFill>
                          <a:sysClr val="windowText" lastClr="000000"/>
                        </a:solidFill>
                        <a:effectLst/>
                        <a:latin typeface="Lato" panose="020F0502020204030203" pitchFamily="34" charset="0"/>
                        <a:ea typeface="Lato" panose="020F0502020204030203" pitchFamily="34" charset="0"/>
                        <a:cs typeface="Lato" panose="020F0502020204030203" pitchFamily="34" charset="0"/>
                      </a:endParaRP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0761336"/>
                  </a:ext>
                </a:extLst>
              </a:tr>
            </a:tbl>
          </a:graphicData>
        </a:graphic>
      </p:graphicFrame>
      <p:sp>
        <p:nvSpPr>
          <p:cNvPr id="7" name="TextBox 6">
            <a:extLst>
              <a:ext uri="{FF2B5EF4-FFF2-40B4-BE49-F238E27FC236}">
                <a16:creationId xmlns:a16="http://schemas.microsoft.com/office/drawing/2014/main" id="{F830DD30-C06A-FEF4-CF6D-B826F5464A08}"/>
              </a:ext>
            </a:extLst>
          </p:cNvPr>
          <p:cNvSpPr txBox="1"/>
          <p:nvPr/>
        </p:nvSpPr>
        <p:spPr>
          <a:xfrm>
            <a:off x="250683" y="1596586"/>
            <a:ext cx="8658240" cy="1261884"/>
          </a:xfrm>
          <a:prstGeom prst="rect">
            <a:avLst/>
          </a:prstGeom>
          <a:noFill/>
        </p:spPr>
        <p:txBody>
          <a:bodyPr wrap="square">
            <a:spAutoFit/>
          </a:bodyPr>
          <a:lstStyle/>
          <a:p>
            <a:pPr indent="0" algn="l">
              <a:buNone/>
            </a:pPr>
            <a:r>
              <a:rPr lang="en-VN" sz="2000" b="1" i="0" dirty="0">
                <a:effectLst/>
                <a:latin typeface="Lato" panose="020F0502020204030203" pitchFamily="34" charset="0"/>
                <a:ea typeface="Lato" panose="020F0502020204030203" pitchFamily="34" charset="0"/>
                <a:cs typeface="Lato" panose="020F0502020204030203" pitchFamily="34" charset="0"/>
              </a:rPr>
              <a:t>Cách chia và quy mô</a:t>
            </a:r>
            <a:r>
              <a:rPr lang="en-VN" sz="2000" b="0" i="0" dirty="0">
                <a:effectLst/>
                <a:latin typeface="Lato" panose="020F0502020204030203" pitchFamily="34" charset="0"/>
                <a:ea typeface="Lato" panose="020F0502020204030203" pitchFamily="34" charset="0"/>
                <a:cs typeface="Lato" panose="020F0502020204030203" pitchFamily="34" charset="0"/>
              </a:rPr>
              <a:t> (gộp train của 3 domain thành 1 train chung, tương tự cho dev/test):</a:t>
            </a:r>
          </a:p>
          <a:p>
            <a:pPr>
              <a:buNone/>
            </a:pPr>
            <a:br>
              <a:rPr lang="en-VN" dirty="0">
                <a:latin typeface="Lato" panose="020F0502020204030203" pitchFamily="34" charset="0"/>
                <a:ea typeface="Lato" panose="020F0502020204030203" pitchFamily="34" charset="0"/>
                <a:cs typeface="Lato" panose="020F0502020204030203" pitchFamily="34" charset="0"/>
              </a:rPr>
            </a:br>
            <a:endParaRPr lang="en-VN" dirty="0">
              <a:latin typeface="Lato" panose="020F0502020204030203" pitchFamily="34" charset="0"/>
              <a:ea typeface="Lato" panose="020F0502020204030203" pitchFamily="34" charset="0"/>
              <a:cs typeface="Lato" panose="020F0502020204030203" pitchFamily="34" charset="0"/>
            </a:endParaRPr>
          </a:p>
        </p:txBody>
      </p:sp>
      <p:sp>
        <p:nvSpPr>
          <p:cNvPr id="9" name="TextBox 8">
            <a:extLst>
              <a:ext uri="{FF2B5EF4-FFF2-40B4-BE49-F238E27FC236}">
                <a16:creationId xmlns:a16="http://schemas.microsoft.com/office/drawing/2014/main" id="{6CB9462C-CD2C-16EB-A855-8B02A560C37C}"/>
              </a:ext>
            </a:extLst>
          </p:cNvPr>
          <p:cNvSpPr txBox="1"/>
          <p:nvPr/>
        </p:nvSpPr>
        <p:spPr>
          <a:xfrm>
            <a:off x="250683" y="3799476"/>
            <a:ext cx="8349344" cy="400110"/>
          </a:xfrm>
          <a:prstGeom prst="rect">
            <a:avLst/>
          </a:prstGeom>
          <a:noFill/>
        </p:spPr>
        <p:txBody>
          <a:bodyPr wrap="square">
            <a:spAutoFit/>
          </a:bodyPr>
          <a:lstStyle/>
          <a:p>
            <a:r>
              <a:rPr lang="en-VN" sz="2000" b="1" i="0" dirty="0">
                <a:effectLst/>
                <a:latin typeface="Lato" panose="020F0502020204030203" pitchFamily="34" charset="0"/>
                <a:ea typeface="Lato" panose="020F0502020204030203" pitchFamily="34" charset="0"/>
                <a:cs typeface="Lato" panose="020F0502020204030203" pitchFamily="34" charset="0"/>
              </a:rPr>
              <a:t>Format: </a:t>
            </a:r>
            <a:r>
              <a:rPr lang="en-US" sz="2000" i="0" dirty="0">
                <a:effectLst/>
                <a:latin typeface="Lato" panose="020F0502020204030203" pitchFamily="34" charset="0"/>
                <a:ea typeface="Lato" panose="020F0502020204030203" pitchFamily="34" charset="0"/>
                <a:cs typeface="Lato" panose="020F0502020204030203" pitchFamily="34" charset="0"/>
              </a:rPr>
              <a:t>sentence####[(target, position, opinion position, sentiment)]</a:t>
            </a:r>
            <a:endParaRPr lang="en-VN" dirty="0"/>
          </a:p>
        </p:txBody>
      </p:sp>
      <p:sp>
        <p:nvSpPr>
          <p:cNvPr id="11" name="TextBox 10">
            <a:extLst>
              <a:ext uri="{FF2B5EF4-FFF2-40B4-BE49-F238E27FC236}">
                <a16:creationId xmlns:a16="http://schemas.microsoft.com/office/drawing/2014/main" id="{CC68DA43-F9B6-0A8E-7BBE-5756C4EB4D67}"/>
              </a:ext>
            </a:extLst>
          </p:cNvPr>
          <p:cNvSpPr txBox="1"/>
          <p:nvPr/>
        </p:nvSpPr>
        <p:spPr>
          <a:xfrm>
            <a:off x="250683" y="4266897"/>
            <a:ext cx="8485727" cy="400110"/>
          </a:xfrm>
          <a:prstGeom prst="rect">
            <a:avLst/>
          </a:prstGeom>
          <a:noFill/>
        </p:spPr>
        <p:txBody>
          <a:bodyPr wrap="square">
            <a:spAutoFit/>
          </a:bodyPr>
          <a:lstStyle/>
          <a:p>
            <a:r>
              <a:rPr lang="en-US" sz="2000" b="1" dirty="0" err="1"/>
              <a:t>Ví</a:t>
            </a:r>
            <a:r>
              <a:rPr lang="en-US" sz="2000" b="1" dirty="0"/>
              <a:t> </a:t>
            </a:r>
            <a:r>
              <a:rPr lang="en-US" sz="2000" b="1" dirty="0" err="1"/>
              <a:t>dụ</a:t>
            </a:r>
            <a:r>
              <a:rPr lang="en-US" sz="2000" b="1" dirty="0"/>
              <a:t>:</a:t>
            </a:r>
          </a:p>
        </p:txBody>
      </p:sp>
      <p:graphicFrame>
        <p:nvGraphicFramePr>
          <p:cNvPr id="13" name="Table 12">
            <a:extLst>
              <a:ext uri="{FF2B5EF4-FFF2-40B4-BE49-F238E27FC236}">
                <a16:creationId xmlns:a16="http://schemas.microsoft.com/office/drawing/2014/main" id="{A1E3D704-E232-A034-6403-4BE8E7B26AC8}"/>
              </a:ext>
            </a:extLst>
          </p:cNvPr>
          <p:cNvGraphicFramePr>
            <a:graphicFrameLocks noGrp="1"/>
          </p:cNvGraphicFramePr>
          <p:nvPr>
            <p:extLst>
              <p:ext uri="{D42A27DB-BD31-4B8C-83A1-F6EECF244321}">
                <p14:modId xmlns:p14="http://schemas.microsoft.com/office/powerpoint/2010/main" val="3636794707"/>
              </p:ext>
            </p:extLst>
          </p:nvPr>
        </p:nvGraphicFramePr>
        <p:xfrm>
          <a:off x="250938" y="4769752"/>
          <a:ext cx="8673845" cy="741680"/>
        </p:xfrm>
        <a:graphic>
          <a:graphicData uri="http://schemas.openxmlformats.org/drawingml/2006/table">
            <a:tbl>
              <a:tblPr firstRow="1" bandRow="1">
                <a:tableStyleId>{2D5ABB26-0587-4C30-8999-92F81FD0307C}</a:tableStyleId>
              </a:tblPr>
              <a:tblGrid>
                <a:gridCol w="588704">
                  <a:extLst>
                    <a:ext uri="{9D8B030D-6E8A-4147-A177-3AD203B41FA5}">
                      <a16:colId xmlns:a16="http://schemas.microsoft.com/office/drawing/2014/main" val="2889145398"/>
                    </a:ext>
                  </a:extLst>
                </a:gridCol>
                <a:gridCol w="792308">
                  <a:extLst>
                    <a:ext uri="{9D8B030D-6E8A-4147-A177-3AD203B41FA5}">
                      <a16:colId xmlns:a16="http://schemas.microsoft.com/office/drawing/2014/main" val="1149727704"/>
                    </a:ext>
                  </a:extLst>
                </a:gridCol>
                <a:gridCol w="354863">
                  <a:extLst>
                    <a:ext uri="{9D8B030D-6E8A-4147-A177-3AD203B41FA5}">
                      <a16:colId xmlns:a16="http://schemas.microsoft.com/office/drawing/2014/main" val="657152264"/>
                    </a:ext>
                  </a:extLst>
                </a:gridCol>
                <a:gridCol w="631487">
                  <a:extLst>
                    <a:ext uri="{9D8B030D-6E8A-4147-A177-3AD203B41FA5}">
                      <a16:colId xmlns:a16="http://schemas.microsoft.com/office/drawing/2014/main" val="2650036330"/>
                    </a:ext>
                  </a:extLst>
                </a:gridCol>
                <a:gridCol w="630887">
                  <a:extLst>
                    <a:ext uri="{9D8B030D-6E8A-4147-A177-3AD203B41FA5}">
                      <a16:colId xmlns:a16="http://schemas.microsoft.com/office/drawing/2014/main" val="1947241042"/>
                    </a:ext>
                  </a:extLst>
                </a:gridCol>
                <a:gridCol w="570284">
                  <a:extLst>
                    <a:ext uri="{9D8B030D-6E8A-4147-A177-3AD203B41FA5}">
                      <a16:colId xmlns:a16="http://schemas.microsoft.com/office/drawing/2014/main" val="2993762448"/>
                    </a:ext>
                  </a:extLst>
                </a:gridCol>
                <a:gridCol w="773831">
                  <a:extLst>
                    <a:ext uri="{9D8B030D-6E8A-4147-A177-3AD203B41FA5}">
                      <a16:colId xmlns:a16="http://schemas.microsoft.com/office/drawing/2014/main" val="4276275747"/>
                    </a:ext>
                  </a:extLst>
                </a:gridCol>
                <a:gridCol w="625284">
                  <a:extLst>
                    <a:ext uri="{9D8B030D-6E8A-4147-A177-3AD203B41FA5}">
                      <a16:colId xmlns:a16="http://schemas.microsoft.com/office/drawing/2014/main" val="2371705148"/>
                    </a:ext>
                  </a:extLst>
                </a:gridCol>
                <a:gridCol w="610911">
                  <a:extLst>
                    <a:ext uri="{9D8B030D-6E8A-4147-A177-3AD203B41FA5}">
                      <a16:colId xmlns:a16="http://schemas.microsoft.com/office/drawing/2014/main" val="3520165178"/>
                    </a:ext>
                  </a:extLst>
                </a:gridCol>
                <a:gridCol w="876671">
                  <a:extLst>
                    <a:ext uri="{9D8B030D-6E8A-4147-A177-3AD203B41FA5}">
                      <a16:colId xmlns:a16="http://schemas.microsoft.com/office/drawing/2014/main" val="2543790945"/>
                    </a:ext>
                  </a:extLst>
                </a:gridCol>
                <a:gridCol w="685800">
                  <a:extLst>
                    <a:ext uri="{9D8B030D-6E8A-4147-A177-3AD203B41FA5}">
                      <a16:colId xmlns:a16="http://schemas.microsoft.com/office/drawing/2014/main" val="1198806121"/>
                    </a:ext>
                  </a:extLst>
                </a:gridCol>
                <a:gridCol w="500742">
                  <a:extLst>
                    <a:ext uri="{9D8B030D-6E8A-4147-A177-3AD203B41FA5}">
                      <a16:colId xmlns:a16="http://schemas.microsoft.com/office/drawing/2014/main" val="2074743865"/>
                    </a:ext>
                  </a:extLst>
                </a:gridCol>
                <a:gridCol w="1032073">
                  <a:extLst>
                    <a:ext uri="{9D8B030D-6E8A-4147-A177-3AD203B41FA5}">
                      <a16:colId xmlns:a16="http://schemas.microsoft.com/office/drawing/2014/main" val="3296892891"/>
                    </a:ext>
                  </a:extLst>
                </a:gridCol>
              </a:tblGrid>
              <a:tr h="370840">
                <a:tc>
                  <a:txBody>
                    <a:bodyPr/>
                    <a:lstStyle/>
                    <a:p>
                      <a:r>
                        <a:rPr lang="en-US" sz="1600" dirty="0"/>
                        <a:t>The</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screen</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is</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very</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large</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and</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crystal</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clear</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with</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amazing</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colors</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and</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resolution</a:t>
                      </a:r>
                      <a:endParaRPr lang="en-V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2259977"/>
                  </a:ext>
                </a:extLst>
              </a:tr>
              <a:tr h="370840">
                <a:tc>
                  <a:txBody>
                    <a:bodyPr/>
                    <a:lstStyle/>
                    <a:p>
                      <a:r>
                        <a:rPr lang="en-VN"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sz="1600"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2248371"/>
                  </a:ext>
                </a:extLst>
              </a:tr>
            </a:tbl>
          </a:graphicData>
        </a:graphic>
      </p:graphicFrame>
      <p:sp>
        <p:nvSpPr>
          <p:cNvPr id="15" name="TextBox 14">
            <a:extLst>
              <a:ext uri="{FF2B5EF4-FFF2-40B4-BE49-F238E27FC236}">
                <a16:creationId xmlns:a16="http://schemas.microsoft.com/office/drawing/2014/main" id="{302B7F93-82C7-0EA8-CC0E-7E25A6010F4B}"/>
              </a:ext>
            </a:extLst>
          </p:cNvPr>
          <p:cNvSpPr txBox="1"/>
          <p:nvPr/>
        </p:nvSpPr>
        <p:spPr>
          <a:xfrm>
            <a:off x="250683" y="5685197"/>
            <a:ext cx="7064829" cy="369332"/>
          </a:xfrm>
          <a:prstGeom prst="rect">
            <a:avLst/>
          </a:prstGeom>
          <a:noFill/>
        </p:spPr>
        <p:txBody>
          <a:bodyPr wrap="square">
            <a:spAutoFit/>
          </a:bodyPr>
          <a:lstStyle/>
          <a:p>
            <a:r>
              <a:rPr lang="en-US" sz="1800" dirty="0"/>
              <a:t>####[([1], [4], 'POS'), ([1], [7], 'POS'), ([10], [9], 'POS'), ([12], [9], 'POS')]</a:t>
            </a:r>
            <a:endParaRPr lang="en-VN" sz="1800" dirty="0"/>
          </a:p>
        </p:txBody>
      </p:sp>
    </p:spTree>
    <p:extLst>
      <p:ext uri="{BB962C8B-B14F-4D97-AF65-F5344CB8AC3E}">
        <p14:creationId xmlns:p14="http://schemas.microsoft.com/office/powerpoint/2010/main" val="2802229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idx="12"/>
          </p:nvPr>
        </p:nvSpPr>
        <p:spPr>
          <a:xfrm>
            <a:off x="6867430" y="6491288"/>
            <a:ext cx="2057400" cy="361950"/>
          </a:xfrm>
        </p:spPr>
        <p:txBody>
          <a:bodyPr/>
          <a:lstStyle/>
          <a:p>
            <a:fld id="{D3D7D1C8-AE23-AA48-DF65-C742588DBE47}" type="slidenum">
              <a:rPr/>
              <a:t>9</a:t>
            </a:fld>
            <a:endParaRPr/>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t>5. Fine-tune &amp; đánh giá ASTE</a:t>
            </a:r>
          </a:p>
        </p:txBody>
      </p:sp>
      <p:sp>
        <p:nvSpPr>
          <p:cNvPr id="6" name="card-Biểu diễn text-to-text">
            <a:extLst>
              <a:ext uri="{FF2B5EF4-FFF2-40B4-BE49-F238E27FC236}">
                <a16:creationId xmlns:a16="http://schemas.microsoft.com/office/drawing/2014/main" id="{FF4C4D5C-1B6B-493A-B98E-6F40CA193692}"/>
              </a:ext>
            </a:extLst>
          </p:cNvPr>
          <p:cNvSpPr>
            <a:spLocks noGrp="1"/>
          </p:cNvSpPr>
          <p:nvPr/>
        </p:nvSpPr>
        <p:spPr>
          <a:xfrm>
            <a:off x="533400" y="1428750"/>
            <a:ext cx="3886200" cy="4333875"/>
          </a:xfrm>
          <a:prstGeom prst="roundRect">
            <a:avLst>
              <a:gd name="adj" fmla="val 3431"/>
            </a:avLst>
          </a:prstGeom>
          <a:noFill/>
          <a:ln w="11430">
            <a:solidFill>
              <a:srgbClr val="E2D6D6"/>
            </a:solidFill>
            <a:prstDash val="solid"/>
          </a:ln>
        </p:spPr>
        <p:txBody>
          <a:bodyPr/>
          <a:lstStyle/>
          <a:p>
            <a:endParaRPr lang="en-VN"/>
          </a:p>
        </p:txBody>
      </p:sp>
      <p:sp>
        <p:nvSpPr>
          <p:cNvPr id="7" name="eyebrow-Biểu diễn text-to-text">
            <a:extLst>
              <a:ext uri="{FF2B5EF4-FFF2-40B4-BE49-F238E27FC236}">
                <a16:creationId xmlns:a16="http://schemas.microsoft.com/office/drawing/2014/main" id="{968EA6AD-A3DF-46A7-9D6D-71086E9AE8B7}"/>
              </a:ext>
            </a:extLst>
          </p:cNvPr>
          <p:cNvSpPr>
            <a:spLocks noGrp="1"/>
          </p:cNvSpPr>
          <p:nvPr/>
        </p:nvSpPr>
        <p:spPr>
          <a:xfrm>
            <a:off x="723900" y="1581150"/>
            <a:ext cx="3505200" cy="2286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BIỂU DIỄN TEXT-TO-TEXT</a:t>
            </a:r>
          </a:p>
        </p:txBody>
      </p:sp>
      <p:sp>
        <p:nvSpPr>
          <p:cNvPr id="8" name="headline-Biểu diễn text-to-text">
            <a:extLst>
              <a:ext uri="{FF2B5EF4-FFF2-40B4-BE49-F238E27FC236}">
                <a16:creationId xmlns:a16="http://schemas.microsoft.com/office/drawing/2014/main" id="{818DC804-BF84-4DA2-A1BE-0C7DF93CB63A}"/>
              </a:ext>
            </a:extLst>
          </p:cNvPr>
          <p:cNvSpPr>
            <a:spLocks noGrp="1"/>
          </p:cNvSpPr>
          <p:nvPr/>
        </p:nvSpPr>
        <p:spPr>
          <a:xfrm>
            <a:off x="723900" y="1885950"/>
            <a:ext cx="350520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Prefix + review → target có cấu trúc</a:t>
            </a:r>
          </a:p>
        </p:txBody>
      </p:sp>
      <p:sp>
        <p:nvSpPr>
          <p:cNvPr id="9" name="body-Biểu diễn text-to-text">
            <a:extLst>
              <a:ext uri="{FF2B5EF4-FFF2-40B4-BE49-F238E27FC236}">
                <a16:creationId xmlns:a16="http://schemas.microsoft.com/office/drawing/2014/main" id="{A53AE666-B233-4CE9-BD0B-2E9710E2D04A}"/>
              </a:ext>
            </a:extLst>
          </p:cNvPr>
          <p:cNvSpPr>
            <a:spLocks noGrp="1"/>
          </p:cNvSpPr>
          <p:nvPr/>
        </p:nvSpPr>
        <p:spPr>
          <a:xfrm>
            <a:off x="723900" y="2609850"/>
            <a:ext cx="3505200" cy="2981325"/>
          </a:xfrm>
          <a:prstGeom prst="rect">
            <a:avLst/>
          </a:prstGeom>
          <a:noFill/>
          <a:ln w="0">
            <a:noFill/>
            <a:prstDash val="solid"/>
          </a:ln>
        </p:spPr>
        <p:txBody>
          <a:bodyPr lIns="91440" tIns="45720" rIns="91440" bIns="45720" anchor="t"/>
          <a:lstStyle/>
          <a:p>
            <a:pPr>
              <a:defRPr sz="1275">
                <a:solidFill>
                  <a:srgbClr val="666666"/>
                </a:solidFill>
                <a:latin typeface="Lato"/>
                <a:ea typeface="Lato"/>
                <a:cs typeface="Lato"/>
              </a:defRPr>
            </a:pPr>
            <a:r>
              <a:rPr sz="1275" dirty="0">
                <a:solidFill>
                  <a:srgbClr val="666666"/>
                </a:solidFill>
                <a:latin typeface="Lato"/>
                <a:ea typeface="Lato"/>
                <a:cs typeface="Lato"/>
              </a:rPr>
              <a:t>INPUT</a:t>
            </a:r>
          </a:p>
          <a:p>
            <a:pPr>
              <a:defRPr sz="1275">
                <a:solidFill>
                  <a:srgbClr val="666666"/>
                </a:solidFill>
                <a:latin typeface="Lato"/>
                <a:ea typeface="Lato"/>
                <a:cs typeface="Lato"/>
              </a:defRPr>
            </a:pPr>
            <a:r>
              <a:rPr sz="1275" dirty="0">
                <a:solidFill>
                  <a:srgbClr val="666666"/>
                </a:solidFill>
                <a:latin typeface="Lato"/>
                <a:ea typeface="Lato"/>
                <a:cs typeface="Lato"/>
              </a:rPr>
              <a:t>extract aspect sentiment triplets:</a:t>
            </a:r>
          </a:p>
          <a:p>
            <a:pPr>
              <a:defRPr sz="1275">
                <a:solidFill>
                  <a:srgbClr val="666666"/>
                </a:solidFill>
                <a:latin typeface="Lato"/>
                <a:ea typeface="Lato"/>
                <a:cs typeface="Lato"/>
              </a:defRPr>
            </a:pPr>
            <a:r>
              <a:rPr lang="vi-VN" sz="1250" dirty="0">
                <a:solidFill>
                  <a:srgbClr val="666666"/>
                </a:solidFill>
                <a:latin typeface="Lato"/>
                <a:ea typeface="Lato"/>
                <a:cs typeface="Lato"/>
              </a:rPr>
              <a:t>The pizza was delicious but the service was slow.</a:t>
            </a:r>
          </a:p>
          <a:p>
            <a:endParaRPr sz="1275" dirty="0">
              <a:solidFill>
                <a:srgbClr val="666666"/>
              </a:solidFill>
              <a:latin typeface="Lato"/>
              <a:ea typeface="Lato"/>
              <a:cs typeface="Lato"/>
            </a:endParaRPr>
          </a:p>
          <a:p>
            <a:pPr>
              <a:defRPr sz="1275">
                <a:solidFill>
                  <a:srgbClr val="666666"/>
                </a:solidFill>
                <a:latin typeface="Lato"/>
                <a:ea typeface="Lato"/>
                <a:cs typeface="Lato"/>
              </a:defRPr>
            </a:pPr>
            <a:r>
              <a:rPr sz="1275" dirty="0">
                <a:solidFill>
                  <a:srgbClr val="666666"/>
                </a:solidFill>
                <a:latin typeface="Lato"/>
                <a:ea typeface="Lato"/>
                <a:cs typeface="Lato"/>
              </a:rPr>
              <a:t>TARGET</a:t>
            </a:r>
          </a:p>
          <a:p>
            <a:pPr>
              <a:defRPr sz="1275">
                <a:solidFill>
                  <a:srgbClr val="666666"/>
                </a:solidFill>
                <a:latin typeface="Lato"/>
                <a:ea typeface="Lato"/>
                <a:cs typeface="Lato"/>
              </a:defRPr>
            </a:pPr>
            <a:r>
              <a:rPr lang="vi-VN" sz="1250" dirty="0">
                <a:solidFill>
                  <a:srgbClr val="666666"/>
                </a:solidFill>
                <a:latin typeface="Lato"/>
                <a:ea typeface="Lato"/>
                <a:cs typeface="Lato"/>
              </a:rPr>
              <a:t>aspect: pizza | opinion: delicious | sentiment: positive ; </a:t>
            </a:r>
          </a:p>
          <a:p>
            <a:pPr>
              <a:defRPr sz="1275">
                <a:solidFill>
                  <a:srgbClr val="666666"/>
                </a:solidFill>
                <a:latin typeface="Lato"/>
                <a:ea typeface="Lato"/>
                <a:cs typeface="Lato"/>
              </a:defRPr>
            </a:pPr>
            <a:r>
              <a:rPr lang="vi-VN" sz="1250" dirty="0">
                <a:solidFill>
                  <a:srgbClr val="666666"/>
                </a:solidFill>
                <a:latin typeface="Lato"/>
                <a:ea typeface="Lato"/>
                <a:cs typeface="Lato"/>
              </a:rPr>
              <a:t>aspect: service | opinion: slow | sentiment: negative</a:t>
            </a:r>
            <a:endParaRPr lang="vi-VN" sz="1250" dirty="0"/>
          </a:p>
        </p:txBody>
      </p:sp>
      <p:sp>
        <p:nvSpPr>
          <p:cNvPr id="10" name="card-Đánh giá nghiêm ngặt">
            <a:extLst>
              <a:ext uri="{FF2B5EF4-FFF2-40B4-BE49-F238E27FC236}">
                <a16:creationId xmlns:a16="http://schemas.microsoft.com/office/drawing/2014/main" id="{31829E2E-7BC5-4D2F-9F81-7534768AD531}"/>
              </a:ext>
            </a:extLst>
          </p:cNvPr>
          <p:cNvSpPr>
            <a:spLocks noGrp="1"/>
          </p:cNvSpPr>
          <p:nvPr/>
        </p:nvSpPr>
        <p:spPr>
          <a:xfrm>
            <a:off x="4572000" y="1428750"/>
            <a:ext cx="3886200" cy="2359479"/>
          </a:xfrm>
          <a:prstGeom prst="roundRect">
            <a:avLst>
              <a:gd name="adj" fmla="val 3431"/>
            </a:avLst>
          </a:prstGeom>
          <a:noFill/>
          <a:ln w="11430">
            <a:solidFill>
              <a:srgbClr val="E2D6D6"/>
            </a:solidFill>
            <a:prstDash val="solid"/>
          </a:ln>
        </p:spPr>
        <p:txBody>
          <a:bodyPr/>
          <a:lstStyle/>
          <a:p>
            <a:endParaRPr lang="en-VN"/>
          </a:p>
        </p:txBody>
      </p:sp>
      <p:sp>
        <p:nvSpPr>
          <p:cNvPr id="11" name="eyebrow-Đánh giá nghiêm ngặt">
            <a:extLst>
              <a:ext uri="{FF2B5EF4-FFF2-40B4-BE49-F238E27FC236}">
                <a16:creationId xmlns:a16="http://schemas.microsoft.com/office/drawing/2014/main" id="{D7C522AB-2E72-4861-8B44-9D4AA18EA1B1}"/>
              </a:ext>
            </a:extLst>
          </p:cNvPr>
          <p:cNvSpPr>
            <a:spLocks noGrp="1"/>
          </p:cNvSpPr>
          <p:nvPr/>
        </p:nvSpPr>
        <p:spPr>
          <a:xfrm>
            <a:off x="4762500" y="1581150"/>
            <a:ext cx="3505200" cy="228600"/>
          </a:xfrm>
          <a:prstGeom prst="rect">
            <a:avLst/>
          </a:prstGeom>
          <a:noFill/>
          <a:ln w="0">
            <a:noFill/>
            <a:prstDash val="solid"/>
          </a:ln>
        </p:spPr>
        <p:txBody>
          <a:bodyPr anchor="ctr"/>
          <a:lstStyle/>
          <a:p>
            <a:pPr>
              <a:defRPr sz="975" b="1">
                <a:solidFill>
                  <a:srgbClr val="E8A000"/>
                </a:solidFill>
                <a:latin typeface="Lato"/>
                <a:ea typeface="Lato"/>
                <a:cs typeface="Lato"/>
              </a:defRPr>
            </a:pPr>
            <a:r>
              <a:rPr sz="975" b="1" dirty="0">
                <a:solidFill>
                  <a:srgbClr val="E8A000"/>
                </a:solidFill>
                <a:latin typeface="Lato"/>
                <a:ea typeface="Lato"/>
                <a:cs typeface="Lato"/>
              </a:rPr>
              <a:t>ĐÁNH GIÁ</a:t>
            </a:r>
          </a:p>
        </p:txBody>
      </p:sp>
      <p:sp>
        <p:nvSpPr>
          <p:cNvPr id="12" name="headline-Đánh giá nghiêm ngặt">
            <a:extLst>
              <a:ext uri="{FF2B5EF4-FFF2-40B4-BE49-F238E27FC236}">
                <a16:creationId xmlns:a16="http://schemas.microsoft.com/office/drawing/2014/main" id="{568DC933-FB81-483A-8415-2B2543E68751}"/>
              </a:ext>
            </a:extLst>
          </p:cNvPr>
          <p:cNvSpPr>
            <a:spLocks noGrp="1"/>
          </p:cNvSpPr>
          <p:nvPr/>
        </p:nvSpPr>
        <p:spPr>
          <a:xfrm>
            <a:off x="4762500" y="1885950"/>
            <a:ext cx="350520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Cả ba trường phải khớp</a:t>
            </a:r>
          </a:p>
        </p:txBody>
      </p:sp>
      <p:sp>
        <p:nvSpPr>
          <p:cNvPr id="13" name="body-Đánh giá nghiêm ngặt">
            <a:extLst>
              <a:ext uri="{FF2B5EF4-FFF2-40B4-BE49-F238E27FC236}">
                <a16:creationId xmlns:a16="http://schemas.microsoft.com/office/drawing/2014/main" id="{5C055C37-EF64-4538-9E1C-BF041EDD230C}"/>
              </a:ext>
            </a:extLst>
          </p:cNvPr>
          <p:cNvSpPr>
            <a:spLocks noGrp="1"/>
          </p:cNvSpPr>
          <p:nvPr/>
        </p:nvSpPr>
        <p:spPr>
          <a:xfrm>
            <a:off x="4762500" y="2449966"/>
            <a:ext cx="3505200" cy="1338263"/>
          </a:xfrm>
          <a:prstGeom prst="rect">
            <a:avLst/>
          </a:prstGeom>
          <a:noFill/>
          <a:ln w="0">
            <a:noFill/>
            <a:prstDash val="solid"/>
          </a:ln>
        </p:spPr>
        <p:txBody>
          <a:bodyPr lIns="91440" tIns="45720" rIns="91440" bIns="45720" anchor="t"/>
          <a:lstStyle/>
          <a:p>
            <a:pPr>
              <a:defRPr sz="1275">
                <a:solidFill>
                  <a:srgbClr val="666666"/>
                </a:solidFill>
                <a:latin typeface="Lato"/>
                <a:ea typeface="Lato"/>
                <a:cs typeface="Lato"/>
              </a:defRPr>
            </a:pPr>
            <a:r>
              <a:rPr lang="vi-VN" sz="1250" dirty="0">
                <a:solidFill>
                  <a:srgbClr val="666666"/>
                </a:solidFill>
                <a:latin typeface="Lato"/>
                <a:ea typeface="Lato"/>
                <a:cs typeface="Lato"/>
              </a:rPr>
              <a:t>Chuỗi sinh ra được parse bằng regex và chuẩn hóa chữ thường. Một triplet chỉ đúng khi aspect, opinion và sentiment đều trùng gold.</a:t>
            </a:r>
          </a:p>
          <a:p>
            <a:endParaRPr sz="1275" dirty="0">
              <a:solidFill>
                <a:srgbClr val="666666"/>
              </a:solidFill>
              <a:latin typeface="Lato"/>
              <a:ea typeface="Lato"/>
              <a:cs typeface="Lato"/>
            </a:endParaRPr>
          </a:p>
          <a:p>
            <a:pPr>
              <a:defRPr sz="1275">
                <a:solidFill>
                  <a:srgbClr val="666666"/>
                </a:solidFill>
                <a:latin typeface="Lato"/>
                <a:ea typeface="Lato"/>
                <a:cs typeface="Lato"/>
              </a:defRPr>
            </a:pPr>
            <a:r>
              <a:rPr lang="vi-VN" sz="1250" dirty="0">
                <a:solidFill>
                  <a:srgbClr val="666666"/>
                </a:solidFill>
                <a:latin typeface="Lato"/>
                <a:ea typeface="Lato"/>
                <a:cs typeface="Lato"/>
              </a:rPr>
              <a:t>Precision/Recall/F1 được tính micro-average trên toàn bộ tập test.</a:t>
            </a:r>
          </a:p>
          <a:p>
            <a:endParaRPr sz="1275" dirty="0">
              <a:solidFill>
                <a:srgbClr val="666666"/>
              </a:solidFill>
              <a:latin typeface="Lato"/>
              <a:ea typeface="Lato"/>
              <a:cs typeface="Lato"/>
            </a:endParaRPr>
          </a:p>
        </p:txBody>
      </p:sp>
      <p:sp>
        <p:nvSpPr>
          <p:cNvPr id="4" name="TextBox 3">
            <a:extLst>
              <a:ext uri="{FF2B5EF4-FFF2-40B4-BE49-F238E27FC236}">
                <a16:creationId xmlns:a16="http://schemas.microsoft.com/office/drawing/2014/main" id="{02883119-A387-C8CD-8EAB-265365CA4D97}"/>
              </a:ext>
            </a:extLst>
          </p:cNvPr>
          <p:cNvSpPr txBox="1"/>
          <p:nvPr/>
        </p:nvSpPr>
        <p:spPr>
          <a:xfrm>
            <a:off x="4762500" y="4281519"/>
            <a:ext cx="3657600" cy="1258037"/>
          </a:xfrm>
          <a:prstGeom prst="rect">
            <a:avLst/>
          </a:prstGeom>
          <a:noFill/>
        </p:spPr>
        <p:txBody>
          <a:bodyPr wrap="square">
            <a:spAutoFit/>
          </a:bodyPr>
          <a:lstStyle/>
          <a:p>
            <a:pPr>
              <a:defRPr sz="1275">
                <a:solidFill>
                  <a:srgbClr val="666666"/>
                </a:solidFill>
                <a:latin typeface="Lato"/>
                <a:ea typeface="Lato"/>
                <a:cs typeface="Lato"/>
              </a:defRPr>
            </a:pPr>
            <a:r>
              <a:rPr lang="vi-VN" sz="1250" dirty="0">
                <a:solidFill>
                  <a:srgbClr val="666666"/>
                </a:solidFill>
                <a:latin typeface="Lato"/>
                <a:ea typeface="Lato"/>
                <a:cs typeface="Lato"/>
              </a:rPr>
              <a:t>Thiết lập chung: </a:t>
            </a:r>
          </a:p>
          <a:p>
            <a:pPr>
              <a:defRPr sz="1275">
                <a:solidFill>
                  <a:srgbClr val="666666"/>
                </a:solidFill>
                <a:latin typeface="Lato"/>
                <a:ea typeface="Lato"/>
                <a:cs typeface="Lato"/>
              </a:defRPr>
            </a:pPr>
            <a:r>
              <a:rPr lang="vi-VN" sz="1300" dirty="0">
                <a:solidFill>
                  <a:srgbClr val="666666"/>
                </a:solidFill>
                <a:latin typeface="Lato"/>
                <a:ea typeface="Lato"/>
                <a:cs typeface="Lato"/>
              </a:rPr>
              <a:t>• </a:t>
            </a:r>
            <a:r>
              <a:rPr lang="vi-VN" sz="1250" dirty="0">
                <a:solidFill>
                  <a:srgbClr val="666666"/>
                </a:solidFill>
                <a:latin typeface="Lato"/>
                <a:ea typeface="Lato"/>
                <a:cs typeface="Lato"/>
              </a:rPr>
              <a:t>20 epoch </a:t>
            </a:r>
            <a:endParaRPr lang="vi-VN" sz="1275" dirty="0">
              <a:solidFill>
                <a:srgbClr val="666666"/>
              </a:solidFill>
              <a:latin typeface="Lato"/>
              <a:ea typeface="Lato"/>
              <a:cs typeface="Lato"/>
            </a:endParaRPr>
          </a:p>
          <a:p>
            <a:pPr>
              <a:defRPr sz="1275">
                <a:solidFill>
                  <a:srgbClr val="666666"/>
                </a:solidFill>
                <a:latin typeface="Lato"/>
                <a:ea typeface="Lato"/>
                <a:cs typeface="Lato"/>
              </a:defRPr>
            </a:pPr>
            <a:r>
              <a:rPr lang="vi-VN" sz="1250" dirty="0">
                <a:solidFill>
                  <a:srgbClr val="666666"/>
                </a:solidFill>
                <a:latin typeface="Lato"/>
                <a:ea typeface="Lato"/>
                <a:cs typeface="Lato"/>
              </a:rPr>
              <a:t>• lr=3e-4 </a:t>
            </a:r>
          </a:p>
          <a:p>
            <a:pPr>
              <a:defRPr sz="1275">
                <a:solidFill>
                  <a:srgbClr val="666666"/>
                </a:solidFill>
                <a:latin typeface="Lato"/>
                <a:ea typeface="Lato"/>
                <a:cs typeface="Lato"/>
              </a:defRPr>
            </a:pPr>
            <a:r>
              <a:rPr lang="vi-VN" sz="1250" dirty="0">
                <a:solidFill>
                  <a:srgbClr val="666666"/>
                </a:solidFill>
                <a:latin typeface="Lato"/>
                <a:ea typeface="Lato"/>
                <a:cs typeface="Lato"/>
              </a:rPr>
              <a:t>• effective batch size=16</a:t>
            </a:r>
          </a:p>
          <a:p>
            <a:pPr>
              <a:defRPr sz="1275">
                <a:solidFill>
                  <a:srgbClr val="666666"/>
                </a:solidFill>
                <a:latin typeface="Lato"/>
                <a:ea typeface="Lato"/>
                <a:cs typeface="Lato"/>
              </a:defRPr>
            </a:pPr>
            <a:endParaRPr lang="vi-VN" sz="1250" dirty="0">
              <a:solidFill>
                <a:srgbClr val="666666"/>
              </a:solidFill>
              <a:latin typeface="Lato"/>
              <a:ea typeface="Lato"/>
              <a:cs typeface="Lato"/>
            </a:endParaRPr>
          </a:p>
          <a:p>
            <a:pPr>
              <a:defRPr sz="1275">
                <a:solidFill>
                  <a:srgbClr val="666666"/>
                </a:solidFill>
                <a:latin typeface="Lato"/>
                <a:ea typeface="Lato"/>
                <a:cs typeface="Lato"/>
              </a:defRPr>
            </a:pPr>
            <a:r>
              <a:rPr lang="vi-VN" sz="1250" dirty="0">
                <a:solidFill>
                  <a:srgbClr val="666666"/>
                </a:solidFill>
                <a:latin typeface="Lato"/>
                <a:ea typeface="Lato"/>
                <a:cs typeface="Lato"/>
              </a:rPr>
              <a:t>Môi trường: Kaggle</a:t>
            </a:r>
            <a:endParaRPr lang="en-VN" dirty="0"/>
          </a:p>
        </p:txBody>
      </p:sp>
      <p:sp>
        <p:nvSpPr>
          <p:cNvPr id="14" name="card-Đánh giá nghiêm ngặt">
            <a:extLst>
              <a:ext uri="{FF2B5EF4-FFF2-40B4-BE49-F238E27FC236}">
                <a16:creationId xmlns:a16="http://schemas.microsoft.com/office/drawing/2014/main" id="{B28DE8FE-2079-6C18-CE3D-925EAF817CF5}"/>
              </a:ext>
            </a:extLst>
          </p:cNvPr>
          <p:cNvSpPr>
            <a:spLocks noGrp="1"/>
          </p:cNvSpPr>
          <p:nvPr/>
        </p:nvSpPr>
        <p:spPr>
          <a:xfrm>
            <a:off x="4610100" y="3864430"/>
            <a:ext cx="3886200" cy="1898196"/>
          </a:xfrm>
          <a:prstGeom prst="roundRect">
            <a:avLst>
              <a:gd name="adj" fmla="val 3431"/>
            </a:avLst>
          </a:prstGeom>
          <a:noFill/>
          <a:ln w="11430">
            <a:solidFill>
              <a:srgbClr val="E2D6D6"/>
            </a:solidFill>
            <a:prstDash val="solid"/>
          </a:ln>
        </p:spPr>
        <p:txBody>
          <a:bodyPr/>
          <a:lstStyle/>
          <a:p>
            <a:endParaRPr lang="en-VN"/>
          </a:p>
        </p:txBody>
      </p:sp>
      <p:sp>
        <p:nvSpPr>
          <p:cNvPr id="15" name="eyebrow-Đánh giá nghiêm ngặt">
            <a:extLst>
              <a:ext uri="{FF2B5EF4-FFF2-40B4-BE49-F238E27FC236}">
                <a16:creationId xmlns:a16="http://schemas.microsoft.com/office/drawing/2014/main" id="{FD17D84D-99AC-E2FC-B39B-74EF6A1C0A51}"/>
              </a:ext>
            </a:extLst>
          </p:cNvPr>
          <p:cNvSpPr>
            <a:spLocks noGrp="1"/>
          </p:cNvSpPr>
          <p:nvPr/>
        </p:nvSpPr>
        <p:spPr>
          <a:xfrm>
            <a:off x="4800600" y="4007659"/>
            <a:ext cx="3505200" cy="228600"/>
          </a:xfrm>
          <a:prstGeom prst="rect">
            <a:avLst/>
          </a:prstGeom>
          <a:noFill/>
          <a:ln w="0">
            <a:noFill/>
            <a:prstDash val="solid"/>
          </a:ln>
        </p:spPr>
        <p:txBody>
          <a:bodyPr anchor="ctr"/>
          <a:lstStyle/>
          <a:p>
            <a:pPr>
              <a:defRPr sz="975" b="1">
                <a:solidFill>
                  <a:srgbClr val="E8A000"/>
                </a:solidFill>
                <a:latin typeface="Lato"/>
                <a:ea typeface="Lato"/>
                <a:cs typeface="Lato"/>
              </a:defRPr>
            </a:pPr>
            <a:r>
              <a:rPr lang="en-US" sz="975" b="1" dirty="0">
                <a:solidFill>
                  <a:srgbClr val="E8A000"/>
                </a:solidFill>
                <a:latin typeface="Lato"/>
                <a:ea typeface="Lato"/>
                <a:cs typeface="Lato"/>
              </a:rPr>
              <a:t>CẤU HÌNH</a:t>
            </a:r>
            <a:endParaRPr sz="975" b="1" dirty="0">
              <a:solidFill>
                <a:srgbClr val="E8A000"/>
              </a:solidFill>
              <a:latin typeface="Lato"/>
              <a:ea typeface="Lato"/>
              <a:cs typeface="Lato"/>
            </a:endParaRPr>
          </a:p>
        </p:txBody>
      </p:sp>
    </p:spTree>
    <p:extLst>
      <p:ext uri="{BB962C8B-B14F-4D97-AF65-F5344CB8AC3E}">
        <p14:creationId xmlns:p14="http://schemas.microsoft.com/office/powerpoint/2010/main" val="3564665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595A2D-EB3F-8CFA-3E84-CAE3800988B2}"/>
              </a:ext>
            </a:extLst>
          </p:cNvPr>
          <p:cNvSpPr>
            <a:spLocks noGrp="1"/>
          </p:cNvSpPr>
          <p:nvPr>
            <p:ph type="sldNum" idx="12"/>
          </p:nvPr>
        </p:nvSpPr>
        <p:spPr/>
        <p:txBody>
          <a:bodyPr/>
          <a:lstStyle/>
          <a:p>
            <a:fld id="{9EA0BE3B-158A-4EDF-80DC-E394A0D1600F}" type="slidenum">
              <a:rPr lang="en-VN" smtClean="0"/>
              <a:t>10</a:t>
            </a:fld>
            <a:endParaRPr lang="en-VN"/>
          </a:p>
        </p:txBody>
      </p:sp>
      <p:sp>
        <p:nvSpPr>
          <p:cNvPr id="5" name="Title 4">
            <a:extLst>
              <a:ext uri="{FF2B5EF4-FFF2-40B4-BE49-F238E27FC236}">
                <a16:creationId xmlns:a16="http://schemas.microsoft.com/office/drawing/2014/main" id="{F1B5B14B-E5D3-2154-4ECD-91E88E1600EC}"/>
              </a:ext>
            </a:extLst>
          </p:cNvPr>
          <p:cNvSpPr>
            <a:spLocks noGrp="1"/>
          </p:cNvSpPr>
          <p:nvPr>
            <p:ph type="title"/>
          </p:nvPr>
        </p:nvSpPr>
        <p:spPr/>
        <p:txBody>
          <a:bodyPr/>
          <a:lstStyle/>
          <a:p>
            <a:r>
              <a:rPr lang="vi-VN" dirty="0"/>
              <a:t>6. Kết quả ASTE — So sánh mô hình</a:t>
            </a:r>
            <a:endParaRPr lang="en-VN" dirty="0"/>
          </a:p>
        </p:txBody>
      </p:sp>
      <p:sp>
        <p:nvSpPr>
          <p:cNvPr id="6" name="Text Placeholder 5">
            <a:extLst>
              <a:ext uri="{FF2B5EF4-FFF2-40B4-BE49-F238E27FC236}">
                <a16:creationId xmlns:a16="http://schemas.microsoft.com/office/drawing/2014/main" id="{5A61228A-62D3-375B-9C31-75AA30555C70}"/>
              </a:ext>
            </a:extLst>
          </p:cNvPr>
          <p:cNvSpPr>
            <a:spLocks noGrp="1"/>
          </p:cNvSpPr>
          <p:nvPr>
            <p:ph type="body" idx="13"/>
          </p:nvPr>
        </p:nvSpPr>
        <p:spPr/>
        <p:txBody>
          <a:bodyPr/>
          <a:lstStyle/>
          <a:p>
            <a:r>
              <a:rPr lang="en-VN" sz="2000" dirty="0"/>
              <a:t>So sánh kết quả finetune</a:t>
            </a:r>
          </a:p>
          <a:p>
            <a:endParaRPr lang="en-VN" sz="2000" dirty="0"/>
          </a:p>
          <a:p>
            <a:endParaRPr lang="en-VN" sz="2000" dirty="0"/>
          </a:p>
          <a:p>
            <a:endParaRPr lang="en-VN" sz="2000" dirty="0"/>
          </a:p>
          <a:p>
            <a:endParaRPr lang="en-VN" sz="2000" dirty="0"/>
          </a:p>
          <a:p>
            <a:endParaRPr lang="en-VN" sz="2000" dirty="0"/>
          </a:p>
          <a:p>
            <a:r>
              <a:rPr lang="en-VN" sz="2000" dirty="0"/>
              <a:t>=&gt; Chọn T5-base cho ASTE</a:t>
            </a:r>
          </a:p>
        </p:txBody>
      </p:sp>
      <p:graphicFrame>
        <p:nvGraphicFramePr>
          <p:cNvPr id="7" name="Table 6">
            <a:extLst>
              <a:ext uri="{FF2B5EF4-FFF2-40B4-BE49-F238E27FC236}">
                <a16:creationId xmlns:a16="http://schemas.microsoft.com/office/drawing/2014/main" id="{826ED9DA-71AA-E22E-CE9D-5BA3C4F27A4D}"/>
              </a:ext>
            </a:extLst>
          </p:cNvPr>
          <p:cNvGraphicFramePr>
            <a:graphicFrameLocks noGrp="1"/>
          </p:cNvGraphicFramePr>
          <p:nvPr>
            <p:extLst>
              <p:ext uri="{D42A27DB-BD31-4B8C-83A1-F6EECF244321}">
                <p14:modId xmlns:p14="http://schemas.microsoft.com/office/powerpoint/2010/main" val="2744577037"/>
              </p:ext>
            </p:extLst>
          </p:nvPr>
        </p:nvGraphicFramePr>
        <p:xfrm>
          <a:off x="522514" y="1771468"/>
          <a:ext cx="7870372" cy="1483360"/>
        </p:xfrm>
        <a:graphic>
          <a:graphicData uri="http://schemas.openxmlformats.org/drawingml/2006/table">
            <a:tbl>
              <a:tblPr firstRow="1" bandRow="1">
                <a:tableStyleId>{2D5ABB26-0587-4C30-8999-92F81FD0307C}</a:tableStyleId>
              </a:tblPr>
              <a:tblGrid>
                <a:gridCol w="1752601">
                  <a:extLst>
                    <a:ext uri="{9D8B030D-6E8A-4147-A177-3AD203B41FA5}">
                      <a16:colId xmlns:a16="http://schemas.microsoft.com/office/drawing/2014/main" val="2951127546"/>
                    </a:ext>
                  </a:extLst>
                </a:gridCol>
                <a:gridCol w="2182585">
                  <a:extLst>
                    <a:ext uri="{9D8B030D-6E8A-4147-A177-3AD203B41FA5}">
                      <a16:colId xmlns:a16="http://schemas.microsoft.com/office/drawing/2014/main" val="2835234279"/>
                    </a:ext>
                  </a:extLst>
                </a:gridCol>
                <a:gridCol w="1967593">
                  <a:extLst>
                    <a:ext uri="{9D8B030D-6E8A-4147-A177-3AD203B41FA5}">
                      <a16:colId xmlns:a16="http://schemas.microsoft.com/office/drawing/2014/main" val="1682135932"/>
                    </a:ext>
                  </a:extLst>
                </a:gridCol>
                <a:gridCol w="1967593">
                  <a:extLst>
                    <a:ext uri="{9D8B030D-6E8A-4147-A177-3AD203B41FA5}">
                      <a16:colId xmlns:a16="http://schemas.microsoft.com/office/drawing/2014/main" val="2775925983"/>
                    </a:ext>
                  </a:extLst>
                </a:gridCol>
              </a:tblGrid>
              <a:tr h="370840">
                <a:tc>
                  <a:txBody>
                    <a:bodyPr/>
                    <a:lstStyle/>
                    <a:p>
                      <a:r>
                        <a:rPr lang="en-VN" b="1"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b="1" dirty="0"/>
                        <a:t>Triple-F1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b="1" dirty="0"/>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b="1" dirty="0"/>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8792113"/>
                  </a:ext>
                </a:extLst>
              </a:tr>
              <a:tr h="370840">
                <a:tc>
                  <a:txBody>
                    <a:bodyPr/>
                    <a:lstStyle/>
                    <a:p>
                      <a:r>
                        <a:rPr lang="en-VN" dirty="0"/>
                        <a:t>T5-small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0.7240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0.7238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0.7243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9058721"/>
                  </a:ext>
                </a:extLst>
              </a:tr>
              <a:tr h="370840">
                <a:tc>
                  <a:txBody>
                    <a:bodyPr/>
                    <a:lstStyle/>
                    <a:p>
                      <a:r>
                        <a:rPr lang="en-US" dirty="0"/>
                        <a:t>T5-base</a:t>
                      </a:r>
                      <a:endParaRPr lang="en-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0.7442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0.7609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0.7282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042038"/>
                  </a:ext>
                </a:extLst>
              </a:tr>
              <a:tr h="370840">
                <a:tc>
                  <a:txBody>
                    <a:bodyPr/>
                    <a:lstStyle/>
                    <a:p>
                      <a:r>
                        <a:rPr lang="en-US" dirty="0"/>
                        <a:t>FLAN-T5-base</a:t>
                      </a:r>
                      <a:endParaRPr lang="en-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0.5898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0.5910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VN" dirty="0"/>
                        <a:t> 0.5887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1156449"/>
                  </a:ext>
                </a:extLst>
              </a:tr>
            </a:tbl>
          </a:graphicData>
        </a:graphic>
      </p:graphicFrame>
    </p:spTree>
    <p:extLst>
      <p:ext uri="{BB962C8B-B14F-4D97-AF65-F5344CB8AC3E}">
        <p14:creationId xmlns:p14="http://schemas.microsoft.com/office/powerpoint/2010/main" val="3755393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lIns="91440" tIns="45720" rIns="91440" bIns="45720" anchor="t"/>
          <a:lstStyle/>
          <a:p>
            <a:r>
              <a:rPr lang="vi-VN" dirty="0"/>
              <a:t>7</a:t>
            </a:r>
            <a:r>
              <a:rPr dirty="0"/>
              <a:t>. </a:t>
            </a:r>
            <a:r>
              <a:rPr dirty="0" err="1"/>
              <a:t>Tổng</a:t>
            </a:r>
            <a:r>
              <a:rPr dirty="0"/>
              <a:t> </a:t>
            </a:r>
            <a:r>
              <a:rPr dirty="0" err="1"/>
              <a:t>hợp</a:t>
            </a:r>
            <a:r>
              <a:rPr dirty="0"/>
              <a:t> aspect &amp; reason</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idx="12"/>
          </p:nvPr>
        </p:nvSpPr>
        <p:spPr>
          <a:xfrm>
            <a:off x="6867430" y="6491288"/>
            <a:ext cx="2057400" cy="361950"/>
          </a:xfrm>
        </p:spPr>
        <p:txBody>
          <a:bodyPr/>
          <a:lstStyle/>
          <a:p>
            <a:fld id="{BA58DA2A-B818-18A9-29C1-B697728D5BCE}" type="slidenum">
              <a:rPr/>
              <a:t>11</a:t>
            </a:fld>
            <a:endParaRPr/>
          </a:p>
        </p:txBody>
      </p:sp>
      <p:sp>
        <p:nvSpPr>
          <p:cNvPr id="9" name="card-Aspect: food">
            <a:extLst>
              <a:ext uri="{FF2B5EF4-FFF2-40B4-BE49-F238E27FC236}">
                <a16:creationId xmlns:a16="http://schemas.microsoft.com/office/drawing/2014/main" id="{8A511AC0-9AF5-4754-9FC2-790BCAEEF2EB}"/>
              </a:ext>
            </a:extLst>
          </p:cNvPr>
          <p:cNvSpPr>
            <a:spLocks noGrp="1"/>
          </p:cNvSpPr>
          <p:nvPr/>
        </p:nvSpPr>
        <p:spPr>
          <a:xfrm>
            <a:off x="2416626" y="4351075"/>
            <a:ext cx="4724401" cy="1911954"/>
          </a:xfrm>
          <a:prstGeom prst="roundRect">
            <a:avLst>
              <a:gd name="adj" fmla="val 5091"/>
            </a:avLst>
          </a:prstGeom>
          <a:noFill/>
          <a:ln w="11430">
            <a:solidFill>
              <a:srgbClr val="E2D6D6"/>
            </a:solidFill>
            <a:prstDash val="solid"/>
          </a:ln>
        </p:spPr>
        <p:txBody>
          <a:bodyPr/>
          <a:lstStyle/>
          <a:p>
            <a:endParaRPr lang="en-VN"/>
          </a:p>
        </p:txBody>
      </p:sp>
      <p:sp>
        <p:nvSpPr>
          <p:cNvPr id="10" name="eyebrow-Aspect: food">
            <a:extLst>
              <a:ext uri="{FF2B5EF4-FFF2-40B4-BE49-F238E27FC236}">
                <a16:creationId xmlns:a16="http://schemas.microsoft.com/office/drawing/2014/main" id="{A11C2450-6023-4DCC-A1EE-54516D7AD179}"/>
              </a:ext>
            </a:extLst>
          </p:cNvPr>
          <p:cNvSpPr>
            <a:spLocks noGrp="1"/>
          </p:cNvSpPr>
          <p:nvPr/>
        </p:nvSpPr>
        <p:spPr>
          <a:xfrm>
            <a:off x="2586531" y="4474467"/>
            <a:ext cx="4261225" cy="200752"/>
          </a:xfrm>
          <a:prstGeom prst="rect">
            <a:avLst/>
          </a:prstGeom>
          <a:noFill/>
          <a:ln w="0">
            <a:noFill/>
            <a:prstDash val="solid"/>
          </a:ln>
        </p:spPr>
        <p:txBody>
          <a:bodyPr anchor="ctr"/>
          <a:lstStyle/>
          <a:p>
            <a:pPr>
              <a:defRPr sz="975" b="1">
                <a:solidFill>
                  <a:srgbClr val="C00000"/>
                </a:solidFill>
                <a:latin typeface="Lato"/>
                <a:ea typeface="Lato"/>
                <a:cs typeface="Lato"/>
              </a:defRPr>
            </a:pPr>
            <a:r>
              <a:rPr lang="en-US" sz="1050" b="1" dirty="0">
                <a:solidFill>
                  <a:srgbClr val="C00000"/>
                </a:solidFill>
                <a:latin typeface="Lato"/>
                <a:ea typeface="Lato"/>
                <a:cs typeface="Lato"/>
              </a:rPr>
              <a:t>KẾT QUẢ: </a:t>
            </a:r>
            <a:r>
              <a:rPr sz="1050" b="1" dirty="0">
                <a:solidFill>
                  <a:srgbClr val="C00000"/>
                </a:solidFill>
                <a:latin typeface="Lato"/>
                <a:ea typeface="Lato"/>
                <a:cs typeface="Lato"/>
              </a:rPr>
              <a:t>ASPECT: FOOD</a:t>
            </a:r>
          </a:p>
        </p:txBody>
      </p:sp>
      <p:sp>
        <p:nvSpPr>
          <p:cNvPr id="11" name="headline-Aspect: food">
            <a:extLst>
              <a:ext uri="{FF2B5EF4-FFF2-40B4-BE49-F238E27FC236}">
                <a16:creationId xmlns:a16="http://schemas.microsoft.com/office/drawing/2014/main" id="{0652B240-0AC2-47CF-AE1E-F9FA70799A12}"/>
              </a:ext>
            </a:extLst>
          </p:cNvPr>
          <p:cNvSpPr>
            <a:spLocks noGrp="1"/>
          </p:cNvSpPr>
          <p:nvPr/>
        </p:nvSpPr>
        <p:spPr>
          <a:xfrm>
            <a:off x="2565935" y="4705121"/>
            <a:ext cx="4261225" cy="568798"/>
          </a:xfrm>
          <a:prstGeom prst="rect">
            <a:avLst/>
          </a:prstGeom>
          <a:noFill/>
          <a:ln w="0">
            <a:noFill/>
            <a:prstDash val="solid"/>
          </a:ln>
        </p:spPr>
        <p:txBody>
          <a:bodyPr anchor="ctr"/>
          <a:lstStyle/>
          <a:p>
            <a:pPr>
              <a:defRPr sz="1800" b="1">
                <a:solidFill>
                  <a:srgbClr val="242424"/>
                </a:solidFill>
                <a:latin typeface="Lato"/>
                <a:ea typeface="Lato"/>
                <a:cs typeface="Lato"/>
              </a:defRPr>
            </a:pPr>
            <a:r>
              <a:rPr sz="1600" b="1" dirty="0">
                <a:solidFill>
                  <a:srgbClr val="242424"/>
                </a:solidFill>
                <a:latin typeface="Lato"/>
                <a:ea typeface="Lato"/>
                <a:cs typeface="Lato"/>
              </a:rPr>
              <a:t>827 </a:t>
            </a:r>
            <a:r>
              <a:rPr sz="1600" b="1" dirty="0" err="1">
                <a:solidFill>
                  <a:srgbClr val="242424"/>
                </a:solidFill>
                <a:latin typeface="Lato"/>
                <a:ea typeface="Lato"/>
                <a:cs typeface="Lato"/>
              </a:rPr>
              <a:t>lượt</a:t>
            </a:r>
            <a:r>
              <a:rPr sz="1600" b="1" dirty="0">
                <a:solidFill>
                  <a:srgbClr val="242424"/>
                </a:solidFill>
                <a:latin typeface="Lato"/>
                <a:ea typeface="Lato"/>
                <a:cs typeface="Lato"/>
              </a:rPr>
              <a:t> </a:t>
            </a:r>
            <a:r>
              <a:rPr sz="1600" b="1" dirty="0" err="1">
                <a:solidFill>
                  <a:srgbClr val="242424"/>
                </a:solidFill>
                <a:latin typeface="Lato"/>
                <a:ea typeface="Lato"/>
                <a:cs typeface="Lato"/>
              </a:rPr>
              <a:t>nhắc</a:t>
            </a:r>
            <a:r>
              <a:rPr sz="1600" b="1" dirty="0">
                <a:solidFill>
                  <a:srgbClr val="242424"/>
                </a:solidFill>
                <a:latin typeface="Lato"/>
                <a:ea typeface="Lato"/>
                <a:cs typeface="Lato"/>
              </a:rPr>
              <a:t> • 621 </a:t>
            </a:r>
            <a:r>
              <a:rPr sz="1600" b="1" dirty="0" err="1">
                <a:solidFill>
                  <a:srgbClr val="242424"/>
                </a:solidFill>
                <a:latin typeface="Lato"/>
                <a:ea typeface="Lato"/>
                <a:cs typeface="Lato"/>
              </a:rPr>
              <a:t>tích</a:t>
            </a:r>
            <a:r>
              <a:rPr sz="1600" b="1" dirty="0">
                <a:solidFill>
                  <a:srgbClr val="242424"/>
                </a:solidFill>
                <a:latin typeface="Lato"/>
                <a:ea typeface="Lato"/>
                <a:cs typeface="Lato"/>
              </a:rPr>
              <a:t> </a:t>
            </a:r>
            <a:r>
              <a:rPr sz="1600" b="1" dirty="0" err="1">
                <a:solidFill>
                  <a:srgbClr val="242424"/>
                </a:solidFill>
                <a:latin typeface="Lato"/>
                <a:ea typeface="Lato"/>
                <a:cs typeface="Lato"/>
              </a:rPr>
              <a:t>cực</a:t>
            </a:r>
            <a:r>
              <a:rPr sz="1600" b="1" dirty="0">
                <a:solidFill>
                  <a:srgbClr val="242424"/>
                </a:solidFill>
                <a:latin typeface="Lato"/>
                <a:ea typeface="Lato"/>
                <a:cs typeface="Lato"/>
              </a:rPr>
              <a:t> • 164 </a:t>
            </a:r>
            <a:r>
              <a:rPr sz="1600" b="1" dirty="0" err="1">
                <a:solidFill>
                  <a:srgbClr val="242424"/>
                </a:solidFill>
                <a:latin typeface="Lato"/>
                <a:ea typeface="Lato"/>
                <a:cs typeface="Lato"/>
              </a:rPr>
              <a:t>tiêu</a:t>
            </a:r>
            <a:r>
              <a:rPr sz="1600" b="1" dirty="0">
                <a:solidFill>
                  <a:srgbClr val="242424"/>
                </a:solidFill>
                <a:latin typeface="Lato"/>
                <a:ea typeface="Lato"/>
                <a:cs typeface="Lato"/>
              </a:rPr>
              <a:t> </a:t>
            </a:r>
            <a:r>
              <a:rPr sz="1600" b="1" dirty="0" err="1">
                <a:solidFill>
                  <a:srgbClr val="242424"/>
                </a:solidFill>
                <a:latin typeface="Lato"/>
                <a:ea typeface="Lato"/>
                <a:cs typeface="Lato"/>
              </a:rPr>
              <a:t>cực</a:t>
            </a:r>
            <a:endParaRPr sz="1600" b="1" dirty="0">
              <a:solidFill>
                <a:srgbClr val="242424"/>
              </a:solidFill>
              <a:latin typeface="Lato"/>
              <a:ea typeface="Lato"/>
              <a:cs typeface="Lato"/>
            </a:endParaRPr>
          </a:p>
        </p:txBody>
      </p:sp>
      <p:sp>
        <p:nvSpPr>
          <p:cNvPr id="12" name="body-Aspect: food">
            <a:extLst>
              <a:ext uri="{FF2B5EF4-FFF2-40B4-BE49-F238E27FC236}">
                <a16:creationId xmlns:a16="http://schemas.microsoft.com/office/drawing/2014/main" id="{953F4505-B3E9-41EB-8641-67C6AF13084A}"/>
              </a:ext>
            </a:extLst>
          </p:cNvPr>
          <p:cNvSpPr>
            <a:spLocks noGrp="1"/>
          </p:cNvSpPr>
          <p:nvPr/>
        </p:nvSpPr>
        <p:spPr>
          <a:xfrm>
            <a:off x="2565935" y="5273919"/>
            <a:ext cx="4261225" cy="1112502"/>
          </a:xfrm>
          <a:prstGeom prst="rect">
            <a:avLst/>
          </a:prstGeom>
          <a:noFill/>
          <a:ln w="0">
            <a:noFill/>
            <a:prstDash val="solid"/>
          </a:ln>
        </p:spPr>
        <p:txBody>
          <a:bodyPr anchor="t"/>
          <a:lstStyle/>
          <a:p>
            <a:pPr>
              <a:defRPr sz="1275">
                <a:solidFill>
                  <a:srgbClr val="666666"/>
                </a:solidFill>
                <a:latin typeface="Lato"/>
                <a:ea typeface="Lato"/>
                <a:cs typeface="Lato"/>
              </a:defRPr>
            </a:pPr>
            <a:r>
              <a:rPr sz="1275" dirty="0">
                <a:solidFill>
                  <a:srgbClr val="666666"/>
                </a:solidFill>
                <a:latin typeface="Lato"/>
                <a:ea typeface="Lato"/>
                <a:cs typeface="Lato"/>
              </a:rPr>
              <a:t>Lý do </a:t>
            </a:r>
            <a:r>
              <a:rPr sz="1275" dirty="0" err="1">
                <a:solidFill>
                  <a:srgbClr val="666666"/>
                </a:solidFill>
                <a:latin typeface="Lato"/>
                <a:ea typeface="Lato"/>
                <a:cs typeface="Lato"/>
              </a:rPr>
              <a:t>tích</a:t>
            </a:r>
            <a:r>
              <a:rPr sz="1275" dirty="0">
                <a:solidFill>
                  <a:srgbClr val="666666"/>
                </a:solidFill>
                <a:latin typeface="Lato"/>
                <a:ea typeface="Lato"/>
                <a:cs typeface="Lato"/>
              </a:rPr>
              <a:t> </a:t>
            </a:r>
            <a:r>
              <a:rPr sz="1275" dirty="0" err="1">
                <a:solidFill>
                  <a:srgbClr val="666666"/>
                </a:solidFill>
                <a:latin typeface="Lato"/>
                <a:ea typeface="Lato"/>
                <a:cs typeface="Lato"/>
              </a:rPr>
              <a:t>cực</a:t>
            </a:r>
            <a:r>
              <a:rPr sz="1275" dirty="0">
                <a:solidFill>
                  <a:srgbClr val="666666"/>
                </a:solidFill>
                <a:latin typeface="Lato"/>
                <a:ea typeface="Lato"/>
                <a:cs typeface="Lato"/>
              </a:rPr>
              <a:t> </a:t>
            </a:r>
            <a:r>
              <a:rPr sz="1275" dirty="0" err="1">
                <a:solidFill>
                  <a:srgbClr val="666666"/>
                </a:solidFill>
                <a:latin typeface="Lato"/>
                <a:ea typeface="Lato"/>
                <a:cs typeface="Lato"/>
              </a:rPr>
              <a:t>nổi</a:t>
            </a:r>
            <a:r>
              <a:rPr sz="1275" dirty="0">
                <a:solidFill>
                  <a:srgbClr val="666666"/>
                </a:solidFill>
                <a:latin typeface="Lato"/>
                <a:ea typeface="Lato"/>
                <a:cs typeface="Lato"/>
              </a:rPr>
              <a:t> </a:t>
            </a:r>
            <a:r>
              <a:rPr sz="1275" dirty="0" err="1">
                <a:solidFill>
                  <a:srgbClr val="666666"/>
                </a:solidFill>
                <a:latin typeface="Lato"/>
                <a:ea typeface="Lato"/>
                <a:cs typeface="Lato"/>
              </a:rPr>
              <a:t>bật</a:t>
            </a:r>
            <a:r>
              <a:rPr sz="1275" dirty="0">
                <a:solidFill>
                  <a:srgbClr val="666666"/>
                </a:solidFill>
                <a:latin typeface="Lato"/>
                <a:ea typeface="Lato"/>
                <a:cs typeface="Lato"/>
              </a:rPr>
              <a:t>: </a:t>
            </a:r>
            <a:endParaRPr lang="en-US" sz="1275" dirty="0">
              <a:solidFill>
                <a:srgbClr val="666666"/>
              </a:solidFill>
              <a:latin typeface="Lato"/>
              <a:ea typeface="Lato"/>
              <a:cs typeface="Lato"/>
            </a:endParaRPr>
          </a:p>
          <a:p>
            <a:pPr>
              <a:defRPr sz="1275">
                <a:solidFill>
                  <a:srgbClr val="666666"/>
                </a:solidFill>
                <a:latin typeface="Lato"/>
                <a:ea typeface="Lato"/>
                <a:cs typeface="Lato"/>
              </a:defRPr>
            </a:pPr>
            <a:r>
              <a:rPr sz="1275" dirty="0">
                <a:solidFill>
                  <a:srgbClr val="666666"/>
                </a:solidFill>
                <a:latin typeface="Lato"/>
                <a:ea typeface="Lato"/>
                <a:cs typeface="Lato"/>
              </a:rPr>
              <a:t>great (109), good (100), delicious (39), excellent (37).</a:t>
            </a:r>
          </a:p>
          <a:p>
            <a:pPr>
              <a:defRPr sz="1275">
                <a:solidFill>
                  <a:srgbClr val="666666"/>
                </a:solidFill>
                <a:latin typeface="Lato"/>
                <a:ea typeface="Lato"/>
                <a:cs typeface="Lato"/>
              </a:defRPr>
            </a:pPr>
            <a:r>
              <a:rPr sz="1275" dirty="0">
                <a:solidFill>
                  <a:srgbClr val="666666"/>
                </a:solidFill>
                <a:latin typeface="Lato"/>
                <a:ea typeface="Lato"/>
                <a:cs typeface="Lato"/>
              </a:rPr>
              <a:t>Lý do </a:t>
            </a:r>
            <a:r>
              <a:rPr sz="1275" dirty="0" err="1">
                <a:solidFill>
                  <a:srgbClr val="666666"/>
                </a:solidFill>
                <a:latin typeface="Lato"/>
                <a:ea typeface="Lato"/>
                <a:cs typeface="Lato"/>
              </a:rPr>
              <a:t>tiêu</a:t>
            </a:r>
            <a:r>
              <a:rPr sz="1275" dirty="0">
                <a:solidFill>
                  <a:srgbClr val="666666"/>
                </a:solidFill>
                <a:latin typeface="Lato"/>
                <a:ea typeface="Lato"/>
                <a:cs typeface="Lato"/>
              </a:rPr>
              <a:t> </a:t>
            </a:r>
            <a:r>
              <a:rPr sz="1275" dirty="0" err="1">
                <a:solidFill>
                  <a:srgbClr val="666666"/>
                </a:solidFill>
                <a:latin typeface="Lato"/>
                <a:ea typeface="Lato"/>
                <a:cs typeface="Lato"/>
              </a:rPr>
              <a:t>cực</a:t>
            </a:r>
            <a:r>
              <a:rPr sz="1275" dirty="0">
                <a:solidFill>
                  <a:srgbClr val="666666"/>
                </a:solidFill>
                <a:latin typeface="Lato"/>
                <a:ea typeface="Lato"/>
                <a:cs typeface="Lato"/>
              </a:rPr>
              <a:t>: </a:t>
            </a:r>
            <a:endParaRPr lang="en-US" sz="1275" dirty="0">
              <a:solidFill>
                <a:srgbClr val="666666"/>
              </a:solidFill>
              <a:latin typeface="Lato"/>
              <a:ea typeface="Lato"/>
              <a:cs typeface="Lato"/>
            </a:endParaRPr>
          </a:p>
          <a:p>
            <a:pPr>
              <a:defRPr sz="1275">
                <a:solidFill>
                  <a:srgbClr val="666666"/>
                </a:solidFill>
                <a:latin typeface="Lato"/>
                <a:ea typeface="Lato"/>
                <a:cs typeface="Lato"/>
              </a:defRPr>
            </a:pPr>
            <a:r>
              <a:rPr sz="1275" dirty="0">
                <a:solidFill>
                  <a:srgbClr val="666666"/>
                </a:solidFill>
                <a:latin typeface="Lato"/>
                <a:ea typeface="Lato"/>
                <a:cs typeface="Lato"/>
              </a:rPr>
              <a:t>mediocre (10), bad (7), overpriced (5).</a:t>
            </a:r>
          </a:p>
        </p:txBody>
      </p:sp>
      <p:sp>
        <p:nvSpPr>
          <p:cNvPr id="16" name="body-Giá trị bổ sung">
            <a:extLst>
              <a:ext uri="{FF2B5EF4-FFF2-40B4-BE49-F238E27FC236}">
                <a16:creationId xmlns:a16="http://schemas.microsoft.com/office/drawing/2014/main" id="{A1C9029D-8D0A-4F14-9CE4-06A85CBAEC21}"/>
              </a:ext>
            </a:extLst>
          </p:cNvPr>
          <p:cNvSpPr>
            <a:spLocks noGrp="1"/>
          </p:cNvSpPr>
          <p:nvPr/>
        </p:nvSpPr>
        <p:spPr>
          <a:xfrm>
            <a:off x="2586530" y="2553958"/>
            <a:ext cx="4554497" cy="1254469"/>
          </a:xfrm>
          <a:prstGeom prst="rect">
            <a:avLst/>
          </a:prstGeom>
          <a:noFill/>
          <a:ln w="0">
            <a:noFill/>
            <a:prstDash val="solid"/>
          </a:ln>
        </p:spPr>
        <p:txBody>
          <a:bodyPr lIns="91440" tIns="45720" rIns="91440" bIns="45720" anchor="t"/>
          <a:lstStyle/>
          <a:p>
            <a:pPr>
              <a:defRPr sz="1275">
                <a:solidFill>
                  <a:srgbClr val="666666"/>
                </a:solidFill>
                <a:latin typeface="Lato"/>
                <a:ea typeface="Lato"/>
                <a:cs typeface="Lato"/>
              </a:defRPr>
            </a:pPr>
            <a:r>
              <a:rPr lang="en-US" sz="1400" dirty="0" err="1">
                <a:solidFill>
                  <a:srgbClr val="666666"/>
                </a:solidFill>
                <a:latin typeface="Lato"/>
                <a:ea typeface="Lato"/>
                <a:cs typeface="Lato"/>
              </a:rPr>
              <a:t>Gom</a:t>
            </a:r>
            <a:r>
              <a:rPr lang="en-US" sz="1400" dirty="0">
                <a:solidFill>
                  <a:srgbClr val="666666"/>
                </a:solidFill>
                <a:latin typeface="Lato"/>
                <a:ea typeface="Lato"/>
                <a:cs typeface="Lato"/>
              </a:rPr>
              <a:t> </a:t>
            </a:r>
            <a:r>
              <a:rPr lang="en-US" sz="1400" dirty="0" err="1">
                <a:solidFill>
                  <a:srgbClr val="666666"/>
                </a:solidFill>
                <a:latin typeface="Lato"/>
                <a:ea typeface="Lato"/>
                <a:cs typeface="Lato"/>
              </a:rPr>
              <a:t>nhóm</a:t>
            </a:r>
            <a:r>
              <a:rPr lang="en-US" sz="1400" dirty="0">
                <a:solidFill>
                  <a:srgbClr val="666666"/>
                </a:solidFill>
                <a:latin typeface="Lato"/>
                <a:ea typeface="Lato"/>
                <a:cs typeface="Lato"/>
              </a:rPr>
              <a:t> </a:t>
            </a:r>
            <a:r>
              <a:rPr lang="en-US" sz="1400" dirty="0" err="1">
                <a:solidFill>
                  <a:srgbClr val="666666"/>
                </a:solidFill>
                <a:latin typeface="Lato"/>
                <a:ea typeface="Lato"/>
                <a:cs typeface="Lato"/>
              </a:rPr>
              <a:t>theo</a:t>
            </a:r>
            <a:r>
              <a:rPr lang="en-US" sz="1400" dirty="0">
                <a:solidFill>
                  <a:srgbClr val="666666"/>
                </a:solidFill>
                <a:latin typeface="Lato"/>
                <a:ea typeface="Lato"/>
                <a:cs typeface="Lato"/>
              </a:rPr>
              <a:t> aspect </a:t>
            </a:r>
          </a:p>
          <a:p>
            <a:pPr>
              <a:defRPr sz="1275">
                <a:solidFill>
                  <a:srgbClr val="666666"/>
                </a:solidFill>
                <a:latin typeface="Lato"/>
                <a:ea typeface="Lato"/>
                <a:cs typeface="Lato"/>
              </a:defRPr>
            </a:pPr>
            <a:r>
              <a:rPr lang="en-US" sz="1400" dirty="0">
                <a:solidFill>
                  <a:srgbClr val="666666"/>
                </a:solidFill>
                <a:latin typeface="Lato"/>
                <a:ea typeface="Lato"/>
                <a:cs typeface="Lato"/>
              </a:rPr>
              <a:t>→ </a:t>
            </a:r>
            <a:r>
              <a:rPr lang="en-US" sz="1400" dirty="0" err="1">
                <a:solidFill>
                  <a:srgbClr val="666666"/>
                </a:solidFill>
                <a:latin typeface="Lato"/>
                <a:ea typeface="Lato"/>
                <a:cs typeface="Lato"/>
              </a:rPr>
              <a:t>đếm</a:t>
            </a:r>
            <a:r>
              <a:rPr lang="en-US" sz="1400" dirty="0">
                <a:solidFill>
                  <a:srgbClr val="666666"/>
                </a:solidFill>
                <a:latin typeface="Lato"/>
                <a:ea typeface="Lato"/>
                <a:cs typeface="Lato"/>
              </a:rPr>
              <a:t> positive/negative/neutral </a:t>
            </a:r>
          </a:p>
          <a:p>
            <a:pPr>
              <a:defRPr sz="1275">
                <a:solidFill>
                  <a:srgbClr val="666666"/>
                </a:solidFill>
                <a:latin typeface="Lato"/>
                <a:ea typeface="Lato"/>
                <a:cs typeface="Lato"/>
              </a:defRPr>
            </a:pPr>
            <a:r>
              <a:rPr lang="en-US" sz="1400" dirty="0">
                <a:solidFill>
                  <a:srgbClr val="666666"/>
                </a:solidFill>
                <a:latin typeface="Lato"/>
                <a:ea typeface="Lato"/>
                <a:cs typeface="Lato"/>
              </a:rPr>
              <a:t>→ </a:t>
            </a:r>
            <a:r>
              <a:rPr lang="en-US" sz="1400" dirty="0" err="1">
                <a:solidFill>
                  <a:srgbClr val="666666"/>
                </a:solidFill>
                <a:latin typeface="Lato"/>
                <a:ea typeface="Lato"/>
                <a:cs typeface="Lato"/>
              </a:rPr>
              <a:t>chọn</a:t>
            </a:r>
            <a:r>
              <a:rPr lang="en-US" sz="1400" dirty="0">
                <a:solidFill>
                  <a:srgbClr val="666666"/>
                </a:solidFill>
                <a:latin typeface="Lato"/>
                <a:ea typeface="Lato"/>
                <a:cs typeface="Lato"/>
              </a:rPr>
              <a:t> majority sentiment </a:t>
            </a:r>
          </a:p>
          <a:p>
            <a:pPr>
              <a:defRPr sz="1275">
                <a:solidFill>
                  <a:srgbClr val="666666"/>
                </a:solidFill>
                <a:latin typeface="Lato"/>
                <a:ea typeface="Lato"/>
                <a:cs typeface="Lato"/>
              </a:defRPr>
            </a:pPr>
            <a:r>
              <a:rPr lang="en-US" sz="1400" dirty="0">
                <a:solidFill>
                  <a:srgbClr val="666666"/>
                </a:solidFill>
                <a:latin typeface="Lato"/>
                <a:ea typeface="Lato"/>
                <a:cs typeface="Lato"/>
              </a:rPr>
              <a:t>→ </a:t>
            </a:r>
            <a:r>
              <a:rPr lang="en-US" sz="1400" dirty="0" err="1">
                <a:solidFill>
                  <a:srgbClr val="666666"/>
                </a:solidFill>
                <a:latin typeface="Lato"/>
                <a:ea typeface="Lato"/>
                <a:cs typeface="Lato"/>
              </a:rPr>
              <a:t>xếp</a:t>
            </a:r>
            <a:r>
              <a:rPr lang="en-US" sz="1400" dirty="0">
                <a:solidFill>
                  <a:srgbClr val="666666"/>
                </a:solidFill>
                <a:latin typeface="Lato"/>
                <a:ea typeface="Lato"/>
                <a:cs typeface="Lato"/>
              </a:rPr>
              <a:t> </a:t>
            </a:r>
            <a:r>
              <a:rPr lang="en-US" sz="1400" dirty="0" err="1">
                <a:solidFill>
                  <a:srgbClr val="666666"/>
                </a:solidFill>
                <a:latin typeface="Lato"/>
                <a:ea typeface="Lato"/>
                <a:cs typeface="Lato"/>
              </a:rPr>
              <a:t>hạng</a:t>
            </a:r>
            <a:r>
              <a:rPr lang="en-US" sz="1400" dirty="0">
                <a:solidFill>
                  <a:srgbClr val="666666"/>
                </a:solidFill>
                <a:latin typeface="Lato"/>
                <a:ea typeface="Lato"/>
                <a:cs typeface="Lato"/>
              </a:rPr>
              <a:t> opinion </a:t>
            </a:r>
            <a:r>
              <a:rPr lang="en-US" sz="1400" dirty="0" err="1">
                <a:solidFill>
                  <a:srgbClr val="666666"/>
                </a:solidFill>
                <a:latin typeface="Lato"/>
                <a:ea typeface="Lato"/>
                <a:cs typeface="Lato"/>
              </a:rPr>
              <a:t>và</a:t>
            </a:r>
            <a:r>
              <a:rPr lang="en-US" sz="1400" dirty="0">
                <a:solidFill>
                  <a:srgbClr val="666666"/>
                </a:solidFill>
                <a:latin typeface="Lato"/>
                <a:ea typeface="Lato"/>
                <a:cs typeface="Lato"/>
              </a:rPr>
              <a:t> </a:t>
            </a:r>
            <a:r>
              <a:rPr lang="en-US" sz="1400" dirty="0" err="1">
                <a:solidFill>
                  <a:srgbClr val="666666"/>
                </a:solidFill>
                <a:latin typeface="Lato"/>
                <a:ea typeface="Lato"/>
                <a:cs typeface="Lato"/>
              </a:rPr>
              <a:t>giữ</a:t>
            </a:r>
            <a:r>
              <a:rPr lang="en-US" sz="1400" dirty="0">
                <a:solidFill>
                  <a:srgbClr val="666666"/>
                </a:solidFill>
                <a:latin typeface="Lato"/>
                <a:ea typeface="Lato"/>
                <a:cs typeface="Lato"/>
              </a:rPr>
              <a:t> top-10 reason </a:t>
            </a:r>
            <a:r>
              <a:rPr lang="en-US" sz="1400" dirty="0" err="1">
                <a:solidFill>
                  <a:srgbClr val="666666"/>
                </a:solidFill>
                <a:latin typeface="Lato"/>
                <a:ea typeface="Lato"/>
                <a:cs typeface="Lato"/>
              </a:rPr>
              <a:t>cho</a:t>
            </a:r>
            <a:r>
              <a:rPr lang="en-US" sz="1400" dirty="0">
                <a:solidFill>
                  <a:srgbClr val="666666"/>
                </a:solidFill>
                <a:latin typeface="Lato"/>
                <a:ea typeface="Lato"/>
                <a:cs typeface="Lato"/>
              </a:rPr>
              <a:t> </a:t>
            </a:r>
            <a:r>
              <a:rPr lang="en-US" sz="1400" dirty="0" err="1">
                <a:solidFill>
                  <a:srgbClr val="666666"/>
                </a:solidFill>
                <a:latin typeface="Lato"/>
                <a:ea typeface="Lato"/>
                <a:cs typeface="Lato"/>
              </a:rPr>
              <a:t>từng</a:t>
            </a:r>
            <a:r>
              <a:rPr lang="en-US" sz="1400" dirty="0">
                <a:solidFill>
                  <a:srgbClr val="666666"/>
                </a:solidFill>
                <a:latin typeface="Lato"/>
                <a:ea typeface="Lato"/>
                <a:cs typeface="Lato"/>
              </a:rPr>
              <a:t> sentiment</a:t>
            </a:r>
            <a:r>
              <a:rPr lang="en-US" sz="1300" dirty="0">
                <a:solidFill>
                  <a:srgbClr val="666666"/>
                </a:solidFill>
                <a:latin typeface="Lato"/>
                <a:ea typeface="Lato"/>
                <a:cs typeface="Lato"/>
              </a:rPr>
              <a:t>.</a:t>
            </a:r>
          </a:p>
        </p:txBody>
      </p:sp>
      <p:sp>
        <p:nvSpPr>
          <p:cNvPr id="3" name="card-Aspect: food">
            <a:extLst>
              <a:ext uri="{FF2B5EF4-FFF2-40B4-BE49-F238E27FC236}">
                <a16:creationId xmlns:a16="http://schemas.microsoft.com/office/drawing/2014/main" id="{F9DA9A4A-F979-AFB7-E06F-FC9B0E0F61AF}"/>
              </a:ext>
            </a:extLst>
          </p:cNvPr>
          <p:cNvSpPr>
            <a:spLocks noGrp="1"/>
          </p:cNvSpPr>
          <p:nvPr/>
        </p:nvSpPr>
        <p:spPr>
          <a:xfrm>
            <a:off x="2416626" y="2112190"/>
            <a:ext cx="4724401" cy="1911953"/>
          </a:xfrm>
          <a:prstGeom prst="roundRect">
            <a:avLst>
              <a:gd name="adj" fmla="val 5091"/>
            </a:avLst>
          </a:prstGeom>
          <a:noFill/>
          <a:ln w="11430">
            <a:solidFill>
              <a:srgbClr val="E2D6D6"/>
            </a:solidFill>
            <a:prstDash val="solid"/>
          </a:ln>
        </p:spPr>
        <p:txBody>
          <a:bodyPr/>
          <a:lstStyle/>
          <a:p>
            <a:endParaRPr lang="en-VN"/>
          </a:p>
        </p:txBody>
      </p:sp>
      <p:sp>
        <p:nvSpPr>
          <p:cNvPr id="4" name="eyebrow-Aspect: food">
            <a:extLst>
              <a:ext uri="{FF2B5EF4-FFF2-40B4-BE49-F238E27FC236}">
                <a16:creationId xmlns:a16="http://schemas.microsoft.com/office/drawing/2014/main" id="{FDE02E82-EB5C-BBD1-0A28-4913AC8DDA20}"/>
              </a:ext>
            </a:extLst>
          </p:cNvPr>
          <p:cNvSpPr>
            <a:spLocks noGrp="1"/>
          </p:cNvSpPr>
          <p:nvPr/>
        </p:nvSpPr>
        <p:spPr>
          <a:xfrm>
            <a:off x="2565936" y="2282132"/>
            <a:ext cx="3126256" cy="200752"/>
          </a:xfrm>
          <a:prstGeom prst="rect">
            <a:avLst/>
          </a:prstGeom>
          <a:noFill/>
          <a:ln w="0">
            <a:noFill/>
            <a:prstDash val="solid"/>
          </a:ln>
        </p:spPr>
        <p:txBody>
          <a:bodyPr anchor="ctr"/>
          <a:lstStyle/>
          <a:p>
            <a:pPr>
              <a:defRPr sz="975" b="1">
                <a:solidFill>
                  <a:srgbClr val="C00000"/>
                </a:solidFill>
                <a:latin typeface="Lato"/>
                <a:ea typeface="Lato"/>
                <a:cs typeface="Lato"/>
              </a:defRPr>
            </a:pPr>
            <a:r>
              <a:rPr lang="en-US" sz="1100" b="1" dirty="0">
                <a:solidFill>
                  <a:srgbClr val="C00000"/>
                </a:solidFill>
                <a:latin typeface="Lato"/>
                <a:ea typeface="Lato"/>
                <a:cs typeface="Lato"/>
              </a:rPr>
              <a:t>TỔNG HỢP ASPECT </a:t>
            </a:r>
            <a:r>
              <a:rPr lang="en-US" sz="1100" b="1" dirty="0">
                <a:solidFill>
                  <a:srgbClr val="C00000"/>
                </a:solidFill>
                <a:latin typeface="Lato"/>
                <a:ea typeface="Lato"/>
                <a:cs typeface="Lato"/>
                <a:sym typeface="Wingdings" pitchFamily="2" charset="2"/>
              </a:rPr>
              <a:t> REASON</a:t>
            </a:r>
            <a:endParaRPr lang="en-US" sz="1100" b="1" dirty="0">
              <a:solidFill>
                <a:srgbClr val="C00000"/>
              </a:solidFill>
              <a:latin typeface="Lato"/>
              <a:ea typeface="Lato"/>
              <a:cs typeface="Lato"/>
            </a:endParaRPr>
          </a:p>
        </p:txBody>
      </p:sp>
      <p:sp>
        <p:nvSpPr>
          <p:cNvPr id="17" name="body-Giá trị bổ sung">
            <a:extLst>
              <a:ext uri="{FF2B5EF4-FFF2-40B4-BE49-F238E27FC236}">
                <a16:creationId xmlns:a16="http://schemas.microsoft.com/office/drawing/2014/main" id="{CCAF6EBA-A7E1-DB73-ED29-CC77EF284298}"/>
              </a:ext>
            </a:extLst>
          </p:cNvPr>
          <p:cNvSpPr>
            <a:spLocks noGrp="1"/>
          </p:cNvSpPr>
          <p:nvPr/>
        </p:nvSpPr>
        <p:spPr>
          <a:xfrm>
            <a:off x="2586530" y="1297567"/>
            <a:ext cx="4554497" cy="1254469"/>
          </a:xfrm>
          <a:prstGeom prst="rect">
            <a:avLst/>
          </a:prstGeom>
          <a:noFill/>
          <a:ln w="0">
            <a:noFill/>
            <a:prstDash val="solid"/>
          </a:ln>
        </p:spPr>
        <p:txBody>
          <a:bodyPr lIns="91440" tIns="45720" rIns="91440" bIns="45720" anchor="t"/>
          <a:lstStyle/>
          <a:p>
            <a:pPr>
              <a:defRPr sz="1275">
                <a:solidFill>
                  <a:srgbClr val="666666"/>
                </a:solidFill>
                <a:latin typeface="Lato"/>
                <a:ea typeface="Lato"/>
                <a:cs typeface="Lato"/>
              </a:defRPr>
            </a:pPr>
            <a:endParaRPr lang="en-US" sz="1300" dirty="0">
              <a:solidFill>
                <a:srgbClr val="666666"/>
              </a:solidFill>
              <a:latin typeface="Lato"/>
              <a:ea typeface="Lato"/>
              <a:cs typeface="Lato"/>
            </a:endParaRPr>
          </a:p>
        </p:txBody>
      </p:sp>
      <p:sp>
        <p:nvSpPr>
          <p:cNvPr id="18" name="card-Aspect: food">
            <a:extLst>
              <a:ext uri="{FF2B5EF4-FFF2-40B4-BE49-F238E27FC236}">
                <a16:creationId xmlns:a16="http://schemas.microsoft.com/office/drawing/2014/main" id="{C51195DE-636C-843F-E7BB-F054A301015E}"/>
              </a:ext>
            </a:extLst>
          </p:cNvPr>
          <p:cNvSpPr>
            <a:spLocks noGrp="1"/>
          </p:cNvSpPr>
          <p:nvPr/>
        </p:nvSpPr>
        <p:spPr>
          <a:xfrm>
            <a:off x="2416626" y="855800"/>
            <a:ext cx="4724401" cy="929458"/>
          </a:xfrm>
          <a:prstGeom prst="roundRect">
            <a:avLst>
              <a:gd name="adj" fmla="val 15632"/>
            </a:avLst>
          </a:prstGeom>
          <a:noFill/>
          <a:ln w="11430">
            <a:solidFill>
              <a:srgbClr val="E2D6D6"/>
            </a:solidFill>
            <a:prstDash val="solid"/>
          </a:ln>
        </p:spPr>
        <p:txBody>
          <a:bodyPr/>
          <a:lstStyle/>
          <a:p>
            <a:endParaRPr lang="en-VN"/>
          </a:p>
        </p:txBody>
      </p:sp>
      <p:sp>
        <p:nvSpPr>
          <p:cNvPr id="19" name="eyebrow-Aspect: food">
            <a:extLst>
              <a:ext uri="{FF2B5EF4-FFF2-40B4-BE49-F238E27FC236}">
                <a16:creationId xmlns:a16="http://schemas.microsoft.com/office/drawing/2014/main" id="{CA3B13E9-27DF-C570-2D79-22BC931D26CA}"/>
              </a:ext>
            </a:extLst>
          </p:cNvPr>
          <p:cNvSpPr>
            <a:spLocks noGrp="1"/>
          </p:cNvSpPr>
          <p:nvPr/>
        </p:nvSpPr>
        <p:spPr>
          <a:xfrm>
            <a:off x="2565936" y="1025741"/>
            <a:ext cx="3126256" cy="200752"/>
          </a:xfrm>
          <a:prstGeom prst="rect">
            <a:avLst/>
          </a:prstGeom>
          <a:noFill/>
          <a:ln w="0">
            <a:noFill/>
            <a:prstDash val="solid"/>
          </a:ln>
        </p:spPr>
        <p:txBody>
          <a:bodyPr anchor="ctr"/>
          <a:lstStyle/>
          <a:p>
            <a:pPr>
              <a:defRPr sz="975" b="1">
                <a:solidFill>
                  <a:srgbClr val="C00000"/>
                </a:solidFill>
                <a:latin typeface="Lato"/>
                <a:ea typeface="Lato"/>
                <a:cs typeface="Lato"/>
              </a:defRPr>
            </a:pPr>
            <a:r>
              <a:rPr lang="en-US" sz="1100" b="1" dirty="0">
                <a:solidFill>
                  <a:srgbClr val="C00000"/>
                </a:solidFill>
                <a:latin typeface="Lato"/>
                <a:ea typeface="Lato"/>
                <a:cs typeface="Lato"/>
              </a:rPr>
              <a:t>SENTIMENT TRIPLETS</a:t>
            </a:r>
          </a:p>
        </p:txBody>
      </p:sp>
      <p:sp>
        <p:nvSpPr>
          <p:cNvPr id="20" name="body-Giá trị bổ sung">
            <a:extLst>
              <a:ext uri="{FF2B5EF4-FFF2-40B4-BE49-F238E27FC236}">
                <a16:creationId xmlns:a16="http://schemas.microsoft.com/office/drawing/2014/main" id="{C1534C80-6002-B660-8D4C-92528407B63B}"/>
              </a:ext>
            </a:extLst>
          </p:cNvPr>
          <p:cNvSpPr>
            <a:spLocks noGrp="1"/>
          </p:cNvSpPr>
          <p:nvPr/>
        </p:nvSpPr>
        <p:spPr>
          <a:xfrm>
            <a:off x="2586530" y="1246535"/>
            <a:ext cx="4554497" cy="1254469"/>
          </a:xfrm>
          <a:prstGeom prst="rect">
            <a:avLst/>
          </a:prstGeom>
          <a:noFill/>
          <a:ln w="0">
            <a:noFill/>
            <a:prstDash val="solid"/>
          </a:ln>
        </p:spPr>
        <p:txBody>
          <a:bodyPr lIns="91440" tIns="45720" rIns="91440" bIns="45720" anchor="t"/>
          <a:lstStyle/>
          <a:p>
            <a:pPr>
              <a:defRPr sz="1275">
                <a:solidFill>
                  <a:srgbClr val="666666"/>
                </a:solidFill>
                <a:latin typeface="Lato"/>
                <a:ea typeface="Lato"/>
                <a:cs typeface="Lato"/>
              </a:defRPr>
            </a:pPr>
            <a:endParaRPr lang="en-US" sz="1300" dirty="0">
              <a:solidFill>
                <a:srgbClr val="666666"/>
              </a:solidFill>
              <a:latin typeface="Lato"/>
              <a:ea typeface="Lato"/>
              <a:cs typeface="Lato"/>
            </a:endParaRPr>
          </a:p>
        </p:txBody>
      </p:sp>
      <p:sp>
        <p:nvSpPr>
          <p:cNvPr id="22" name="TextBox 21">
            <a:extLst>
              <a:ext uri="{FF2B5EF4-FFF2-40B4-BE49-F238E27FC236}">
                <a16:creationId xmlns:a16="http://schemas.microsoft.com/office/drawing/2014/main" id="{9978188B-09A5-D51C-EE87-35D324839A60}"/>
              </a:ext>
            </a:extLst>
          </p:cNvPr>
          <p:cNvSpPr txBox="1"/>
          <p:nvPr/>
        </p:nvSpPr>
        <p:spPr>
          <a:xfrm>
            <a:off x="2586530" y="1332535"/>
            <a:ext cx="4572000" cy="288541"/>
          </a:xfrm>
          <a:prstGeom prst="rect">
            <a:avLst/>
          </a:prstGeom>
          <a:noFill/>
        </p:spPr>
        <p:txBody>
          <a:bodyPr wrap="square">
            <a:spAutoFit/>
          </a:bodyPr>
          <a:lstStyle/>
          <a:p>
            <a:pPr>
              <a:defRPr sz="1275">
                <a:solidFill>
                  <a:srgbClr val="666666"/>
                </a:solidFill>
                <a:latin typeface="Lato"/>
                <a:ea typeface="Lato"/>
                <a:cs typeface="Lato"/>
              </a:defRPr>
            </a:pPr>
            <a:r>
              <a:rPr lang="vi-VN" sz="1250" dirty="0">
                <a:solidFill>
                  <a:srgbClr val="666666"/>
                </a:solidFill>
                <a:latin typeface="Lato"/>
                <a:ea typeface="Lato"/>
                <a:cs typeface="Lato"/>
              </a:rPr>
              <a:t>aspect: food | opinion: </a:t>
            </a:r>
            <a:r>
              <a:rPr lang="en-US" sz="1200" dirty="0">
                <a:solidFill>
                  <a:srgbClr val="666666"/>
                </a:solidFill>
                <a:latin typeface="Lato"/>
                <a:ea typeface="Lato"/>
                <a:cs typeface="Lato"/>
              </a:rPr>
              <a:t>good</a:t>
            </a:r>
            <a:r>
              <a:rPr lang="vi-VN" sz="1250" dirty="0">
                <a:solidFill>
                  <a:srgbClr val="666666"/>
                </a:solidFill>
                <a:latin typeface="Lato"/>
                <a:ea typeface="Lato"/>
                <a:cs typeface="Lato"/>
              </a:rPr>
              <a:t> | sentiment: positive</a:t>
            </a:r>
            <a:endParaRPr lang="vi-VN" sz="1250" dirty="0"/>
          </a:p>
        </p:txBody>
      </p:sp>
      <p:cxnSp>
        <p:nvCxnSpPr>
          <p:cNvPr id="24" name="Straight Arrow Connector 23">
            <a:extLst>
              <a:ext uri="{FF2B5EF4-FFF2-40B4-BE49-F238E27FC236}">
                <a16:creationId xmlns:a16="http://schemas.microsoft.com/office/drawing/2014/main" id="{77BB47D8-E71C-B85E-9FAE-5E2728DCDDBE}"/>
              </a:ext>
            </a:extLst>
          </p:cNvPr>
          <p:cNvCxnSpPr>
            <a:stCxn id="18" idx="2"/>
            <a:endCxn id="3" idx="0"/>
          </p:cNvCxnSpPr>
          <p:nvPr/>
        </p:nvCxnSpPr>
        <p:spPr>
          <a:xfrm>
            <a:off x="4778827" y="1785258"/>
            <a:ext cx="0" cy="32693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9C7C9A9E-4F2F-26C5-F462-BE584F1FFA46}"/>
              </a:ext>
            </a:extLst>
          </p:cNvPr>
          <p:cNvCxnSpPr>
            <a:stCxn id="3" idx="2"/>
            <a:endCxn id="9" idx="0"/>
          </p:cNvCxnSpPr>
          <p:nvPr/>
        </p:nvCxnSpPr>
        <p:spPr>
          <a:xfrm>
            <a:off x="4778827" y="4024143"/>
            <a:ext cx="0" cy="326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498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idx="12"/>
          </p:nvPr>
        </p:nvSpPr>
        <p:spPr>
          <a:xfrm>
            <a:off x="6867430" y="6491288"/>
            <a:ext cx="2057400" cy="361950"/>
          </a:xfrm>
        </p:spPr>
        <p:txBody>
          <a:bodyPr/>
          <a:lstStyle/>
          <a:p>
            <a:fld id="{388657AE-30A1-5A7A-6A7F-315D84436430}" type="slidenum">
              <a:rPr/>
              <a:t>12</a:t>
            </a:fld>
            <a:endParaRPr/>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lIns="91440" tIns="45720" rIns="91440" bIns="45720" anchor="t"/>
          <a:lstStyle/>
          <a:p>
            <a:r>
              <a:rPr lang="vi-VN"/>
              <a:t>8</a:t>
            </a:r>
            <a:r>
              <a:t>. Sinh </a:t>
            </a:r>
            <a:r>
              <a:rPr err="1"/>
              <a:t>báo</a:t>
            </a:r>
            <a:r>
              <a:t> </a:t>
            </a:r>
            <a:r>
              <a:rPr err="1"/>
              <a:t>cáo</a:t>
            </a:r>
            <a:r>
              <a:t> </a:t>
            </a:r>
            <a:r>
              <a:rPr err="1"/>
              <a:t>bằng</a:t>
            </a:r>
            <a:r>
              <a:t> FLAN-T5</a:t>
            </a:r>
          </a:p>
        </p:txBody>
      </p:sp>
      <p:sp>
        <p:nvSpPr>
          <p:cNvPr id="4" name="input-label">
            <a:extLst>
              <a:ext uri="{FF2B5EF4-FFF2-40B4-BE49-F238E27FC236}">
                <a16:creationId xmlns:a16="http://schemas.microsoft.com/office/drawing/2014/main" id="{095053F9-FEE6-4BC0-81BE-5351481CE163}"/>
              </a:ext>
            </a:extLst>
          </p:cNvPr>
          <p:cNvSpPr>
            <a:spLocks noGrp="1"/>
          </p:cNvSpPr>
          <p:nvPr/>
        </p:nvSpPr>
        <p:spPr>
          <a:xfrm>
            <a:off x="571500" y="1409700"/>
            <a:ext cx="3238500" cy="2667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INPUT • COUNTS + TOP REASONS</a:t>
            </a:r>
          </a:p>
        </p:txBody>
      </p:sp>
      <p:sp>
        <p:nvSpPr>
          <p:cNvPr id="5" name="input-box">
            <a:extLst>
              <a:ext uri="{FF2B5EF4-FFF2-40B4-BE49-F238E27FC236}">
                <a16:creationId xmlns:a16="http://schemas.microsoft.com/office/drawing/2014/main" id="{A565A02E-9951-418A-9C0E-1CEBCC057BB0}"/>
              </a:ext>
            </a:extLst>
          </p:cNvPr>
          <p:cNvSpPr>
            <a:spLocks noGrp="1"/>
          </p:cNvSpPr>
          <p:nvPr/>
        </p:nvSpPr>
        <p:spPr>
          <a:xfrm>
            <a:off x="523875" y="1762125"/>
            <a:ext cx="3333750" cy="3333750"/>
          </a:xfrm>
          <a:prstGeom prst="roundRect">
            <a:avLst>
              <a:gd name="adj" fmla="val 4000"/>
            </a:avLst>
          </a:prstGeom>
          <a:noFill/>
          <a:ln w="11430">
            <a:solidFill>
              <a:srgbClr val="E1D5D5"/>
            </a:solidFill>
            <a:prstDash val="solid"/>
          </a:ln>
        </p:spPr>
        <p:txBody>
          <a:bodyPr/>
          <a:lstStyle/>
          <a:p>
            <a:endParaRPr lang="en-VN"/>
          </a:p>
        </p:txBody>
      </p:sp>
      <p:sp>
        <p:nvSpPr>
          <p:cNvPr id="6" name="input-copy">
            <a:extLst>
              <a:ext uri="{FF2B5EF4-FFF2-40B4-BE49-F238E27FC236}">
                <a16:creationId xmlns:a16="http://schemas.microsoft.com/office/drawing/2014/main" id="{5E4E8D0A-1B4B-4ECD-8929-0F2BD5EC36BD}"/>
              </a:ext>
            </a:extLst>
          </p:cNvPr>
          <p:cNvSpPr>
            <a:spLocks noGrp="1"/>
          </p:cNvSpPr>
          <p:nvPr/>
        </p:nvSpPr>
        <p:spPr>
          <a:xfrm>
            <a:off x="742950" y="1962150"/>
            <a:ext cx="2905125" cy="2895600"/>
          </a:xfrm>
          <a:prstGeom prst="rect">
            <a:avLst/>
          </a:prstGeom>
          <a:noFill/>
          <a:ln w="0">
            <a:noFill/>
            <a:prstDash val="solid"/>
          </a:ln>
        </p:spPr>
        <p:txBody>
          <a:bodyPr anchor="t"/>
          <a:lstStyle/>
          <a:p>
            <a:pPr>
              <a:defRPr sz="1350">
                <a:solidFill>
                  <a:srgbClr val="242424"/>
                </a:solidFill>
                <a:latin typeface="Lato"/>
                <a:ea typeface="Lato"/>
                <a:cs typeface="Lato"/>
              </a:defRPr>
            </a:pPr>
            <a:r>
              <a:rPr sz="1350">
                <a:solidFill>
                  <a:srgbClr val="242424"/>
                </a:solidFill>
                <a:latin typeface="Lato"/>
                <a:ea typeface="Lato"/>
                <a:cs typeface="Lato"/>
              </a:rPr>
              <a:t>Indian food</a:t>
            </a:r>
          </a:p>
          <a:p>
            <a:pPr>
              <a:defRPr sz="1350">
                <a:solidFill>
                  <a:srgbClr val="242424"/>
                </a:solidFill>
                <a:latin typeface="Lato"/>
                <a:ea typeface="Lato"/>
                <a:cs typeface="Lato"/>
              </a:defRPr>
            </a:pPr>
            <a:r>
              <a:rPr sz="1350">
                <a:solidFill>
                  <a:srgbClr val="242424"/>
                </a:solidFill>
                <a:latin typeface="Lato"/>
                <a:ea typeface="Lato"/>
                <a:cs typeface="Lato"/>
              </a:rPr>
              <a:t>22 mentions • 21 positive</a:t>
            </a:r>
          </a:p>
          <a:p>
            <a:pPr>
              <a:defRPr sz="1350">
                <a:solidFill>
                  <a:srgbClr val="242424"/>
                </a:solidFill>
                <a:latin typeface="Lato"/>
                <a:ea typeface="Lato"/>
                <a:cs typeface="Lato"/>
              </a:defRPr>
            </a:pPr>
            <a:r>
              <a:rPr sz="1350">
                <a:solidFill>
                  <a:srgbClr val="242424"/>
                </a:solidFill>
                <a:latin typeface="Lato"/>
                <a:ea typeface="Lato"/>
                <a:cs typeface="Lato"/>
              </a:rPr>
              <a:t>reason: great</a:t>
            </a:r>
          </a:p>
          <a:p>
            <a:endParaRPr sz="1350">
              <a:solidFill>
                <a:srgbClr val="242424"/>
              </a:solidFill>
              <a:latin typeface="Lato"/>
              <a:ea typeface="Lato"/>
              <a:cs typeface="Lato"/>
            </a:endParaRPr>
          </a:p>
          <a:p>
            <a:pPr>
              <a:defRPr sz="1350">
                <a:solidFill>
                  <a:srgbClr val="242424"/>
                </a:solidFill>
                <a:latin typeface="Lato"/>
                <a:ea typeface="Lato"/>
                <a:cs typeface="Lato"/>
              </a:defRPr>
            </a:pPr>
            <a:r>
              <a:rPr sz="1350">
                <a:solidFill>
                  <a:srgbClr val="242424"/>
                </a:solidFill>
                <a:latin typeface="Lato"/>
                <a:ea typeface="Lato"/>
                <a:cs typeface="Lato"/>
              </a:rPr>
              <a:t>Dessert</a:t>
            </a:r>
          </a:p>
          <a:p>
            <a:pPr>
              <a:defRPr sz="1350">
                <a:solidFill>
                  <a:srgbClr val="242424"/>
                </a:solidFill>
                <a:latin typeface="Lato"/>
                <a:ea typeface="Lato"/>
                <a:cs typeface="Lato"/>
              </a:defRPr>
            </a:pPr>
            <a:r>
              <a:rPr sz="1350">
                <a:solidFill>
                  <a:srgbClr val="242424"/>
                </a:solidFill>
                <a:latin typeface="Lato"/>
                <a:ea typeface="Lato"/>
                <a:cs typeface="Lato"/>
              </a:rPr>
              <a:t>26 mentions • 16 negative</a:t>
            </a:r>
          </a:p>
          <a:p>
            <a:pPr>
              <a:defRPr sz="1350">
                <a:solidFill>
                  <a:srgbClr val="242424"/>
                </a:solidFill>
                <a:latin typeface="Lato"/>
                <a:ea typeface="Lato"/>
                <a:cs typeface="Lato"/>
              </a:defRPr>
            </a:pPr>
            <a:r>
              <a:rPr sz="1350">
                <a:solidFill>
                  <a:srgbClr val="242424"/>
                </a:solidFill>
                <a:latin typeface="Lato"/>
                <a:ea typeface="Lato"/>
                <a:cs typeface="Lato"/>
              </a:rPr>
              <a:t>reason: not inspired</a:t>
            </a:r>
          </a:p>
          <a:p>
            <a:endParaRPr sz="1350">
              <a:solidFill>
                <a:srgbClr val="242424"/>
              </a:solidFill>
              <a:latin typeface="Lato"/>
              <a:ea typeface="Lato"/>
              <a:cs typeface="Lato"/>
            </a:endParaRPr>
          </a:p>
          <a:p>
            <a:pPr>
              <a:defRPr sz="1350">
                <a:solidFill>
                  <a:srgbClr val="242424"/>
                </a:solidFill>
                <a:latin typeface="Lato"/>
                <a:ea typeface="Lato"/>
                <a:cs typeface="Lato"/>
              </a:defRPr>
            </a:pPr>
            <a:r>
              <a:rPr sz="1350">
                <a:solidFill>
                  <a:srgbClr val="242424"/>
                </a:solidFill>
                <a:latin typeface="Lato"/>
                <a:ea typeface="Lato"/>
                <a:cs typeface="Lato"/>
              </a:rPr>
              <a:t>Food</a:t>
            </a:r>
          </a:p>
          <a:p>
            <a:pPr>
              <a:defRPr sz="1350">
                <a:solidFill>
                  <a:srgbClr val="242424"/>
                </a:solidFill>
                <a:latin typeface="Lato"/>
                <a:ea typeface="Lato"/>
                <a:cs typeface="Lato"/>
              </a:defRPr>
            </a:pPr>
            <a:r>
              <a:rPr sz="1350">
                <a:solidFill>
                  <a:srgbClr val="242424"/>
                </a:solidFill>
                <a:latin typeface="Lato"/>
                <a:ea typeface="Lato"/>
                <a:cs typeface="Lato"/>
              </a:rPr>
              <a:t>827 mentions • 621 positive</a:t>
            </a:r>
          </a:p>
          <a:p>
            <a:pPr>
              <a:defRPr sz="1350">
                <a:solidFill>
                  <a:srgbClr val="242424"/>
                </a:solidFill>
                <a:latin typeface="Lato"/>
                <a:ea typeface="Lato"/>
                <a:cs typeface="Lato"/>
              </a:defRPr>
            </a:pPr>
            <a:r>
              <a:rPr sz="1350">
                <a:solidFill>
                  <a:srgbClr val="242424"/>
                </a:solidFill>
                <a:latin typeface="Lato"/>
                <a:ea typeface="Lato"/>
                <a:cs typeface="Lato"/>
              </a:rPr>
              <a:t>reason: great</a:t>
            </a:r>
          </a:p>
        </p:txBody>
      </p:sp>
      <p:sp>
        <p:nvSpPr>
          <p:cNvPr id="7" name="arrow">
            <a:extLst>
              <a:ext uri="{FF2B5EF4-FFF2-40B4-BE49-F238E27FC236}">
                <a16:creationId xmlns:a16="http://schemas.microsoft.com/office/drawing/2014/main" id="{3D28E097-5878-490A-B3DF-DC01DFE4F53F}"/>
              </a:ext>
            </a:extLst>
          </p:cNvPr>
          <p:cNvSpPr>
            <a:spLocks noGrp="1"/>
          </p:cNvSpPr>
          <p:nvPr/>
        </p:nvSpPr>
        <p:spPr>
          <a:xfrm>
            <a:off x="4000500" y="2952750"/>
            <a:ext cx="666750" cy="666750"/>
          </a:xfrm>
          <a:prstGeom prst="rect">
            <a:avLst/>
          </a:prstGeom>
          <a:noFill/>
          <a:ln w="0">
            <a:noFill/>
            <a:prstDash val="solid"/>
          </a:ln>
        </p:spPr>
        <p:txBody>
          <a:bodyPr anchor="ctr"/>
          <a:lstStyle/>
          <a:p>
            <a:pPr algn="ctr">
              <a:defRPr sz="3600" b="1">
                <a:solidFill>
                  <a:srgbClr val="E8A000"/>
                </a:solidFill>
                <a:latin typeface="Lato"/>
                <a:ea typeface="Lato"/>
                <a:cs typeface="Lato"/>
              </a:defRPr>
            </a:pPr>
            <a:r>
              <a:rPr sz="3600" b="1">
                <a:solidFill>
                  <a:srgbClr val="E8A000"/>
                </a:solidFill>
                <a:latin typeface="Lato"/>
                <a:ea typeface="Lato"/>
                <a:cs typeface="Lato"/>
              </a:rPr>
              <a:t>→</a:t>
            </a:r>
          </a:p>
        </p:txBody>
      </p:sp>
      <p:sp>
        <p:nvSpPr>
          <p:cNvPr id="8" name="output-label">
            <a:extLst>
              <a:ext uri="{FF2B5EF4-FFF2-40B4-BE49-F238E27FC236}">
                <a16:creationId xmlns:a16="http://schemas.microsoft.com/office/drawing/2014/main" id="{C9616677-D986-4E40-9A63-3E4406318BD9}"/>
              </a:ext>
            </a:extLst>
          </p:cNvPr>
          <p:cNvSpPr>
            <a:spLocks noGrp="1"/>
          </p:cNvSpPr>
          <p:nvPr/>
        </p:nvSpPr>
        <p:spPr>
          <a:xfrm>
            <a:off x="4810125" y="1409700"/>
            <a:ext cx="3619500" cy="2667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OUTPUT • ANALYTICAL PARAGRAPH</a:t>
            </a:r>
          </a:p>
        </p:txBody>
      </p:sp>
      <p:sp>
        <p:nvSpPr>
          <p:cNvPr id="9" name="output-box">
            <a:extLst>
              <a:ext uri="{FF2B5EF4-FFF2-40B4-BE49-F238E27FC236}">
                <a16:creationId xmlns:a16="http://schemas.microsoft.com/office/drawing/2014/main" id="{9BCD9A16-6A3A-4BFB-BDE1-85FBBA71C786}"/>
              </a:ext>
            </a:extLst>
          </p:cNvPr>
          <p:cNvSpPr>
            <a:spLocks noGrp="1"/>
          </p:cNvSpPr>
          <p:nvPr/>
        </p:nvSpPr>
        <p:spPr>
          <a:xfrm>
            <a:off x="4714875" y="1762125"/>
            <a:ext cx="3905250" cy="3333750"/>
          </a:xfrm>
          <a:prstGeom prst="roundRect">
            <a:avLst>
              <a:gd name="adj" fmla="val 4000"/>
            </a:avLst>
          </a:prstGeom>
          <a:noFill/>
          <a:ln w="11430">
            <a:solidFill>
              <a:srgbClr val="D8CACA"/>
            </a:solidFill>
            <a:prstDash val="solid"/>
          </a:ln>
        </p:spPr>
        <p:txBody>
          <a:bodyPr/>
          <a:lstStyle/>
          <a:p>
            <a:endParaRPr lang="en-VN"/>
          </a:p>
        </p:txBody>
      </p:sp>
      <p:sp>
        <p:nvSpPr>
          <p:cNvPr id="10" name="output-copy">
            <a:extLst>
              <a:ext uri="{FF2B5EF4-FFF2-40B4-BE49-F238E27FC236}">
                <a16:creationId xmlns:a16="http://schemas.microsoft.com/office/drawing/2014/main" id="{2A7705F1-17E4-4DB3-AE85-723D502BBE25}"/>
              </a:ext>
            </a:extLst>
          </p:cNvPr>
          <p:cNvSpPr>
            <a:spLocks noGrp="1"/>
          </p:cNvSpPr>
          <p:nvPr/>
        </p:nvSpPr>
        <p:spPr>
          <a:xfrm>
            <a:off x="4972050" y="2019300"/>
            <a:ext cx="3390900" cy="2800350"/>
          </a:xfrm>
          <a:prstGeom prst="rect">
            <a:avLst/>
          </a:prstGeom>
          <a:noFill/>
          <a:ln w="0">
            <a:noFill/>
            <a:prstDash val="solid"/>
          </a:ln>
        </p:spPr>
        <p:txBody>
          <a:bodyPr anchor="t"/>
          <a:lstStyle/>
          <a:p>
            <a:pPr>
              <a:defRPr sz="1275">
                <a:solidFill>
                  <a:srgbClr val="242424"/>
                </a:solidFill>
                <a:latin typeface="Lato"/>
                <a:ea typeface="Lato"/>
                <a:cs typeface="Lato"/>
              </a:defRPr>
            </a:pPr>
            <a:r>
              <a:rPr sz="1275">
                <a:solidFill>
                  <a:srgbClr val="242424"/>
                </a:solidFill>
                <a:latin typeface="Lato"/>
                <a:ea typeface="Lato"/>
                <a:cs typeface="Lato"/>
              </a:rPr>
              <a:t>The strongest takeaway is the contrast between Indian food and dessert. Indian food was praised in 21 of 22 mentions, especially for being great, whereas dessert received 16 negative comments out of 26, largely citing not inspired. At the same time, food remained the most visible topic, appearing 827 times with 621 positive mentions and great as a recurring reason.</a:t>
            </a:r>
          </a:p>
        </p:txBody>
      </p:sp>
    </p:spTree>
    <p:extLst>
      <p:ext uri="{BB962C8B-B14F-4D97-AF65-F5344CB8AC3E}">
        <p14:creationId xmlns:p14="http://schemas.microsoft.com/office/powerpoint/2010/main" val="644728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idx="12"/>
          </p:nvPr>
        </p:nvSpPr>
        <p:spPr>
          <a:xfrm>
            <a:off x="6867430" y="6491288"/>
            <a:ext cx="2057400" cy="361950"/>
          </a:xfrm>
        </p:spPr>
        <p:txBody>
          <a:bodyPr/>
          <a:lstStyle/>
          <a:p>
            <a:fld id="{DB7BEEEC-A170-5376-2B6E-CB54687B0CB1}" type="slidenum">
              <a:rPr/>
              <a:t>13</a:t>
            </a:fld>
            <a:endParaRPr/>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lIns="91440" tIns="45720" rIns="91440" bIns="45720" anchor="t"/>
          <a:lstStyle/>
          <a:p>
            <a:r>
              <a:rPr lang="vi-VN"/>
              <a:t>9</a:t>
            </a:r>
            <a:r>
              <a:t>. Kiểm chứng factual</a:t>
            </a:r>
          </a:p>
        </p:txBody>
      </p:sp>
      <p:sp>
        <p:nvSpPr>
          <p:cNvPr id="6" name="card-Factual passed">
            <a:extLst>
              <a:ext uri="{FF2B5EF4-FFF2-40B4-BE49-F238E27FC236}">
                <a16:creationId xmlns:a16="http://schemas.microsoft.com/office/drawing/2014/main" id="{87C7ABF8-3851-4510-81B2-3932484AE21D}"/>
              </a:ext>
            </a:extLst>
          </p:cNvPr>
          <p:cNvSpPr>
            <a:spLocks noGrp="1"/>
          </p:cNvSpPr>
          <p:nvPr/>
        </p:nvSpPr>
        <p:spPr>
          <a:xfrm>
            <a:off x="533400" y="1428750"/>
            <a:ext cx="3886200" cy="4333875"/>
          </a:xfrm>
          <a:prstGeom prst="roundRect">
            <a:avLst>
              <a:gd name="adj" fmla="val 3431"/>
            </a:avLst>
          </a:prstGeom>
          <a:noFill/>
          <a:ln w="11430">
            <a:solidFill>
              <a:srgbClr val="E2D6D6"/>
            </a:solidFill>
            <a:prstDash val="solid"/>
          </a:ln>
        </p:spPr>
        <p:txBody>
          <a:bodyPr/>
          <a:lstStyle/>
          <a:p>
            <a:endParaRPr lang="en-VN"/>
          </a:p>
        </p:txBody>
      </p:sp>
      <p:sp>
        <p:nvSpPr>
          <p:cNvPr id="7" name="eyebrow-Factual passed">
            <a:extLst>
              <a:ext uri="{FF2B5EF4-FFF2-40B4-BE49-F238E27FC236}">
                <a16:creationId xmlns:a16="http://schemas.microsoft.com/office/drawing/2014/main" id="{545E09B6-C485-42C1-8EF0-33217D1A86FC}"/>
              </a:ext>
            </a:extLst>
          </p:cNvPr>
          <p:cNvSpPr>
            <a:spLocks noGrp="1"/>
          </p:cNvSpPr>
          <p:nvPr/>
        </p:nvSpPr>
        <p:spPr>
          <a:xfrm>
            <a:off x="723900" y="1581150"/>
            <a:ext cx="3505200" cy="228600"/>
          </a:xfrm>
          <a:prstGeom prst="rect">
            <a:avLst/>
          </a:prstGeom>
          <a:noFill/>
          <a:ln w="0">
            <a:noFill/>
            <a:prstDash val="solid"/>
          </a:ln>
        </p:spPr>
        <p:txBody>
          <a:bodyPr anchor="ctr"/>
          <a:lstStyle/>
          <a:p>
            <a:pPr>
              <a:defRPr sz="975" b="1">
                <a:solidFill>
                  <a:srgbClr val="1B7F4B"/>
                </a:solidFill>
                <a:latin typeface="Lato"/>
                <a:ea typeface="Lato"/>
                <a:cs typeface="Lato"/>
              </a:defRPr>
            </a:pPr>
            <a:r>
              <a:rPr sz="975" b="1">
                <a:solidFill>
                  <a:srgbClr val="1B7F4B"/>
                </a:solidFill>
                <a:latin typeface="Lato"/>
                <a:ea typeface="Lato"/>
                <a:cs typeface="Lato"/>
              </a:rPr>
              <a:t>FACTUAL PASSED</a:t>
            </a:r>
          </a:p>
        </p:txBody>
      </p:sp>
      <p:sp>
        <p:nvSpPr>
          <p:cNvPr id="8" name="headline-Factual passed">
            <a:extLst>
              <a:ext uri="{FF2B5EF4-FFF2-40B4-BE49-F238E27FC236}">
                <a16:creationId xmlns:a16="http://schemas.microsoft.com/office/drawing/2014/main" id="{A9BBD2AF-600F-43D2-9732-2EBC2DA38A78}"/>
              </a:ext>
            </a:extLst>
          </p:cNvPr>
          <p:cNvSpPr>
            <a:spLocks noGrp="1"/>
          </p:cNvSpPr>
          <p:nvPr/>
        </p:nvSpPr>
        <p:spPr>
          <a:xfrm>
            <a:off x="723900" y="1885950"/>
            <a:ext cx="350520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Mọi claim đã nêu phải khớp dữ liệu gốc</a:t>
            </a:r>
          </a:p>
        </p:txBody>
      </p:sp>
      <p:sp>
        <p:nvSpPr>
          <p:cNvPr id="9" name="body-Factual passed">
            <a:extLst>
              <a:ext uri="{FF2B5EF4-FFF2-40B4-BE49-F238E27FC236}">
                <a16:creationId xmlns:a16="http://schemas.microsoft.com/office/drawing/2014/main" id="{53253EC9-593D-4EAE-A5E1-1177FABFC51E}"/>
              </a:ext>
            </a:extLst>
          </p:cNvPr>
          <p:cNvSpPr>
            <a:spLocks noGrp="1"/>
          </p:cNvSpPr>
          <p:nvPr/>
        </p:nvSpPr>
        <p:spPr>
          <a:xfrm>
            <a:off x="723900" y="2609850"/>
            <a:ext cx="3505200" cy="2981325"/>
          </a:xfrm>
          <a:prstGeom prst="rect">
            <a:avLst/>
          </a:prstGeom>
          <a:noFill/>
          <a:ln w="0">
            <a:noFill/>
            <a:prstDash val="solid"/>
          </a:ln>
        </p:spPr>
        <p:txBody>
          <a:bodyPr anchor="t"/>
          <a:lstStyle/>
          <a:p>
            <a:pPr>
              <a:defRPr sz="1275">
                <a:solidFill>
                  <a:srgbClr val="666666"/>
                </a:solidFill>
                <a:latin typeface="Lato"/>
                <a:ea typeface="Lato"/>
                <a:cs typeface="Lato"/>
              </a:defRPr>
            </a:pPr>
            <a:r>
              <a:rPr sz="1275" dirty="0">
                <a:solidFill>
                  <a:srgbClr val="666666"/>
                </a:solidFill>
                <a:latin typeface="Lato"/>
                <a:ea typeface="Lato"/>
                <a:cs typeface="Lato"/>
              </a:rPr>
              <a:t>Checker </a:t>
            </a:r>
            <a:r>
              <a:rPr sz="1275" dirty="0" err="1">
                <a:solidFill>
                  <a:srgbClr val="666666"/>
                </a:solidFill>
                <a:latin typeface="Lato"/>
                <a:ea typeface="Lato"/>
                <a:cs typeface="Lato"/>
              </a:rPr>
              <a:t>tách</a:t>
            </a:r>
            <a:r>
              <a:rPr sz="1275" dirty="0">
                <a:solidFill>
                  <a:srgbClr val="666666"/>
                </a:solidFill>
                <a:latin typeface="Lato"/>
                <a:ea typeface="Lato"/>
                <a:cs typeface="Lato"/>
              </a:rPr>
              <a:t> </a:t>
            </a:r>
            <a:r>
              <a:rPr sz="1275" dirty="0" err="1">
                <a:solidFill>
                  <a:srgbClr val="666666"/>
                </a:solidFill>
                <a:latin typeface="Lato"/>
                <a:ea typeface="Lato"/>
                <a:cs typeface="Lato"/>
              </a:rPr>
              <a:t>mệnh</a:t>
            </a:r>
            <a:r>
              <a:rPr sz="1275" dirty="0">
                <a:solidFill>
                  <a:srgbClr val="666666"/>
                </a:solidFill>
                <a:latin typeface="Lato"/>
                <a:ea typeface="Lato"/>
                <a:cs typeface="Lato"/>
              </a:rPr>
              <a:t> </a:t>
            </a:r>
            <a:r>
              <a:rPr sz="1275" dirty="0" err="1">
                <a:solidFill>
                  <a:srgbClr val="666666"/>
                </a:solidFill>
                <a:latin typeface="Lato"/>
                <a:ea typeface="Lato"/>
                <a:cs typeface="Lato"/>
              </a:rPr>
              <a:t>đề</a:t>
            </a:r>
            <a:r>
              <a:rPr sz="1275" dirty="0">
                <a:solidFill>
                  <a:srgbClr val="666666"/>
                </a:solidFill>
                <a:latin typeface="Lato"/>
                <a:ea typeface="Lato"/>
                <a:cs typeface="Lato"/>
              </a:rPr>
              <a:t>, </a:t>
            </a:r>
            <a:r>
              <a:rPr sz="1275" dirty="0" err="1">
                <a:solidFill>
                  <a:srgbClr val="666666"/>
                </a:solidFill>
                <a:latin typeface="Lato"/>
                <a:ea typeface="Lato"/>
                <a:cs typeface="Lato"/>
              </a:rPr>
              <a:t>nhận</a:t>
            </a:r>
            <a:r>
              <a:rPr sz="1275" dirty="0">
                <a:solidFill>
                  <a:srgbClr val="666666"/>
                </a:solidFill>
                <a:latin typeface="Lato"/>
                <a:ea typeface="Lato"/>
                <a:cs typeface="Lato"/>
              </a:rPr>
              <a:t> </a:t>
            </a:r>
            <a:r>
              <a:rPr sz="1275" dirty="0" err="1">
                <a:solidFill>
                  <a:srgbClr val="666666"/>
                </a:solidFill>
                <a:latin typeface="Lato"/>
                <a:ea typeface="Lato"/>
                <a:cs typeface="Lato"/>
              </a:rPr>
              <a:t>diện</a:t>
            </a:r>
            <a:r>
              <a:rPr sz="1275" dirty="0">
                <a:solidFill>
                  <a:srgbClr val="666666"/>
                </a:solidFill>
                <a:latin typeface="Lato"/>
                <a:ea typeface="Lato"/>
                <a:cs typeface="Lato"/>
              </a:rPr>
              <a:t> aspect, </a:t>
            </a:r>
            <a:r>
              <a:rPr sz="1275" dirty="0" err="1">
                <a:solidFill>
                  <a:srgbClr val="666666"/>
                </a:solidFill>
                <a:latin typeface="Lato"/>
                <a:ea typeface="Lato"/>
                <a:cs typeface="Lato"/>
              </a:rPr>
              <a:t>số</a:t>
            </a:r>
            <a:r>
              <a:rPr sz="1275" dirty="0">
                <a:solidFill>
                  <a:srgbClr val="666666"/>
                </a:solidFill>
                <a:latin typeface="Lato"/>
                <a:ea typeface="Lato"/>
                <a:cs typeface="Lato"/>
              </a:rPr>
              <a:t> </a:t>
            </a:r>
            <a:r>
              <a:rPr sz="1275" dirty="0" err="1">
                <a:solidFill>
                  <a:srgbClr val="666666"/>
                </a:solidFill>
                <a:latin typeface="Lato"/>
                <a:ea typeface="Lato"/>
                <a:cs typeface="Lato"/>
              </a:rPr>
              <a:t>liệu</a:t>
            </a:r>
            <a:r>
              <a:rPr sz="1275" dirty="0">
                <a:solidFill>
                  <a:srgbClr val="666666"/>
                </a:solidFill>
                <a:latin typeface="Lato"/>
                <a:ea typeface="Lato"/>
                <a:cs typeface="Lato"/>
              </a:rPr>
              <a:t> sentiment </a:t>
            </a:r>
            <a:r>
              <a:rPr sz="1275" dirty="0" err="1">
                <a:solidFill>
                  <a:srgbClr val="666666"/>
                </a:solidFill>
                <a:latin typeface="Lato"/>
                <a:ea typeface="Lato"/>
                <a:cs typeface="Lato"/>
              </a:rPr>
              <a:t>và</a:t>
            </a:r>
            <a:r>
              <a:rPr sz="1275" dirty="0">
                <a:solidFill>
                  <a:srgbClr val="666666"/>
                </a:solidFill>
                <a:latin typeface="Lato"/>
                <a:ea typeface="Lato"/>
                <a:cs typeface="Lato"/>
              </a:rPr>
              <a:t> reason; </a:t>
            </a:r>
            <a:r>
              <a:rPr sz="1275" dirty="0" err="1">
                <a:solidFill>
                  <a:srgbClr val="666666"/>
                </a:solidFill>
                <a:latin typeface="Lato"/>
                <a:ea typeface="Lato"/>
                <a:cs typeface="Lato"/>
              </a:rPr>
              <a:t>sau</a:t>
            </a:r>
            <a:r>
              <a:rPr sz="1275" dirty="0">
                <a:solidFill>
                  <a:srgbClr val="666666"/>
                </a:solidFill>
                <a:latin typeface="Lato"/>
                <a:ea typeface="Lato"/>
                <a:cs typeface="Lato"/>
              </a:rPr>
              <a:t> </a:t>
            </a:r>
            <a:r>
              <a:rPr sz="1275" dirty="0" err="1">
                <a:solidFill>
                  <a:srgbClr val="666666"/>
                </a:solidFill>
                <a:latin typeface="Lato"/>
                <a:ea typeface="Lato"/>
                <a:cs typeface="Lato"/>
              </a:rPr>
              <a:t>đó</a:t>
            </a:r>
            <a:r>
              <a:rPr sz="1275" dirty="0">
                <a:solidFill>
                  <a:srgbClr val="666666"/>
                </a:solidFill>
                <a:latin typeface="Lato"/>
                <a:ea typeface="Lato"/>
                <a:cs typeface="Lato"/>
              </a:rPr>
              <a:t> </a:t>
            </a:r>
            <a:r>
              <a:rPr sz="1275" dirty="0" err="1">
                <a:solidFill>
                  <a:srgbClr val="666666"/>
                </a:solidFill>
                <a:latin typeface="Lato"/>
                <a:ea typeface="Lato"/>
                <a:cs typeface="Lato"/>
              </a:rPr>
              <a:t>đối</a:t>
            </a:r>
            <a:r>
              <a:rPr sz="1275" dirty="0">
                <a:solidFill>
                  <a:srgbClr val="666666"/>
                </a:solidFill>
                <a:latin typeface="Lato"/>
                <a:ea typeface="Lato"/>
                <a:cs typeface="Lato"/>
              </a:rPr>
              <a:t> </a:t>
            </a:r>
            <a:r>
              <a:rPr sz="1275" dirty="0" err="1">
                <a:solidFill>
                  <a:srgbClr val="666666"/>
                </a:solidFill>
                <a:latin typeface="Lato"/>
                <a:ea typeface="Lato"/>
                <a:cs typeface="Lato"/>
              </a:rPr>
              <a:t>chiếu</a:t>
            </a:r>
            <a:r>
              <a:rPr sz="1275" dirty="0">
                <a:solidFill>
                  <a:srgbClr val="666666"/>
                </a:solidFill>
                <a:latin typeface="Lato"/>
                <a:ea typeface="Lato"/>
                <a:cs typeface="Lato"/>
              </a:rPr>
              <a:t> </a:t>
            </a:r>
            <a:r>
              <a:rPr sz="1275" dirty="0" err="1">
                <a:solidFill>
                  <a:srgbClr val="666666"/>
                </a:solidFill>
                <a:latin typeface="Lato"/>
                <a:ea typeface="Lato"/>
                <a:cs typeface="Lato"/>
              </a:rPr>
              <a:t>từng</a:t>
            </a:r>
            <a:r>
              <a:rPr sz="1275" dirty="0">
                <a:solidFill>
                  <a:srgbClr val="666666"/>
                </a:solidFill>
                <a:latin typeface="Lato"/>
                <a:ea typeface="Lato"/>
                <a:cs typeface="Lato"/>
              </a:rPr>
              <a:t> claim.</a:t>
            </a:r>
          </a:p>
          <a:p>
            <a:endParaRPr sz="1275" dirty="0">
              <a:solidFill>
                <a:srgbClr val="666666"/>
              </a:solidFill>
              <a:latin typeface="Lato"/>
              <a:ea typeface="Lato"/>
              <a:cs typeface="Lato"/>
            </a:endParaRPr>
          </a:p>
          <a:p>
            <a:pPr>
              <a:defRPr sz="1275">
                <a:solidFill>
                  <a:srgbClr val="666666"/>
                </a:solidFill>
                <a:latin typeface="Lato"/>
                <a:ea typeface="Lato"/>
                <a:cs typeface="Lato"/>
              </a:defRPr>
            </a:pPr>
            <a:r>
              <a:rPr sz="1275" dirty="0">
                <a:solidFill>
                  <a:srgbClr val="666666"/>
                </a:solidFill>
                <a:latin typeface="Lato"/>
                <a:ea typeface="Lato"/>
                <a:cs typeface="Lato"/>
              </a:rPr>
              <a:t>Restaurant: 4/4 claim </a:t>
            </a:r>
            <a:r>
              <a:rPr sz="1275" dirty="0" err="1">
                <a:solidFill>
                  <a:srgbClr val="666666"/>
                </a:solidFill>
                <a:latin typeface="Lato"/>
                <a:ea typeface="Lato"/>
                <a:cs typeface="Lato"/>
              </a:rPr>
              <a:t>hợp</a:t>
            </a:r>
            <a:r>
              <a:rPr sz="1275" dirty="0">
                <a:solidFill>
                  <a:srgbClr val="666666"/>
                </a:solidFill>
                <a:latin typeface="Lato"/>
                <a:ea typeface="Lato"/>
                <a:cs typeface="Lato"/>
              </a:rPr>
              <a:t> </a:t>
            </a:r>
            <a:r>
              <a:rPr sz="1275" dirty="0" err="1">
                <a:solidFill>
                  <a:srgbClr val="666666"/>
                </a:solidFill>
                <a:latin typeface="Lato"/>
                <a:ea typeface="Lato"/>
                <a:cs typeface="Lato"/>
              </a:rPr>
              <a:t>lệ</a:t>
            </a:r>
            <a:r>
              <a:rPr sz="1275" dirty="0">
                <a:solidFill>
                  <a:srgbClr val="666666"/>
                </a:solidFill>
                <a:latin typeface="Lato"/>
                <a:ea typeface="Lato"/>
                <a:cs typeface="Lato"/>
              </a:rPr>
              <a:t> → TRUE.</a:t>
            </a:r>
          </a:p>
        </p:txBody>
      </p:sp>
      <p:sp>
        <p:nvSpPr>
          <p:cNvPr id="10" name="card-Coverage passed">
            <a:extLst>
              <a:ext uri="{FF2B5EF4-FFF2-40B4-BE49-F238E27FC236}">
                <a16:creationId xmlns:a16="http://schemas.microsoft.com/office/drawing/2014/main" id="{93886762-E3B9-46DA-A9B4-8455BA680E97}"/>
              </a:ext>
            </a:extLst>
          </p:cNvPr>
          <p:cNvSpPr>
            <a:spLocks noGrp="1"/>
          </p:cNvSpPr>
          <p:nvPr/>
        </p:nvSpPr>
        <p:spPr>
          <a:xfrm>
            <a:off x="4572000" y="1428750"/>
            <a:ext cx="3886200" cy="4333875"/>
          </a:xfrm>
          <a:prstGeom prst="roundRect">
            <a:avLst>
              <a:gd name="adj" fmla="val 3431"/>
            </a:avLst>
          </a:prstGeom>
          <a:noFill/>
          <a:ln w="11430">
            <a:solidFill>
              <a:srgbClr val="E2D6D6"/>
            </a:solidFill>
            <a:prstDash val="solid"/>
          </a:ln>
        </p:spPr>
        <p:txBody>
          <a:bodyPr/>
          <a:lstStyle/>
          <a:p>
            <a:endParaRPr lang="en-VN"/>
          </a:p>
        </p:txBody>
      </p:sp>
      <p:sp>
        <p:nvSpPr>
          <p:cNvPr id="11" name="eyebrow-Coverage passed">
            <a:extLst>
              <a:ext uri="{FF2B5EF4-FFF2-40B4-BE49-F238E27FC236}">
                <a16:creationId xmlns:a16="http://schemas.microsoft.com/office/drawing/2014/main" id="{C997FA4B-BCA8-40F8-97BE-FEEBB125F8F4}"/>
              </a:ext>
            </a:extLst>
          </p:cNvPr>
          <p:cNvSpPr>
            <a:spLocks noGrp="1"/>
          </p:cNvSpPr>
          <p:nvPr/>
        </p:nvSpPr>
        <p:spPr>
          <a:xfrm>
            <a:off x="4762500" y="1581150"/>
            <a:ext cx="3505200" cy="228600"/>
          </a:xfrm>
          <a:prstGeom prst="rect">
            <a:avLst/>
          </a:prstGeom>
          <a:noFill/>
          <a:ln w="0">
            <a:noFill/>
            <a:prstDash val="solid"/>
          </a:ln>
        </p:spPr>
        <p:txBody>
          <a:bodyPr anchor="ctr"/>
          <a:lstStyle/>
          <a:p>
            <a:pPr>
              <a:defRPr sz="975" b="1">
                <a:solidFill>
                  <a:srgbClr val="E8A000"/>
                </a:solidFill>
                <a:latin typeface="Lato"/>
                <a:ea typeface="Lato"/>
                <a:cs typeface="Lato"/>
              </a:defRPr>
            </a:pPr>
            <a:r>
              <a:rPr sz="975" b="1">
                <a:solidFill>
                  <a:srgbClr val="E8A000"/>
                </a:solidFill>
                <a:latin typeface="Lato"/>
                <a:ea typeface="Lato"/>
                <a:cs typeface="Lato"/>
              </a:rPr>
              <a:t>COVERAGE PASSED</a:t>
            </a:r>
          </a:p>
        </p:txBody>
      </p:sp>
      <p:sp>
        <p:nvSpPr>
          <p:cNvPr id="12" name="headline-Coverage passed">
            <a:extLst>
              <a:ext uri="{FF2B5EF4-FFF2-40B4-BE49-F238E27FC236}">
                <a16:creationId xmlns:a16="http://schemas.microsoft.com/office/drawing/2014/main" id="{D173686C-80E6-465D-BB92-70F9242EA144}"/>
              </a:ext>
            </a:extLst>
          </p:cNvPr>
          <p:cNvSpPr>
            <a:spLocks noGrp="1"/>
          </p:cNvSpPr>
          <p:nvPr/>
        </p:nvSpPr>
        <p:spPr>
          <a:xfrm>
            <a:off x="4762500" y="1885950"/>
            <a:ext cx="350520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Các aspect được chọn có được nhắc đủ?</a:t>
            </a:r>
          </a:p>
        </p:txBody>
      </p:sp>
      <p:sp>
        <p:nvSpPr>
          <p:cNvPr id="13" name="body-Coverage passed">
            <a:extLst>
              <a:ext uri="{FF2B5EF4-FFF2-40B4-BE49-F238E27FC236}">
                <a16:creationId xmlns:a16="http://schemas.microsoft.com/office/drawing/2014/main" id="{E0ABB4CB-CD4D-489A-87A1-C8F223B074C0}"/>
              </a:ext>
            </a:extLst>
          </p:cNvPr>
          <p:cNvSpPr>
            <a:spLocks noGrp="1"/>
          </p:cNvSpPr>
          <p:nvPr/>
        </p:nvSpPr>
        <p:spPr>
          <a:xfrm>
            <a:off x="4762500" y="2609850"/>
            <a:ext cx="3505200" cy="2981325"/>
          </a:xfrm>
          <a:prstGeom prst="rect">
            <a:avLst/>
          </a:prstGeom>
          <a:noFill/>
          <a:ln w="0">
            <a:noFill/>
            <a:prstDash val="solid"/>
          </a:ln>
        </p:spPr>
        <p:txBody>
          <a:bodyPr anchor="t"/>
          <a:lstStyle/>
          <a:p>
            <a:pPr>
              <a:defRPr sz="1275">
                <a:solidFill>
                  <a:srgbClr val="666666"/>
                </a:solidFill>
                <a:latin typeface="Lato"/>
                <a:ea typeface="Lato"/>
                <a:cs typeface="Lato"/>
              </a:defRPr>
            </a:pPr>
            <a:r>
              <a:rPr sz="1275">
                <a:solidFill>
                  <a:srgbClr val="666666"/>
                </a:solidFill>
                <a:latin typeface="Lato"/>
                <a:ea typeface="Lato"/>
                <a:cs typeface="Lato"/>
              </a:rPr>
              <a:t>Coverage là tín hiệu riêng, không biến một báo cáo ngắn nhưng đúng thành “sai factual”.</a:t>
            </a:r>
          </a:p>
          <a:p>
            <a:endParaRPr sz="1275">
              <a:solidFill>
                <a:srgbClr val="666666"/>
              </a:solidFill>
              <a:latin typeface="Lato"/>
              <a:ea typeface="Lato"/>
              <a:cs typeface="Lato"/>
            </a:endParaRPr>
          </a:p>
          <a:p>
            <a:pPr>
              <a:defRPr sz="1275">
                <a:solidFill>
                  <a:srgbClr val="666666"/>
                </a:solidFill>
                <a:latin typeface="Lato"/>
                <a:ea typeface="Lato"/>
                <a:cs typeface="Lato"/>
              </a:defRPr>
            </a:pPr>
            <a:r>
              <a:rPr sz="1275">
                <a:solidFill>
                  <a:srgbClr val="666666"/>
                </a:solidFill>
                <a:latin typeface="Lato"/>
                <a:ea typeface="Lato"/>
                <a:cs typeface="Lato"/>
              </a:rPr>
              <a:t>Yelp: 3/3 claim đúng nhưng thiếu aspect → accepted_with_warnings.</a:t>
            </a:r>
          </a:p>
        </p:txBody>
      </p:sp>
    </p:spTree>
    <p:extLst>
      <p:ext uri="{BB962C8B-B14F-4D97-AF65-F5344CB8AC3E}">
        <p14:creationId xmlns:p14="http://schemas.microsoft.com/office/powerpoint/2010/main" val="1341840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lIns="91440" tIns="45720" rIns="91440" bIns="45720" anchor="t"/>
          <a:lstStyle/>
          <a:p>
            <a:r>
              <a:rPr lang="vi-VN"/>
              <a:t>10</a:t>
            </a:r>
            <a:r>
              <a:t>. </a:t>
            </a:r>
            <a:r>
              <a:rPr err="1"/>
              <a:t>Thử</a:t>
            </a:r>
            <a:r>
              <a:t> </a:t>
            </a:r>
            <a:r>
              <a:rPr err="1"/>
              <a:t>nghiệm</a:t>
            </a:r>
            <a:r>
              <a:t> </a:t>
            </a:r>
            <a:r>
              <a:rPr err="1"/>
              <a:t>mở</a:t>
            </a:r>
            <a:r>
              <a:t> </a:t>
            </a:r>
            <a:r>
              <a:rPr err="1"/>
              <a:t>rộng</a:t>
            </a:r>
            <a:r>
              <a:t> Yelp</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idx="12"/>
          </p:nvPr>
        </p:nvSpPr>
        <p:spPr>
          <a:xfrm>
            <a:off x="6867430" y="6491288"/>
            <a:ext cx="2057400" cy="361950"/>
          </a:xfrm>
        </p:spPr>
        <p:txBody>
          <a:bodyPr/>
          <a:lstStyle/>
          <a:p>
            <a:fld id="{30394428-F1DC-E5F6-DB0C-7DE31F3D8A23}" type="slidenum">
              <a:rPr/>
              <a:t>14</a:t>
            </a:fld>
            <a:endParaRPr/>
          </a:p>
        </p:txBody>
      </p:sp>
      <p:sp>
        <p:nvSpPr>
          <p:cNvPr id="6" name="metric-review được lấy mẫu">
            <a:extLst>
              <a:ext uri="{FF2B5EF4-FFF2-40B4-BE49-F238E27FC236}">
                <a16:creationId xmlns:a16="http://schemas.microsoft.com/office/drawing/2014/main" id="{4D633429-F78A-4E7C-93B6-922AC4F4CF8E}"/>
              </a:ext>
            </a:extLst>
          </p:cNvPr>
          <p:cNvSpPr>
            <a:spLocks noGrp="1"/>
          </p:cNvSpPr>
          <p:nvPr/>
        </p:nvSpPr>
        <p:spPr>
          <a:xfrm>
            <a:off x="619125" y="1524000"/>
            <a:ext cx="2333625" cy="1095375"/>
          </a:xfrm>
          <a:prstGeom prst="roundRect">
            <a:avLst>
              <a:gd name="adj" fmla="val 10435"/>
            </a:avLst>
          </a:prstGeom>
          <a:solidFill>
            <a:srgbClr val="FFFFFF"/>
          </a:solidFill>
          <a:ln w="11430">
            <a:solidFill>
              <a:srgbClr val="E8DCDC"/>
            </a:solidFill>
            <a:prstDash val="solid"/>
          </a:ln>
        </p:spPr>
        <p:txBody>
          <a:bodyPr/>
          <a:lstStyle/>
          <a:p>
            <a:endParaRPr lang="en-VN"/>
          </a:p>
        </p:txBody>
      </p:sp>
      <p:sp>
        <p:nvSpPr>
          <p:cNvPr id="7" name="metric-value-review được lấy mẫu">
            <a:extLst>
              <a:ext uri="{FF2B5EF4-FFF2-40B4-BE49-F238E27FC236}">
                <a16:creationId xmlns:a16="http://schemas.microsoft.com/office/drawing/2014/main" id="{2B2741D2-74A0-4BAB-BAA8-6213481CB041}"/>
              </a:ext>
            </a:extLst>
          </p:cNvPr>
          <p:cNvSpPr>
            <a:spLocks noGrp="1"/>
          </p:cNvSpPr>
          <p:nvPr/>
        </p:nvSpPr>
        <p:spPr>
          <a:xfrm>
            <a:off x="714375" y="1638300"/>
            <a:ext cx="2143125" cy="495300"/>
          </a:xfrm>
          <a:prstGeom prst="rect">
            <a:avLst/>
          </a:prstGeom>
          <a:noFill/>
          <a:ln w="0">
            <a:noFill/>
            <a:prstDash val="solid"/>
          </a:ln>
        </p:spPr>
        <p:txBody>
          <a:bodyPr anchor="ctr"/>
          <a:lstStyle/>
          <a:p>
            <a:pPr algn="ctr">
              <a:defRPr sz="2700" b="1">
                <a:solidFill>
                  <a:srgbClr val="C00000"/>
                </a:solidFill>
                <a:latin typeface="Lato"/>
                <a:ea typeface="Lato"/>
                <a:cs typeface="Lato"/>
              </a:defRPr>
            </a:pPr>
            <a:r>
              <a:rPr sz="2700" b="1">
                <a:solidFill>
                  <a:srgbClr val="C00000"/>
                </a:solidFill>
                <a:latin typeface="Lato"/>
                <a:ea typeface="Lato"/>
                <a:cs typeface="Lato"/>
              </a:rPr>
              <a:t>2.000</a:t>
            </a:r>
          </a:p>
        </p:txBody>
      </p:sp>
      <p:sp>
        <p:nvSpPr>
          <p:cNvPr id="8" name="metric-label-review được lấy mẫu">
            <a:extLst>
              <a:ext uri="{FF2B5EF4-FFF2-40B4-BE49-F238E27FC236}">
                <a16:creationId xmlns:a16="http://schemas.microsoft.com/office/drawing/2014/main" id="{9CF9CABE-D679-4DCA-98C3-7377975C1A31}"/>
              </a:ext>
            </a:extLst>
          </p:cNvPr>
          <p:cNvSpPr>
            <a:spLocks noGrp="1"/>
          </p:cNvSpPr>
          <p:nvPr/>
        </p:nvSpPr>
        <p:spPr>
          <a:xfrm>
            <a:off x="752475" y="2162175"/>
            <a:ext cx="2066925" cy="285750"/>
          </a:xfrm>
          <a:prstGeom prst="rect">
            <a:avLst/>
          </a:prstGeom>
          <a:noFill/>
          <a:ln w="0">
            <a:noFill/>
            <a:prstDash val="solid"/>
          </a:ln>
        </p:spPr>
        <p:txBody>
          <a:bodyPr anchor="ctr"/>
          <a:lstStyle/>
          <a:p>
            <a:pPr algn="ctr">
              <a:defRPr sz="1125">
                <a:solidFill>
                  <a:srgbClr val="666666"/>
                </a:solidFill>
                <a:latin typeface="Lato"/>
                <a:ea typeface="Lato"/>
                <a:cs typeface="Lato"/>
              </a:defRPr>
            </a:pPr>
            <a:r>
              <a:rPr sz="1125">
                <a:solidFill>
                  <a:srgbClr val="666666"/>
                </a:solidFill>
                <a:latin typeface="Lato"/>
                <a:ea typeface="Lato"/>
                <a:cs typeface="Lato"/>
              </a:rPr>
              <a:t>review được lấy mẫu</a:t>
            </a:r>
          </a:p>
        </p:txBody>
      </p:sp>
      <p:sp>
        <p:nvSpPr>
          <p:cNvPr id="9" name="metric-triplet được trích xuất">
            <a:extLst>
              <a:ext uri="{FF2B5EF4-FFF2-40B4-BE49-F238E27FC236}">
                <a16:creationId xmlns:a16="http://schemas.microsoft.com/office/drawing/2014/main" id="{0FDD87E8-6E6A-4E47-BFDF-9334B534731B}"/>
              </a:ext>
            </a:extLst>
          </p:cNvPr>
          <p:cNvSpPr>
            <a:spLocks noGrp="1"/>
          </p:cNvSpPr>
          <p:nvPr/>
        </p:nvSpPr>
        <p:spPr>
          <a:xfrm>
            <a:off x="3381375" y="1524000"/>
            <a:ext cx="2333625" cy="1095375"/>
          </a:xfrm>
          <a:prstGeom prst="roundRect">
            <a:avLst>
              <a:gd name="adj" fmla="val 10435"/>
            </a:avLst>
          </a:prstGeom>
          <a:solidFill>
            <a:srgbClr val="FFFFFF"/>
          </a:solidFill>
          <a:ln w="11430">
            <a:solidFill>
              <a:srgbClr val="E8DCDC"/>
            </a:solidFill>
            <a:prstDash val="solid"/>
          </a:ln>
        </p:spPr>
        <p:txBody>
          <a:bodyPr/>
          <a:lstStyle/>
          <a:p>
            <a:endParaRPr lang="en-VN"/>
          </a:p>
        </p:txBody>
      </p:sp>
      <p:sp>
        <p:nvSpPr>
          <p:cNvPr id="10" name="metric-value-triplet được trích xuất">
            <a:extLst>
              <a:ext uri="{FF2B5EF4-FFF2-40B4-BE49-F238E27FC236}">
                <a16:creationId xmlns:a16="http://schemas.microsoft.com/office/drawing/2014/main" id="{D14966B7-80E5-4701-B345-284DBB3BBC44}"/>
              </a:ext>
            </a:extLst>
          </p:cNvPr>
          <p:cNvSpPr>
            <a:spLocks noGrp="1"/>
          </p:cNvSpPr>
          <p:nvPr/>
        </p:nvSpPr>
        <p:spPr>
          <a:xfrm>
            <a:off x="3476625" y="1638300"/>
            <a:ext cx="2143125" cy="495300"/>
          </a:xfrm>
          <a:prstGeom prst="rect">
            <a:avLst/>
          </a:prstGeom>
          <a:noFill/>
          <a:ln w="0">
            <a:noFill/>
            <a:prstDash val="solid"/>
          </a:ln>
        </p:spPr>
        <p:txBody>
          <a:bodyPr anchor="ctr"/>
          <a:lstStyle/>
          <a:p>
            <a:pPr algn="ctr">
              <a:defRPr sz="2700" b="1">
                <a:solidFill>
                  <a:srgbClr val="E8A000"/>
                </a:solidFill>
                <a:latin typeface="Lato"/>
                <a:ea typeface="Lato"/>
                <a:cs typeface="Lato"/>
              </a:defRPr>
            </a:pPr>
            <a:r>
              <a:rPr sz="2700" b="1">
                <a:solidFill>
                  <a:srgbClr val="E8A000"/>
                </a:solidFill>
                <a:latin typeface="Lato"/>
                <a:ea typeface="Lato"/>
                <a:cs typeface="Lato"/>
              </a:rPr>
              <a:t>14.700</a:t>
            </a:r>
          </a:p>
        </p:txBody>
      </p:sp>
      <p:sp>
        <p:nvSpPr>
          <p:cNvPr id="11" name="metric-label-triplet được trích xuất">
            <a:extLst>
              <a:ext uri="{FF2B5EF4-FFF2-40B4-BE49-F238E27FC236}">
                <a16:creationId xmlns:a16="http://schemas.microsoft.com/office/drawing/2014/main" id="{9D3AC606-2492-4F6D-B463-2F7F7A79A3C1}"/>
              </a:ext>
            </a:extLst>
          </p:cNvPr>
          <p:cNvSpPr>
            <a:spLocks noGrp="1"/>
          </p:cNvSpPr>
          <p:nvPr/>
        </p:nvSpPr>
        <p:spPr>
          <a:xfrm>
            <a:off x="3514725" y="2162175"/>
            <a:ext cx="2066925" cy="285750"/>
          </a:xfrm>
          <a:prstGeom prst="rect">
            <a:avLst/>
          </a:prstGeom>
          <a:noFill/>
          <a:ln w="0">
            <a:noFill/>
            <a:prstDash val="solid"/>
          </a:ln>
        </p:spPr>
        <p:txBody>
          <a:bodyPr anchor="ctr"/>
          <a:lstStyle/>
          <a:p>
            <a:pPr algn="ctr">
              <a:defRPr sz="1125">
                <a:solidFill>
                  <a:srgbClr val="666666"/>
                </a:solidFill>
                <a:latin typeface="Lato"/>
                <a:ea typeface="Lato"/>
                <a:cs typeface="Lato"/>
              </a:defRPr>
            </a:pPr>
            <a:r>
              <a:rPr sz="1125">
                <a:solidFill>
                  <a:srgbClr val="666666"/>
                </a:solidFill>
                <a:latin typeface="Lato"/>
                <a:ea typeface="Lato"/>
                <a:cs typeface="Lato"/>
              </a:rPr>
              <a:t>triplet được trích xuất</a:t>
            </a:r>
          </a:p>
        </p:txBody>
      </p:sp>
      <p:sp>
        <p:nvSpPr>
          <p:cNvPr id="12" name="metric-aspect có ≥2 lượt nhắc">
            <a:extLst>
              <a:ext uri="{FF2B5EF4-FFF2-40B4-BE49-F238E27FC236}">
                <a16:creationId xmlns:a16="http://schemas.microsoft.com/office/drawing/2014/main" id="{43F7E9A5-3042-47B1-98A7-74FC1243C468}"/>
              </a:ext>
            </a:extLst>
          </p:cNvPr>
          <p:cNvSpPr>
            <a:spLocks noGrp="1"/>
          </p:cNvSpPr>
          <p:nvPr/>
        </p:nvSpPr>
        <p:spPr>
          <a:xfrm>
            <a:off x="6143625" y="1524000"/>
            <a:ext cx="2333625" cy="1095375"/>
          </a:xfrm>
          <a:prstGeom prst="roundRect">
            <a:avLst>
              <a:gd name="adj" fmla="val 10435"/>
            </a:avLst>
          </a:prstGeom>
          <a:solidFill>
            <a:srgbClr val="FFFFFF"/>
          </a:solidFill>
          <a:ln w="11430">
            <a:solidFill>
              <a:srgbClr val="E8DCDC"/>
            </a:solidFill>
            <a:prstDash val="solid"/>
          </a:ln>
        </p:spPr>
        <p:txBody>
          <a:bodyPr/>
          <a:lstStyle/>
          <a:p>
            <a:endParaRPr lang="en-VN"/>
          </a:p>
        </p:txBody>
      </p:sp>
      <p:sp>
        <p:nvSpPr>
          <p:cNvPr id="13" name="metric-value-aspect có ≥2 lượt nhắc">
            <a:extLst>
              <a:ext uri="{FF2B5EF4-FFF2-40B4-BE49-F238E27FC236}">
                <a16:creationId xmlns:a16="http://schemas.microsoft.com/office/drawing/2014/main" id="{85F2CCF1-E8DA-4986-AF36-17AF6A670EAC}"/>
              </a:ext>
            </a:extLst>
          </p:cNvPr>
          <p:cNvSpPr>
            <a:spLocks noGrp="1"/>
          </p:cNvSpPr>
          <p:nvPr/>
        </p:nvSpPr>
        <p:spPr>
          <a:xfrm>
            <a:off x="6238875" y="1638300"/>
            <a:ext cx="2143125" cy="495300"/>
          </a:xfrm>
          <a:prstGeom prst="rect">
            <a:avLst/>
          </a:prstGeom>
          <a:noFill/>
          <a:ln w="0">
            <a:noFill/>
            <a:prstDash val="solid"/>
          </a:ln>
        </p:spPr>
        <p:txBody>
          <a:bodyPr anchor="ctr"/>
          <a:lstStyle/>
          <a:p>
            <a:pPr algn="ctr">
              <a:defRPr sz="2700" b="1">
                <a:solidFill>
                  <a:srgbClr val="2455D6"/>
                </a:solidFill>
                <a:latin typeface="Lato"/>
                <a:ea typeface="Lato"/>
                <a:cs typeface="Lato"/>
              </a:defRPr>
            </a:pPr>
            <a:r>
              <a:rPr sz="2700" b="1">
                <a:solidFill>
                  <a:srgbClr val="2455D6"/>
                </a:solidFill>
                <a:latin typeface="Lato"/>
                <a:ea typeface="Lato"/>
                <a:cs typeface="Lato"/>
              </a:rPr>
              <a:t>1.224</a:t>
            </a:r>
          </a:p>
        </p:txBody>
      </p:sp>
      <p:sp>
        <p:nvSpPr>
          <p:cNvPr id="14" name="metric-label-aspect có ≥2 lượt nhắc">
            <a:extLst>
              <a:ext uri="{FF2B5EF4-FFF2-40B4-BE49-F238E27FC236}">
                <a16:creationId xmlns:a16="http://schemas.microsoft.com/office/drawing/2014/main" id="{FA8AB1ED-0406-4508-BA44-AF00E805DC6F}"/>
              </a:ext>
            </a:extLst>
          </p:cNvPr>
          <p:cNvSpPr>
            <a:spLocks noGrp="1"/>
          </p:cNvSpPr>
          <p:nvPr/>
        </p:nvSpPr>
        <p:spPr>
          <a:xfrm>
            <a:off x="6276975" y="2162175"/>
            <a:ext cx="2066925" cy="285750"/>
          </a:xfrm>
          <a:prstGeom prst="rect">
            <a:avLst/>
          </a:prstGeom>
          <a:noFill/>
          <a:ln w="0">
            <a:noFill/>
            <a:prstDash val="solid"/>
          </a:ln>
        </p:spPr>
        <p:txBody>
          <a:bodyPr anchor="ctr"/>
          <a:lstStyle/>
          <a:p>
            <a:pPr algn="ctr">
              <a:defRPr sz="1125">
                <a:solidFill>
                  <a:srgbClr val="666666"/>
                </a:solidFill>
                <a:latin typeface="Lato"/>
                <a:ea typeface="Lato"/>
                <a:cs typeface="Lato"/>
              </a:defRPr>
            </a:pPr>
            <a:r>
              <a:rPr sz="1125">
                <a:solidFill>
                  <a:srgbClr val="666666"/>
                </a:solidFill>
                <a:latin typeface="Lato"/>
                <a:ea typeface="Lato"/>
                <a:cs typeface="Lato"/>
              </a:rPr>
              <a:t>aspect có ≥2 lượt nhắc</a:t>
            </a:r>
          </a:p>
        </p:txBody>
      </p:sp>
      <p:sp>
        <p:nvSpPr>
          <p:cNvPr id="15" name="card-Quy mô">
            <a:extLst>
              <a:ext uri="{FF2B5EF4-FFF2-40B4-BE49-F238E27FC236}">
                <a16:creationId xmlns:a16="http://schemas.microsoft.com/office/drawing/2014/main" id="{5564CA6A-3DC2-4009-88EA-A554E6B20844}"/>
              </a:ext>
            </a:extLst>
          </p:cNvPr>
          <p:cNvSpPr>
            <a:spLocks noGrp="1"/>
          </p:cNvSpPr>
          <p:nvPr/>
        </p:nvSpPr>
        <p:spPr>
          <a:xfrm>
            <a:off x="533400" y="3048000"/>
            <a:ext cx="3886200" cy="2476500"/>
          </a:xfrm>
          <a:prstGeom prst="roundRect">
            <a:avLst>
              <a:gd name="adj" fmla="val 5385"/>
            </a:avLst>
          </a:prstGeom>
          <a:noFill/>
          <a:ln w="11430">
            <a:solidFill>
              <a:srgbClr val="E2D6D6"/>
            </a:solidFill>
            <a:prstDash val="solid"/>
          </a:ln>
        </p:spPr>
        <p:txBody>
          <a:bodyPr/>
          <a:lstStyle/>
          <a:p>
            <a:endParaRPr lang="en-VN"/>
          </a:p>
        </p:txBody>
      </p:sp>
      <p:sp>
        <p:nvSpPr>
          <p:cNvPr id="16" name="eyebrow-Quy mô">
            <a:extLst>
              <a:ext uri="{FF2B5EF4-FFF2-40B4-BE49-F238E27FC236}">
                <a16:creationId xmlns:a16="http://schemas.microsoft.com/office/drawing/2014/main" id="{FE8AAE41-DB44-42CB-A5E2-95EFBE0D3D19}"/>
              </a:ext>
            </a:extLst>
          </p:cNvPr>
          <p:cNvSpPr>
            <a:spLocks noGrp="1"/>
          </p:cNvSpPr>
          <p:nvPr/>
        </p:nvSpPr>
        <p:spPr>
          <a:xfrm>
            <a:off x="723900" y="3200400"/>
            <a:ext cx="3505200" cy="2286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QUY MÔ</a:t>
            </a:r>
          </a:p>
        </p:txBody>
      </p:sp>
      <p:sp>
        <p:nvSpPr>
          <p:cNvPr id="17" name="headline-Quy mô">
            <a:extLst>
              <a:ext uri="{FF2B5EF4-FFF2-40B4-BE49-F238E27FC236}">
                <a16:creationId xmlns:a16="http://schemas.microsoft.com/office/drawing/2014/main" id="{20C2E965-7D11-497D-ADA8-C3FA3D28BCAD}"/>
              </a:ext>
            </a:extLst>
          </p:cNvPr>
          <p:cNvSpPr>
            <a:spLocks noGrp="1"/>
          </p:cNvSpPr>
          <p:nvPr/>
        </p:nvSpPr>
        <p:spPr>
          <a:xfrm>
            <a:off x="723900" y="3505200"/>
            <a:ext cx="350520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14.285 câu từ 2.000 review</a:t>
            </a:r>
          </a:p>
        </p:txBody>
      </p:sp>
      <p:sp>
        <p:nvSpPr>
          <p:cNvPr id="18" name="body-Quy mô">
            <a:extLst>
              <a:ext uri="{FF2B5EF4-FFF2-40B4-BE49-F238E27FC236}">
                <a16:creationId xmlns:a16="http://schemas.microsoft.com/office/drawing/2014/main" id="{DFF820F7-EF41-42C9-B201-09E10E609695}"/>
              </a:ext>
            </a:extLst>
          </p:cNvPr>
          <p:cNvSpPr>
            <a:spLocks noGrp="1"/>
          </p:cNvSpPr>
          <p:nvPr/>
        </p:nvSpPr>
        <p:spPr>
          <a:xfrm>
            <a:off x="723900" y="4229100"/>
            <a:ext cx="3505200" cy="1123950"/>
          </a:xfrm>
          <a:prstGeom prst="rect">
            <a:avLst/>
          </a:prstGeom>
          <a:noFill/>
          <a:ln w="0">
            <a:noFill/>
            <a:prstDash val="solid"/>
          </a:ln>
        </p:spPr>
        <p:txBody>
          <a:bodyPr anchor="t"/>
          <a:lstStyle/>
          <a:p>
            <a:pPr>
              <a:defRPr sz="1275">
                <a:solidFill>
                  <a:srgbClr val="666666"/>
                </a:solidFill>
                <a:latin typeface="Lato"/>
                <a:ea typeface="Lato"/>
                <a:cs typeface="Lato"/>
              </a:defRPr>
            </a:pPr>
            <a:r>
              <a:rPr sz="1275">
                <a:solidFill>
                  <a:srgbClr val="666666"/>
                </a:solidFill>
                <a:latin typeface="Lato"/>
                <a:ea typeface="Lato"/>
                <a:cs typeface="Lato"/>
              </a:rPr>
              <a:t>Các aspect phổ biến gồm ice cream (765), place (633) và flavors (237). Pipeline tạo bảng reason-aware trên dữ liệu chưa dùng để huấn luyện.</a:t>
            </a:r>
          </a:p>
        </p:txBody>
      </p:sp>
      <p:sp>
        <p:nvSpPr>
          <p:cNvPr id="19" name="card-Kết quả checker">
            <a:extLst>
              <a:ext uri="{FF2B5EF4-FFF2-40B4-BE49-F238E27FC236}">
                <a16:creationId xmlns:a16="http://schemas.microsoft.com/office/drawing/2014/main" id="{B391951B-3D17-475A-BACE-F1491B64C0D5}"/>
              </a:ext>
            </a:extLst>
          </p:cNvPr>
          <p:cNvSpPr>
            <a:spLocks noGrp="1"/>
          </p:cNvSpPr>
          <p:nvPr/>
        </p:nvSpPr>
        <p:spPr>
          <a:xfrm>
            <a:off x="4572000" y="3048000"/>
            <a:ext cx="3886200" cy="2476500"/>
          </a:xfrm>
          <a:prstGeom prst="roundRect">
            <a:avLst>
              <a:gd name="adj" fmla="val 5385"/>
            </a:avLst>
          </a:prstGeom>
          <a:noFill/>
          <a:ln w="11430">
            <a:solidFill>
              <a:srgbClr val="E2D6D6"/>
            </a:solidFill>
            <a:prstDash val="solid"/>
          </a:ln>
        </p:spPr>
        <p:txBody>
          <a:bodyPr/>
          <a:lstStyle/>
          <a:p>
            <a:endParaRPr lang="en-VN"/>
          </a:p>
        </p:txBody>
      </p:sp>
      <p:sp>
        <p:nvSpPr>
          <p:cNvPr id="20" name="eyebrow-Kết quả checker">
            <a:extLst>
              <a:ext uri="{FF2B5EF4-FFF2-40B4-BE49-F238E27FC236}">
                <a16:creationId xmlns:a16="http://schemas.microsoft.com/office/drawing/2014/main" id="{FA521085-BC3B-411B-A992-9484B1CDFA7E}"/>
              </a:ext>
            </a:extLst>
          </p:cNvPr>
          <p:cNvSpPr>
            <a:spLocks noGrp="1"/>
          </p:cNvSpPr>
          <p:nvPr/>
        </p:nvSpPr>
        <p:spPr>
          <a:xfrm>
            <a:off x="4762500" y="3200400"/>
            <a:ext cx="3505200" cy="228600"/>
          </a:xfrm>
          <a:prstGeom prst="rect">
            <a:avLst/>
          </a:prstGeom>
          <a:noFill/>
          <a:ln w="0">
            <a:noFill/>
            <a:prstDash val="solid"/>
          </a:ln>
        </p:spPr>
        <p:txBody>
          <a:bodyPr anchor="ctr"/>
          <a:lstStyle/>
          <a:p>
            <a:pPr>
              <a:defRPr sz="975" b="1">
                <a:solidFill>
                  <a:srgbClr val="E8A000"/>
                </a:solidFill>
                <a:latin typeface="Lato"/>
                <a:ea typeface="Lato"/>
                <a:cs typeface="Lato"/>
              </a:defRPr>
            </a:pPr>
            <a:r>
              <a:rPr sz="975" b="1">
                <a:solidFill>
                  <a:srgbClr val="E8A000"/>
                </a:solidFill>
                <a:latin typeface="Lato"/>
                <a:ea typeface="Lato"/>
                <a:cs typeface="Lato"/>
              </a:rPr>
              <a:t>KẾT QUẢ CHECKER</a:t>
            </a:r>
          </a:p>
        </p:txBody>
      </p:sp>
      <p:sp>
        <p:nvSpPr>
          <p:cNvPr id="21" name="headline-Kết quả checker">
            <a:extLst>
              <a:ext uri="{FF2B5EF4-FFF2-40B4-BE49-F238E27FC236}">
                <a16:creationId xmlns:a16="http://schemas.microsoft.com/office/drawing/2014/main" id="{6C7907C0-1C80-4FFC-BA08-699801174F2C}"/>
              </a:ext>
            </a:extLst>
          </p:cNvPr>
          <p:cNvSpPr>
            <a:spLocks noGrp="1"/>
          </p:cNvSpPr>
          <p:nvPr/>
        </p:nvSpPr>
        <p:spPr>
          <a:xfrm>
            <a:off x="4762500" y="3505200"/>
            <a:ext cx="350520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Đúng factual nhưng chưa đủ coverage</a:t>
            </a:r>
          </a:p>
        </p:txBody>
      </p:sp>
      <p:sp>
        <p:nvSpPr>
          <p:cNvPr id="22" name="body-Kết quả checker">
            <a:extLst>
              <a:ext uri="{FF2B5EF4-FFF2-40B4-BE49-F238E27FC236}">
                <a16:creationId xmlns:a16="http://schemas.microsoft.com/office/drawing/2014/main" id="{F560B71A-0EDC-4552-A3F3-C04555B79EF1}"/>
              </a:ext>
            </a:extLst>
          </p:cNvPr>
          <p:cNvSpPr>
            <a:spLocks noGrp="1"/>
          </p:cNvSpPr>
          <p:nvPr/>
        </p:nvSpPr>
        <p:spPr>
          <a:xfrm>
            <a:off x="4762500" y="4229100"/>
            <a:ext cx="3505200" cy="1123950"/>
          </a:xfrm>
          <a:prstGeom prst="rect">
            <a:avLst/>
          </a:prstGeom>
          <a:noFill/>
          <a:ln w="0">
            <a:noFill/>
            <a:prstDash val="solid"/>
          </a:ln>
        </p:spPr>
        <p:txBody>
          <a:bodyPr anchor="t"/>
          <a:lstStyle/>
          <a:p>
            <a:pPr>
              <a:defRPr sz="1275">
                <a:solidFill>
                  <a:srgbClr val="666666"/>
                </a:solidFill>
                <a:latin typeface="Lato"/>
                <a:ea typeface="Lato"/>
                <a:cs typeface="Lato"/>
              </a:defRPr>
            </a:pPr>
            <a:r>
              <a:rPr sz="1275">
                <a:solidFill>
                  <a:srgbClr val="666666"/>
                </a:solidFill>
                <a:latin typeface="Lato"/>
                <a:ea typeface="Lato"/>
                <a:cs typeface="Lato"/>
              </a:rPr>
              <a:t>3/3 claim đã nêu khớp dữ liệu. Một aspect bị bỏ sót và parking lặp lại, vì vậy hệ thống trả accepted_with_warnings thay vì bác bỏ toàn bộ báo cáo.</a:t>
            </a:r>
          </a:p>
        </p:txBody>
      </p:sp>
    </p:spTree>
    <p:extLst>
      <p:ext uri="{BB962C8B-B14F-4D97-AF65-F5344CB8AC3E}">
        <p14:creationId xmlns:p14="http://schemas.microsoft.com/office/powerpoint/2010/main" val="3651498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idx="12"/>
          </p:nvPr>
        </p:nvSpPr>
        <p:spPr>
          <a:xfrm>
            <a:off x="6867430" y="6491288"/>
            <a:ext cx="2057400" cy="361950"/>
          </a:xfrm>
        </p:spPr>
        <p:txBody>
          <a:bodyPr/>
          <a:lstStyle/>
          <a:p>
            <a:fld id="{4DB16885-0D3F-A391-B669-3211DB3B26E8}" type="slidenum">
              <a:rPr/>
              <a:t>15</a:t>
            </a:fld>
            <a:endParaRPr/>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lIns="91440" tIns="45720" rIns="91440" bIns="45720" anchor="t"/>
          <a:lstStyle/>
          <a:p>
            <a:r>
              <a:rPr lang="vi-VN"/>
              <a:t>11</a:t>
            </a:r>
            <a:r>
              <a:t>. </a:t>
            </a:r>
            <a:r>
              <a:rPr err="1"/>
              <a:t>Hạn</a:t>
            </a:r>
            <a:r>
              <a:t> </a:t>
            </a:r>
            <a:r>
              <a:rPr err="1"/>
              <a:t>chế</a:t>
            </a:r>
            <a:r>
              <a:t> &amp; </a:t>
            </a:r>
            <a:r>
              <a:rPr err="1"/>
              <a:t>hướng</a:t>
            </a:r>
            <a:r>
              <a:t> </a:t>
            </a:r>
            <a:r>
              <a:rPr err="1"/>
              <a:t>phát</a:t>
            </a:r>
            <a:r>
              <a:t> </a:t>
            </a:r>
            <a:r>
              <a:rPr err="1"/>
              <a:t>triển</a:t>
            </a:r>
            <a:endParaRPr lang="vi-VN" err="1"/>
          </a:p>
        </p:txBody>
      </p:sp>
      <p:sp>
        <p:nvSpPr>
          <p:cNvPr id="4" name="card-01 • Checker">
            <a:extLst>
              <a:ext uri="{FF2B5EF4-FFF2-40B4-BE49-F238E27FC236}">
                <a16:creationId xmlns:a16="http://schemas.microsoft.com/office/drawing/2014/main" id="{5EE689B3-66CD-4252-9421-CA6668DFC7A2}"/>
              </a:ext>
            </a:extLst>
          </p:cNvPr>
          <p:cNvSpPr>
            <a:spLocks noGrp="1"/>
          </p:cNvSpPr>
          <p:nvPr/>
        </p:nvSpPr>
        <p:spPr>
          <a:xfrm>
            <a:off x="523875" y="1381125"/>
            <a:ext cx="2571750" cy="4191000"/>
          </a:xfrm>
          <a:prstGeom prst="roundRect">
            <a:avLst>
              <a:gd name="adj" fmla="val 5185"/>
            </a:avLst>
          </a:prstGeom>
          <a:noFill/>
          <a:ln w="11430">
            <a:solidFill>
              <a:srgbClr val="E2D6D6"/>
            </a:solidFill>
            <a:prstDash val="solid"/>
          </a:ln>
        </p:spPr>
        <p:txBody>
          <a:bodyPr/>
          <a:lstStyle/>
          <a:p>
            <a:endParaRPr lang="en-VN"/>
          </a:p>
        </p:txBody>
      </p:sp>
      <p:sp>
        <p:nvSpPr>
          <p:cNvPr id="5" name="eyebrow-01 • Checker">
            <a:extLst>
              <a:ext uri="{FF2B5EF4-FFF2-40B4-BE49-F238E27FC236}">
                <a16:creationId xmlns:a16="http://schemas.microsoft.com/office/drawing/2014/main" id="{E5F39570-AF52-4394-92A5-250A726D41B4}"/>
              </a:ext>
            </a:extLst>
          </p:cNvPr>
          <p:cNvSpPr>
            <a:spLocks noGrp="1"/>
          </p:cNvSpPr>
          <p:nvPr/>
        </p:nvSpPr>
        <p:spPr>
          <a:xfrm>
            <a:off x="714375" y="1533525"/>
            <a:ext cx="2190750" cy="228600"/>
          </a:xfrm>
          <a:prstGeom prst="rect">
            <a:avLst/>
          </a:prstGeom>
          <a:noFill/>
          <a:ln w="0">
            <a:noFill/>
            <a:prstDash val="solid"/>
          </a:ln>
        </p:spPr>
        <p:txBody>
          <a:bodyPr anchor="ctr"/>
          <a:lstStyle/>
          <a:p>
            <a:pPr>
              <a:defRPr sz="975" b="1">
                <a:solidFill>
                  <a:srgbClr val="C00000"/>
                </a:solidFill>
                <a:latin typeface="Lato"/>
                <a:ea typeface="Lato"/>
                <a:cs typeface="Lato"/>
              </a:defRPr>
            </a:pPr>
            <a:r>
              <a:rPr sz="975" b="1">
                <a:solidFill>
                  <a:srgbClr val="C00000"/>
                </a:solidFill>
                <a:latin typeface="Lato"/>
                <a:ea typeface="Lato"/>
                <a:cs typeface="Lato"/>
              </a:rPr>
              <a:t>01 • CHECKER</a:t>
            </a:r>
          </a:p>
        </p:txBody>
      </p:sp>
      <p:sp>
        <p:nvSpPr>
          <p:cNvPr id="6" name="headline-01 • Checker">
            <a:extLst>
              <a:ext uri="{FF2B5EF4-FFF2-40B4-BE49-F238E27FC236}">
                <a16:creationId xmlns:a16="http://schemas.microsoft.com/office/drawing/2014/main" id="{9389FAC7-3885-4915-A3FF-CE245506C2E9}"/>
              </a:ext>
            </a:extLst>
          </p:cNvPr>
          <p:cNvSpPr>
            <a:spLocks noGrp="1"/>
          </p:cNvSpPr>
          <p:nvPr/>
        </p:nvSpPr>
        <p:spPr>
          <a:xfrm>
            <a:off x="714375" y="1838325"/>
            <a:ext cx="219075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Reason matching còn dựa trên luật</a:t>
            </a:r>
          </a:p>
        </p:txBody>
      </p:sp>
      <p:sp>
        <p:nvSpPr>
          <p:cNvPr id="7" name="body-01 • Checker">
            <a:extLst>
              <a:ext uri="{FF2B5EF4-FFF2-40B4-BE49-F238E27FC236}">
                <a16:creationId xmlns:a16="http://schemas.microsoft.com/office/drawing/2014/main" id="{BD244CF7-8C0A-497D-B226-B3EE739290A2}"/>
              </a:ext>
            </a:extLst>
          </p:cNvPr>
          <p:cNvSpPr>
            <a:spLocks noGrp="1"/>
          </p:cNvSpPr>
          <p:nvPr/>
        </p:nvSpPr>
        <p:spPr>
          <a:xfrm>
            <a:off x="714375" y="2562225"/>
            <a:ext cx="2190750" cy="2838450"/>
          </a:xfrm>
          <a:prstGeom prst="rect">
            <a:avLst/>
          </a:prstGeom>
          <a:noFill/>
          <a:ln w="0">
            <a:noFill/>
            <a:prstDash val="solid"/>
          </a:ln>
        </p:spPr>
        <p:txBody>
          <a:bodyPr anchor="t"/>
          <a:lstStyle/>
          <a:p>
            <a:pPr>
              <a:defRPr sz="1275">
                <a:solidFill>
                  <a:srgbClr val="666666"/>
                </a:solidFill>
                <a:latin typeface="Lato"/>
                <a:ea typeface="Lato"/>
                <a:cs typeface="Lato"/>
              </a:defRPr>
            </a:pPr>
            <a:r>
              <a:rPr sz="1275">
                <a:solidFill>
                  <a:srgbClr val="666666"/>
                </a:solidFill>
                <a:latin typeface="Lato"/>
                <a:ea typeface="Lato"/>
                <a:cs typeface="Lato"/>
              </a:rPr>
              <a:t>Khó xử lý đồng nghĩa, phủ định phức tạp và diễn đạt gián tiếp.</a:t>
            </a:r>
          </a:p>
          <a:p>
            <a:endParaRPr sz="1275">
              <a:solidFill>
                <a:srgbClr val="666666"/>
              </a:solidFill>
              <a:latin typeface="Lato"/>
              <a:ea typeface="Lato"/>
              <a:cs typeface="Lato"/>
            </a:endParaRPr>
          </a:p>
          <a:p>
            <a:pPr>
              <a:defRPr sz="1275">
                <a:solidFill>
                  <a:srgbClr val="666666"/>
                </a:solidFill>
                <a:latin typeface="Lato"/>
                <a:ea typeface="Lato"/>
                <a:cs typeface="Lato"/>
              </a:defRPr>
            </a:pPr>
            <a:r>
              <a:rPr sz="1275">
                <a:solidFill>
                  <a:srgbClr val="666666"/>
                </a:solidFill>
                <a:latin typeface="Lato"/>
                <a:ea typeface="Lato"/>
                <a:cs typeface="Lato"/>
              </a:rPr>
              <a:t>Tiếp theo: benchmark claim-level có nhãn và mở rộng semantic matching.</a:t>
            </a:r>
          </a:p>
        </p:txBody>
      </p:sp>
      <p:sp>
        <p:nvSpPr>
          <p:cNvPr id="8" name="card-02 • Generator">
            <a:extLst>
              <a:ext uri="{FF2B5EF4-FFF2-40B4-BE49-F238E27FC236}">
                <a16:creationId xmlns:a16="http://schemas.microsoft.com/office/drawing/2014/main" id="{B160C082-0457-456E-8497-50491A281DBF}"/>
              </a:ext>
            </a:extLst>
          </p:cNvPr>
          <p:cNvSpPr>
            <a:spLocks noGrp="1"/>
          </p:cNvSpPr>
          <p:nvPr/>
        </p:nvSpPr>
        <p:spPr>
          <a:xfrm>
            <a:off x="3286125" y="1381125"/>
            <a:ext cx="2571750" cy="4191000"/>
          </a:xfrm>
          <a:prstGeom prst="roundRect">
            <a:avLst>
              <a:gd name="adj" fmla="val 5185"/>
            </a:avLst>
          </a:prstGeom>
          <a:noFill/>
          <a:ln w="11430">
            <a:solidFill>
              <a:srgbClr val="E2D6D6"/>
            </a:solidFill>
            <a:prstDash val="solid"/>
          </a:ln>
        </p:spPr>
        <p:txBody>
          <a:bodyPr/>
          <a:lstStyle/>
          <a:p>
            <a:endParaRPr lang="en-VN"/>
          </a:p>
        </p:txBody>
      </p:sp>
      <p:sp>
        <p:nvSpPr>
          <p:cNvPr id="9" name="eyebrow-02 • Generator">
            <a:extLst>
              <a:ext uri="{FF2B5EF4-FFF2-40B4-BE49-F238E27FC236}">
                <a16:creationId xmlns:a16="http://schemas.microsoft.com/office/drawing/2014/main" id="{E7A0A846-A223-4281-A100-48E63ECE19D2}"/>
              </a:ext>
            </a:extLst>
          </p:cNvPr>
          <p:cNvSpPr>
            <a:spLocks noGrp="1"/>
          </p:cNvSpPr>
          <p:nvPr/>
        </p:nvSpPr>
        <p:spPr>
          <a:xfrm>
            <a:off x="3476625" y="1533525"/>
            <a:ext cx="2190750" cy="228600"/>
          </a:xfrm>
          <a:prstGeom prst="rect">
            <a:avLst/>
          </a:prstGeom>
          <a:noFill/>
          <a:ln w="0">
            <a:noFill/>
            <a:prstDash val="solid"/>
          </a:ln>
        </p:spPr>
        <p:txBody>
          <a:bodyPr anchor="ctr"/>
          <a:lstStyle/>
          <a:p>
            <a:pPr>
              <a:defRPr sz="975" b="1">
                <a:solidFill>
                  <a:srgbClr val="E8A000"/>
                </a:solidFill>
                <a:latin typeface="Lato"/>
                <a:ea typeface="Lato"/>
                <a:cs typeface="Lato"/>
              </a:defRPr>
            </a:pPr>
            <a:r>
              <a:rPr sz="975" b="1">
                <a:solidFill>
                  <a:srgbClr val="E8A000"/>
                </a:solidFill>
                <a:latin typeface="Lato"/>
                <a:ea typeface="Lato"/>
                <a:cs typeface="Lato"/>
              </a:rPr>
              <a:t>02 • GENERATOR</a:t>
            </a:r>
          </a:p>
        </p:txBody>
      </p:sp>
      <p:sp>
        <p:nvSpPr>
          <p:cNvPr id="10" name="headline-02 • Generator">
            <a:extLst>
              <a:ext uri="{FF2B5EF4-FFF2-40B4-BE49-F238E27FC236}">
                <a16:creationId xmlns:a16="http://schemas.microsoft.com/office/drawing/2014/main" id="{12B1BAFC-9208-4C66-8747-65BFE146657E}"/>
              </a:ext>
            </a:extLst>
          </p:cNvPr>
          <p:cNvSpPr>
            <a:spLocks noGrp="1"/>
          </p:cNvSpPr>
          <p:nvPr/>
        </p:nvSpPr>
        <p:spPr>
          <a:xfrm>
            <a:off x="3476625" y="1838325"/>
            <a:ext cx="219075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Synthetic data chưa thay thế báo cáo thật</a:t>
            </a:r>
          </a:p>
        </p:txBody>
      </p:sp>
      <p:sp>
        <p:nvSpPr>
          <p:cNvPr id="11" name="body-02 • Generator">
            <a:extLst>
              <a:ext uri="{FF2B5EF4-FFF2-40B4-BE49-F238E27FC236}">
                <a16:creationId xmlns:a16="http://schemas.microsoft.com/office/drawing/2014/main" id="{E75FCB53-65AA-4636-80C1-063156327E1D}"/>
              </a:ext>
            </a:extLst>
          </p:cNvPr>
          <p:cNvSpPr>
            <a:spLocks noGrp="1"/>
          </p:cNvSpPr>
          <p:nvPr/>
        </p:nvSpPr>
        <p:spPr>
          <a:xfrm>
            <a:off x="3476625" y="2562225"/>
            <a:ext cx="2190750" cy="2838450"/>
          </a:xfrm>
          <a:prstGeom prst="rect">
            <a:avLst/>
          </a:prstGeom>
          <a:noFill/>
          <a:ln w="0">
            <a:noFill/>
            <a:prstDash val="solid"/>
          </a:ln>
        </p:spPr>
        <p:txBody>
          <a:bodyPr anchor="t"/>
          <a:lstStyle/>
          <a:p>
            <a:pPr>
              <a:defRPr sz="1275">
                <a:solidFill>
                  <a:srgbClr val="666666"/>
                </a:solidFill>
                <a:latin typeface="Lato"/>
                <a:ea typeface="Lato"/>
                <a:cs typeface="Lato"/>
              </a:defRPr>
            </a:pPr>
            <a:r>
              <a:rPr sz="1275">
                <a:solidFill>
                  <a:srgbClr val="666666"/>
                </a:solidFill>
                <a:latin typeface="Lato"/>
                <a:ea typeface="Lato"/>
                <a:cs typeface="Lato"/>
              </a:rPr>
              <a:t>Mô hình học tốt cấu trúc nhưng độ đa dạng insight còn phụ thuộc dữ liệu mẫu.</a:t>
            </a:r>
          </a:p>
          <a:p>
            <a:endParaRPr sz="1275">
              <a:solidFill>
                <a:srgbClr val="666666"/>
              </a:solidFill>
              <a:latin typeface="Lato"/>
              <a:ea typeface="Lato"/>
              <a:cs typeface="Lato"/>
            </a:endParaRPr>
          </a:p>
          <a:p>
            <a:pPr>
              <a:defRPr sz="1275">
                <a:solidFill>
                  <a:srgbClr val="666666"/>
                </a:solidFill>
                <a:latin typeface="Lato"/>
                <a:ea typeface="Lato"/>
                <a:cs typeface="Lato"/>
              </a:defRPr>
            </a:pPr>
            <a:r>
              <a:rPr sz="1275">
                <a:solidFill>
                  <a:srgbClr val="666666"/>
                </a:solidFill>
                <a:latin typeface="Lato"/>
                <a:ea typeface="Lato"/>
                <a:cs typeface="Lato"/>
              </a:rPr>
              <a:t>Tiếp theo: fine-tune bằng báo cáo do con người biên soạn.</a:t>
            </a:r>
          </a:p>
        </p:txBody>
      </p:sp>
      <p:sp>
        <p:nvSpPr>
          <p:cNvPr id="12" name="card-03 • Đánh giá">
            <a:extLst>
              <a:ext uri="{FF2B5EF4-FFF2-40B4-BE49-F238E27FC236}">
                <a16:creationId xmlns:a16="http://schemas.microsoft.com/office/drawing/2014/main" id="{CB12D232-CA3C-4D05-9E4E-F5BD4F3B7CF8}"/>
              </a:ext>
            </a:extLst>
          </p:cNvPr>
          <p:cNvSpPr>
            <a:spLocks noGrp="1"/>
          </p:cNvSpPr>
          <p:nvPr/>
        </p:nvSpPr>
        <p:spPr>
          <a:xfrm>
            <a:off x="6048375" y="1381125"/>
            <a:ext cx="2571750" cy="4191000"/>
          </a:xfrm>
          <a:prstGeom prst="roundRect">
            <a:avLst>
              <a:gd name="adj" fmla="val 5185"/>
            </a:avLst>
          </a:prstGeom>
          <a:noFill/>
          <a:ln w="11430">
            <a:solidFill>
              <a:srgbClr val="E2D6D6"/>
            </a:solidFill>
            <a:prstDash val="solid"/>
          </a:ln>
        </p:spPr>
        <p:txBody>
          <a:bodyPr/>
          <a:lstStyle/>
          <a:p>
            <a:endParaRPr lang="en-VN"/>
          </a:p>
        </p:txBody>
      </p:sp>
      <p:sp>
        <p:nvSpPr>
          <p:cNvPr id="13" name="eyebrow-03 • Đánh giá">
            <a:extLst>
              <a:ext uri="{FF2B5EF4-FFF2-40B4-BE49-F238E27FC236}">
                <a16:creationId xmlns:a16="http://schemas.microsoft.com/office/drawing/2014/main" id="{C3D64204-D33E-4B42-8A2D-DE3902BB1BBC}"/>
              </a:ext>
            </a:extLst>
          </p:cNvPr>
          <p:cNvSpPr>
            <a:spLocks noGrp="1"/>
          </p:cNvSpPr>
          <p:nvPr/>
        </p:nvSpPr>
        <p:spPr>
          <a:xfrm>
            <a:off x="6238875" y="1533525"/>
            <a:ext cx="2190750" cy="228600"/>
          </a:xfrm>
          <a:prstGeom prst="rect">
            <a:avLst/>
          </a:prstGeom>
          <a:noFill/>
          <a:ln w="0">
            <a:noFill/>
            <a:prstDash val="solid"/>
          </a:ln>
        </p:spPr>
        <p:txBody>
          <a:bodyPr anchor="ctr"/>
          <a:lstStyle/>
          <a:p>
            <a:pPr>
              <a:defRPr sz="975" b="1">
                <a:solidFill>
                  <a:srgbClr val="2455D6"/>
                </a:solidFill>
                <a:latin typeface="Lato"/>
                <a:ea typeface="Lato"/>
                <a:cs typeface="Lato"/>
              </a:defRPr>
            </a:pPr>
            <a:r>
              <a:rPr sz="975" b="1">
                <a:solidFill>
                  <a:srgbClr val="2455D6"/>
                </a:solidFill>
                <a:latin typeface="Lato"/>
                <a:ea typeface="Lato"/>
                <a:cs typeface="Lato"/>
              </a:rPr>
              <a:t>03 • ĐÁNH GIÁ</a:t>
            </a:r>
          </a:p>
        </p:txBody>
      </p:sp>
      <p:sp>
        <p:nvSpPr>
          <p:cNvPr id="14" name="headline-03 • Đánh giá">
            <a:extLst>
              <a:ext uri="{FF2B5EF4-FFF2-40B4-BE49-F238E27FC236}">
                <a16:creationId xmlns:a16="http://schemas.microsoft.com/office/drawing/2014/main" id="{32F1C481-C949-4C23-8E9C-4AA12A692DB8}"/>
              </a:ext>
            </a:extLst>
          </p:cNvPr>
          <p:cNvSpPr>
            <a:spLocks noGrp="1"/>
          </p:cNvSpPr>
          <p:nvPr/>
        </p:nvSpPr>
        <p:spPr>
          <a:xfrm>
            <a:off x="6238875" y="1838325"/>
            <a:ext cx="2190750" cy="647700"/>
          </a:xfrm>
          <a:prstGeom prst="rect">
            <a:avLst/>
          </a:prstGeom>
          <a:noFill/>
          <a:ln w="0">
            <a:noFill/>
            <a:prstDash val="solid"/>
          </a:ln>
        </p:spPr>
        <p:txBody>
          <a:bodyPr anchor="ctr"/>
          <a:lstStyle/>
          <a:p>
            <a:pPr>
              <a:defRPr sz="1800" b="1">
                <a:solidFill>
                  <a:srgbClr val="242424"/>
                </a:solidFill>
                <a:latin typeface="Lato"/>
                <a:ea typeface="Lato"/>
                <a:cs typeface="Lato"/>
              </a:defRPr>
            </a:pPr>
            <a:r>
              <a:rPr sz="1800" b="1">
                <a:solidFill>
                  <a:srgbClr val="242424"/>
                </a:solidFill>
                <a:latin typeface="Lato"/>
                <a:ea typeface="Lato"/>
                <a:cs typeface="Lato"/>
              </a:rPr>
              <a:t>Yelp mới là pilot</a:t>
            </a:r>
          </a:p>
        </p:txBody>
      </p:sp>
      <p:sp>
        <p:nvSpPr>
          <p:cNvPr id="15" name="body-03 • Đánh giá">
            <a:extLst>
              <a:ext uri="{FF2B5EF4-FFF2-40B4-BE49-F238E27FC236}">
                <a16:creationId xmlns:a16="http://schemas.microsoft.com/office/drawing/2014/main" id="{E4F40149-25C3-4DEA-B99E-C65B4711C8AE}"/>
              </a:ext>
            </a:extLst>
          </p:cNvPr>
          <p:cNvSpPr>
            <a:spLocks noGrp="1"/>
          </p:cNvSpPr>
          <p:nvPr/>
        </p:nvSpPr>
        <p:spPr>
          <a:xfrm>
            <a:off x="6238875" y="2562225"/>
            <a:ext cx="2190750" cy="2838450"/>
          </a:xfrm>
          <a:prstGeom prst="rect">
            <a:avLst/>
          </a:prstGeom>
          <a:noFill/>
          <a:ln w="0">
            <a:noFill/>
            <a:prstDash val="solid"/>
          </a:ln>
        </p:spPr>
        <p:txBody>
          <a:bodyPr anchor="t"/>
          <a:lstStyle/>
          <a:p>
            <a:pPr>
              <a:defRPr sz="1275">
                <a:solidFill>
                  <a:srgbClr val="666666"/>
                </a:solidFill>
                <a:latin typeface="Lato"/>
                <a:ea typeface="Lato"/>
                <a:cs typeface="Lato"/>
              </a:defRPr>
            </a:pPr>
            <a:r>
              <a:rPr sz="1275">
                <a:solidFill>
                  <a:srgbClr val="666666"/>
                </a:solidFill>
                <a:latin typeface="Lato"/>
                <a:ea typeface="Lato"/>
                <a:cs typeface="Lato"/>
              </a:rPr>
              <a:t>Kết quả minh họa khả năng chạy end-to-end, chưa phải benchmark tổng quát.</a:t>
            </a:r>
          </a:p>
          <a:p>
            <a:endParaRPr sz="1275">
              <a:solidFill>
                <a:srgbClr val="666666"/>
              </a:solidFill>
              <a:latin typeface="Lato"/>
              <a:ea typeface="Lato"/>
              <a:cs typeface="Lato"/>
            </a:endParaRPr>
          </a:p>
          <a:p>
            <a:pPr>
              <a:defRPr sz="1275">
                <a:solidFill>
                  <a:srgbClr val="666666"/>
                </a:solidFill>
                <a:latin typeface="Lato"/>
                <a:ea typeface="Lato"/>
                <a:cs typeface="Lato"/>
              </a:defRPr>
            </a:pPr>
            <a:r>
              <a:rPr sz="1275">
                <a:solidFill>
                  <a:srgbClr val="666666"/>
                </a:solidFill>
                <a:latin typeface="Lato"/>
                <a:ea typeface="Lato"/>
                <a:cs typeface="Lato"/>
              </a:rPr>
              <a:t>Tiếp theo: đánh giá factuality, coverage và chất lượng ngôn ngữ trên tập độc lập.</a:t>
            </a:r>
          </a:p>
        </p:txBody>
      </p:sp>
    </p:spTree>
    <p:extLst>
      <p:ext uri="{BB962C8B-B14F-4D97-AF65-F5344CB8AC3E}">
        <p14:creationId xmlns:p14="http://schemas.microsoft.com/office/powerpoint/2010/main" val="1130957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DB8E2B-2DE6-FA62-47A6-93F8FAB24051}"/>
              </a:ext>
            </a:extLst>
          </p:cNvPr>
          <p:cNvSpPr>
            <a:spLocks noGrp="1"/>
          </p:cNvSpPr>
          <p:nvPr>
            <p:ph type="sldNum" idx="12"/>
          </p:nvPr>
        </p:nvSpPr>
        <p:spPr/>
        <p:txBody>
          <a:bodyPr/>
          <a:lstStyle/>
          <a:p>
            <a:fld id="{9EA0BE3B-158A-4EDF-80DC-E394A0D1600F}" type="slidenum">
              <a:rPr lang="en-VN" smtClean="0"/>
              <a:t>16</a:t>
            </a:fld>
            <a:endParaRPr lang="en-VN"/>
          </a:p>
        </p:txBody>
      </p:sp>
      <p:sp>
        <p:nvSpPr>
          <p:cNvPr id="3" name="Title 2">
            <a:extLst>
              <a:ext uri="{FF2B5EF4-FFF2-40B4-BE49-F238E27FC236}">
                <a16:creationId xmlns:a16="http://schemas.microsoft.com/office/drawing/2014/main" id="{B9C025AA-2A3C-AD30-47A5-2CB3C571CEB5}"/>
              </a:ext>
            </a:extLst>
          </p:cNvPr>
          <p:cNvSpPr>
            <a:spLocks noGrp="1"/>
          </p:cNvSpPr>
          <p:nvPr>
            <p:ph type="title"/>
          </p:nvPr>
        </p:nvSpPr>
        <p:spPr/>
        <p:txBody>
          <a:bodyPr/>
          <a:lstStyle/>
          <a:p>
            <a:r>
              <a:rPr lang="en-VN" dirty="0"/>
              <a:t>Tài liệu tham khảo</a:t>
            </a:r>
          </a:p>
        </p:txBody>
      </p:sp>
      <p:sp>
        <p:nvSpPr>
          <p:cNvPr id="4" name="Text Placeholder 3">
            <a:extLst>
              <a:ext uri="{FF2B5EF4-FFF2-40B4-BE49-F238E27FC236}">
                <a16:creationId xmlns:a16="http://schemas.microsoft.com/office/drawing/2014/main" id="{51400C27-9A45-61B6-0C06-A0315EFFE67C}"/>
              </a:ext>
            </a:extLst>
          </p:cNvPr>
          <p:cNvSpPr>
            <a:spLocks noGrp="1"/>
          </p:cNvSpPr>
          <p:nvPr>
            <p:ph type="body" idx="13"/>
          </p:nvPr>
        </p:nvSpPr>
        <p:spPr>
          <a:xfrm>
            <a:off x="234823" y="1262891"/>
            <a:ext cx="8674100" cy="4931079"/>
          </a:xfrm>
        </p:spPr>
        <p:txBody>
          <a:bodyPr/>
          <a:lstStyle/>
          <a:p>
            <a:r>
              <a:rPr lang="en-VN" sz="1200" dirty="0"/>
              <a:t>[1] Dataset: </a:t>
            </a:r>
            <a:r>
              <a:rPr lang="en-US" sz="1200" dirty="0"/>
              <a:t>https://</a:t>
            </a:r>
            <a:r>
              <a:rPr lang="en-US" sz="1200" dirty="0" err="1"/>
              <a:t>github.com</a:t>
            </a:r>
            <a:r>
              <a:rPr lang="en-US" sz="1200" dirty="0"/>
              <a:t>/</a:t>
            </a:r>
            <a:r>
              <a:rPr lang="en-US" sz="1200" dirty="0" err="1"/>
              <a:t>xuuuluuu</a:t>
            </a:r>
            <a:r>
              <a:rPr lang="en-US" sz="1200" dirty="0"/>
              <a:t>/SemEval-Triplet-data</a:t>
            </a:r>
            <a:endParaRPr lang="en-VN" sz="1200" dirty="0"/>
          </a:p>
          <a:p>
            <a:r>
              <a:rPr lang="en-VN" sz="1200" dirty="0"/>
              <a:t>[2] Zhang, W., Li, X., Deng, Y., Bing, L., &amp; Lam, W. (2021). Towards Generative Aspect-Based Sentiment Analysis. ACL-IJCNLP 2021. https://github.com/IsakZhang/Generative-ABSA</a:t>
            </a:r>
          </a:p>
          <a:p>
            <a:r>
              <a:rPr lang="en-VN" sz="1200" dirty="0"/>
              <a:t>[3] Peng, H., Xu, L., Bing, L., Huang, F., Lu, W., &amp; Si, L. (2020). Knowing What, How and</a:t>
            </a:r>
          </a:p>
          <a:p>
            <a:r>
              <a:rPr lang="en-VN" sz="1200" dirty="0"/>
              <a:t>Why: A Near Complete Solution for Aspect-Based Sentiment Analysis. AAAI 2020.</a:t>
            </a:r>
          </a:p>
          <a:p>
            <a:r>
              <a:rPr lang="en-VN" sz="1200" dirty="0"/>
              <a:t>[4] Xu, L., Chia, Y. K., &amp; Bing, L. (2020). Position-Aware Tagging for Aspect Sentiment Triplet Extraction. EMNLP 2020.</a:t>
            </a:r>
          </a:p>
          <a:p>
            <a:r>
              <a:rPr lang="en-VN" sz="1200" dirty="0"/>
              <a:t>[5] Raffel, C., et al. (2020). Exploring the Limits of Transfer Learning with a Unified Text-to-Text Transformer. Journal of Machine Learning Research.</a:t>
            </a:r>
          </a:p>
          <a:p>
            <a:r>
              <a:rPr lang="en-VN" sz="1200" dirty="0"/>
              <a:t>[6] Chung, H. W., et al. (2022). Scaling Instruction-Finetuned Language Models. arXiv:2210.11416.</a:t>
            </a:r>
          </a:p>
          <a:p>
            <a:r>
              <a:rPr lang="en-VN" sz="1200" dirty="0"/>
              <a:t>[7] Kale, M., &amp; Rastogi, A. (2020). Text-to-Text Pre-Training for Data-to-Text Tasks. INLG 2020. https://aclanthology.org/2020.inlg-1.14.pdf</a:t>
            </a:r>
          </a:p>
          <a:p>
            <a:r>
              <a:rPr lang="en-VN" sz="1200" dirty="0"/>
              <a:t>[8] Kryscinski, W., McCann, B., Xiong, C., &amp; Socher, R. (2020). Evaluating the Factual Consistency of Abstractive Text Summarization (FactCC).</a:t>
            </a:r>
          </a:p>
          <a:p>
            <a:r>
              <a:rPr lang="en-VN" sz="1200" dirty="0"/>
              <a:t>[9] Wu, Z., Ying, C., Zhao, F., Fan, Z., Dai, X., &amp; Xia, R. (2020). Grid Tagging Scheme for Aspect-oriented Fine-grained Opinion Extraction. Findings of ACL: EMNLP 2020. https://aclanthology.org/2020.findings-emnlp.234/</a:t>
            </a:r>
          </a:p>
          <a:p>
            <a:r>
              <a:rPr lang="en-VN" sz="1200" dirty="0"/>
              <a:t>[10] Consistency Is the Key: Improving Factuality via Consistency-based Checking. arXiv:2511.12236.</a:t>
            </a:r>
          </a:p>
          <a:p>
            <a:endParaRPr lang="en-US" sz="2000" dirty="0"/>
          </a:p>
          <a:p>
            <a:endParaRPr lang="en-US" sz="2000" dirty="0"/>
          </a:p>
          <a:p>
            <a:endParaRPr lang="en-US" dirty="0"/>
          </a:p>
          <a:p>
            <a:endParaRPr lang="en-US" dirty="0"/>
          </a:p>
          <a:p>
            <a:endParaRPr lang="en-VN" dirty="0"/>
          </a:p>
        </p:txBody>
      </p:sp>
    </p:spTree>
    <p:extLst>
      <p:ext uri="{BB962C8B-B14F-4D97-AF65-F5344CB8AC3E}">
        <p14:creationId xmlns:p14="http://schemas.microsoft.com/office/powerpoint/2010/main" val="3479512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0">
            <a:extLst>
              <a:ext uri="{FF2B5EF4-FFF2-40B4-BE49-F238E27FC236}">
                <a16:creationId xmlns:a16="http://schemas.microsoft.com/office/drawing/2014/main" id="{F78B3876-6ECC-4098-BDD1-C48CE4B42721}"/>
              </a:ext>
            </a:extLst>
          </p:cNvPr>
          <p:cNvSpPr>
            <a:spLocks noGrp="1"/>
          </p:cNvSpPr>
          <p:nvPr/>
        </p:nvSpPr>
        <p:spPr>
          <a:xfrm>
            <a:off x="4181094" y="3021991"/>
            <a:ext cx="4197975" cy="814017"/>
          </a:xfrm>
          <a:prstGeom prst="rect">
            <a:avLst/>
          </a:prstGeom>
        </p:spPr>
        <p:txBody>
          <a:bodyPr/>
          <a:lstStyle>
            <a:lvl1pPr algn="l" defTabSz="914400">
              <a:lnSpc>
                <a:spcPct val="90000"/>
              </a:lnSpc>
              <a:spcBef>
                <a:spcPct val="0"/>
              </a:spcBef>
              <a:buNone/>
              <a:defRPr sz="6000" b="1" kern="1200">
                <a:solidFill>
                  <a:srgbClr val="C00000"/>
                </a:solidFill>
                <a:latin typeface="Lato"/>
                <a:ea typeface="Lato"/>
                <a:cs typeface="Lato"/>
              </a:defRPr>
            </a:lvl1pPr>
          </a:lstStyle>
          <a:p>
            <a:r>
              <a:rPr sz="4800"/>
              <a:t>XIN CẢM ƠN!</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2003</TotalTime>
  <Words>2613</Words>
  <Application>Microsoft Macintosh PowerPoint</Application>
  <PresentationFormat>On-screen Show (4:3)</PresentationFormat>
  <Paragraphs>343</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Lato</vt:lpstr>
      <vt:lpstr>Office Theme</vt:lpstr>
      <vt:lpstr>PowerPoint Presentation</vt:lpstr>
      <vt:lpstr>Nội dung trình bày</vt:lpstr>
      <vt:lpstr>1. Bài toán &amp; mục tiêu</vt:lpstr>
      <vt:lpstr>1. Bài toán &amp; mục tiêu</vt:lpstr>
      <vt:lpstr>2. Pipeline hệ thống</vt:lpstr>
      <vt:lpstr>3. Mô hình</vt:lpstr>
      <vt:lpstr>3. Mô hình (2)</vt:lpstr>
      <vt:lpstr>4. Dữ liệu cho bài toán ASTE</vt:lpstr>
      <vt:lpstr>5. Fine-tune &amp; đánh giá ASTE</vt:lpstr>
      <vt:lpstr>6. Kết quả ASTE — So sánh mô hình</vt:lpstr>
      <vt:lpstr>7. Tổng hợp aspect &amp; reason</vt:lpstr>
      <vt:lpstr>8. Sinh báo cáo bằng FLAN-T5</vt:lpstr>
      <vt:lpstr>9. Kiểm chứng factual</vt:lpstr>
      <vt:lpstr>10. Thử nghiệm mở rộng Yelp</vt:lpstr>
      <vt:lpstr>11. Hạn chế &amp; hướng phát triển</vt:lpstr>
      <vt:lpstr>Tài liệu tham khảo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Trần Đạt</cp:lastModifiedBy>
  <cp:revision>29</cp:revision>
  <dcterms:created xsi:type="dcterms:W3CDTF">2026-07-26T12:24:08Z</dcterms:created>
  <dcterms:modified xsi:type="dcterms:W3CDTF">2026-08-13T13:26:57Z</dcterms:modified>
</cp:coreProperties>
</file>